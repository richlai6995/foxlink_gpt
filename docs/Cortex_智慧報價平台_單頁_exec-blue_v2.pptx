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AF2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70432"/>
          </a:xfrm>
          <a:prstGeom prst="rect">
            <a:avLst/>
          </a:prstGeom>
          <a:gradFill rotWithShape="1">
            <a:gsLst>
              <a:gs pos="0">
                <a:srgbClr val="0B2D5C"/>
              </a:gs>
              <a:gs pos="100000">
                <a:srgbClr val="1E5BA8"/>
              </a:gs>
            </a:gsLst>
            <a:lin scaled="0" ang="16200000"/>
          </a:gradFill>
          <a:ln>
            <a:noFill/>
          </a:ln>
          <a:effectLst>
            <a:outerShdw blurRad="70000" dist="26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55448"/>
            <a:ext cx="73152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5B9BD5"/>
                </a:solidFill>
                <a:latin typeface="Calibri"/>
                <a:ea typeface="Noto Sans TC"/>
                <a:cs typeface="Calibri"/>
              </a:rPr>
              <a:t>FOXLINK 正崴 · Cortex AI 整合平台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65760"/>
            <a:ext cx="7132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Cortex 智慧報價平台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85039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CBD9EE"/>
                </a:solidFill>
                <a:latin typeface="Calibri"/>
                <a:ea typeface="Noto Sans TC"/>
                <a:cs typeface="Calibri"/>
              </a:rPr>
              <a:t>接單更快 · 毛利即時透明 · 報價知識不流失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25880"/>
            <a:ext cx="4023360" cy="292608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FFFFFF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5760" y="1325880"/>
            <a:ext cx="4023360" cy="32004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為什麼要做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83080"/>
            <a:ext cx="320040" cy="320040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78308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報價更快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報價時間從 3-4 週縮短到 1 週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2377440"/>
            <a:ext cx="320040" cy="320040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37744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知識留得住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報價經驗結構化保存,人員異動不用重來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971800"/>
            <a:ext cx="320040" cy="320040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97180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毛利看得見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議價當下即時顯示毛利浮動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566160"/>
            <a:ext cx="320040" cy="320040"/>
          </a:xfrm>
          <a:prstGeom prst="ellipse">
            <a:avLst/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8900000"/>
          </a:gradFill>
          <a:ln>
            <a:noFill/>
          </a:ln>
          <a:effectLst>
            <a:outerShdw blurRad="45000" dist="22000" dir="5400000" rotWithShape="0">
              <a:srgbClr val="0B2D5C">
                <a:alpha val="5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566160"/>
            <a:ext cx="32918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資料更安全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不同職級看不同價格,機密成本受控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0" y="1325880"/>
            <a:ext cx="4023360" cy="292608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FFFFFF"/>
              </a:gs>
              <a:gs pos="100000">
                <a:srgbClr val="DCEAF9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754880" y="1325880"/>
            <a:ext cx="4023360" cy="32004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帶來的效益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1783080"/>
            <a:ext cx="685800" cy="36576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C99A3B"/>
              </a:gs>
              <a:gs pos="100000">
                <a:srgbClr val="E0B85A"/>
              </a:gs>
            </a:gsLst>
            <a:lin scaled="0" ang="16200000"/>
          </a:gradFill>
          <a:ln>
            <a:noFill/>
          </a:ln>
          <a:effectLst>
            <a:outerShdw blurRad="30000" dist="15000" dir="5400000" rotWithShape="0">
              <a:srgbClr val="0B2D5C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↓70%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178308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報價時間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從 3-4 週縮短到 1 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937760" y="2377440"/>
            <a:ext cx="685800" cy="36576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>
            <a:outerShdw blurRad="30000" dist="15000" dir="5400000" rotWithShape="0">
              <a:srgbClr val="0B2D5C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3 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237744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同步報價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台灣 / 中國 / 越南同時試算比較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2971800"/>
            <a:ext cx="685800" cy="36576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>
            <a:outerShdw blurRad="30000" dist="15000" dir="5400000" rotWithShape="0">
              <a:srgbClr val="0B2D5C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多版本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297180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一鍵比較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不同工廠 × 顏色 × 數量一次看完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937760" y="3566160"/>
            <a:ext cx="685800" cy="36576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>
            <a:outerShdw blurRad="30000" dist="15000" dir="5400000" rotWithShape="0">
              <a:srgbClr val="0B2D5C">
                <a:alpha val="4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0 漏單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720" y="3566160"/>
            <a:ext cx="29260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流程自動串接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鎖定版本後自動完成後續計算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4389120"/>
            <a:ext cx="8412480" cy="320040"/>
          </a:xfrm>
          <a:prstGeom prst="roundRect">
            <a:avLst>
              <a:gd name="adj" fmla="val 4500"/>
            </a:avLst>
          </a:prstGeom>
          <a:gradFill rotWithShape="1">
            <a:gsLst>
              <a:gs pos="0">
                <a:srgbClr val="1E5BA8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系統怎麼運作 — 七個步驟</a:t>
            </a:r>
          </a:p>
        </p:txBody>
      </p:sp>
      <p:sp>
        <p:nvSpPr>
          <p:cNvPr id="28" name="Chevron 27"/>
          <p:cNvSpPr/>
          <p:nvPr/>
        </p:nvSpPr>
        <p:spPr>
          <a:xfrm>
            <a:off x="384047" y="4892040"/>
            <a:ext cx="1133856" cy="603504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6FB0E0"/>
              </a:gs>
              <a:gs pos="100000">
                <a:srgbClr val="2E78C7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基礎資料</a:t>
            </a:r>
          </a:p>
        </p:txBody>
      </p:sp>
      <p:sp>
        <p:nvSpPr>
          <p:cNvPr id="29" name="Chevron 28"/>
          <p:cNvSpPr/>
          <p:nvPr/>
        </p:nvSpPr>
        <p:spPr>
          <a:xfrm>
            <a:off x="1591056" y="4892040"/>
            <a:ext cx="1133856" cy="603504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619FD3"/>
              </a:gs>
              <a:gs pos="100000">
                <a:srgbClr val="286BB5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每月更新</a:t>
            </a:r>
          </a:p>
        </p:txBody>
      </p:sp>
      <p:sp>
        <p:nvSpPr>
          <p:cNvPr id="30" name="Chevron 29"/>
          <p:cNvSpPr/>
          <p:nvPr/>
        </p:nvSpPr>
        <p:spPr>
          <a:xfrm>
            <a:off x="2798064" y="4892040"/>
            <a:ext cx="1133856" cy="603504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548FC7"/>
              </a:gs>
              <a:gs pos="100000">
                <a:srgbClr val="225FA3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開立新案</a:t>
            </a:r>
          </a:p>
        </p:txBody>
      </p:sp>
      <p:sp>
        <p:nvSpPr>
          <p:cNvPr id="31" name="Chevron 30"/>
          <p:cNvSpPr/>
          <p:nvPr/>
        </p:nvSpPr>
        <p:spPr>
          <a:xfrm>
            <a:off x="4005072" y="4892040"/>
            <a:ext cx="1133856" cy="603504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467FBB"/>
              </a:gs>
              <a:gs pos="100000">
                <a:srgbClr val="1C5291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設定條件</a:t>
            </a:r>
          </a:p>
        </p:txBody>
      </p:sp>
      <p:sp>
        <p:nvSpPr>
          <p:cNvPr id="32" name="Chevron 31"/>
          <p:cNvSpPr/>
          <p:nvPr/>
        </p:nvSpPr>
        <p:spPr>
          <a:xfrm>
            <a:off x="5212080" y="4892040"/>
            <a:ext cx="1133856" cy="603504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396FAE"/>
              </a:gs>
              <a:gs pos="100000">
                <a:srgbClr val="16467F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自動試算</a:t>
            </a:r>
          </a:p>
        </p:txBody>
      </p:sp>
      <p:sp>
        <p:nvSpPr>
          <p:cNvPr id="33" name="Chevron 32"/>
          <p:cNvSpPr/>
          <p:nvPr/>
        </p:nvSpPr>
        <p:spPr>
          <a:xfrm>
            <a:off x="6419088" y="4892040"/>
            <a:ext cx="1133856" cy="603504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2B5FA2"/>
              </a:gs>
              <a:gs pos="100000">
                <a:srgbClr val="10396D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鎖定版本</a:t>
            </a:r>
          </a:p>
        </p:txBody>
      </p:sp>
      <p:sp>
        <p:nvSpPr>
          <p:cNvPr id="34" name="Chevron 33"/>
          <p:cNvSpPr/>
          <p:nvPr/>
        </p:nvSpPr>
        <p:spPr>
          <a:xfrm>
            <a:off x="7626096" y="4892040"/>
            <a:ext cx="1133856" cy="603504"/>
          </a:xfrm>
          <a:prstGeom prst="chevron">
            <a:avLst>
              <a:gd name="adj" fmla="val 18000"/>
            </a:avLst>
          </a:prstGeom>
          <a:gradFill rotWithShape="1">
            <a:gsLst>
              <a:gs pos="0">
                <a:srgbClr val="1E4F96"/>
              </a:gs>
              <a:gs pos="100000">
                <a:srgbClr val="0B2D5C"/>
              </a:gs>
            </a:gsLst>
            <a:lin scaled="0" ang="16200000"/>
          </a:gradFill>
          <a:ln>
            <a:noFill/>
          </a:ln>
          <a:effectLst>
            <a:outerShdw blurRad="38000" dist="18000" dir="5400000" rotWithShape="0">
              <a:srgbClr val="0B2D5C">
                <a:alpha val="4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libri"/>
                <a:ea typeface="Noto Sans TC"/>
                <a:cs typeface="Calibri"/>
              </a:rPr>
              <a:t>產出報價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5623560"/>
            <a:ext cx="84124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把過去分散在個人 Excel 的報價邏輯,整成一套標準化、可重複使用的系統流程。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5897880"/>
            <a:ext cx="4023360" cy="731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603504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E5BA8"/>
                </a:solidFill>
                <a:latin typeface="Calibri"/>
                <a:ea typeface="Noto Sans TC"/>
                <a:cs typeface="Calibri"/>
              </a:rPr>
              <a:t>✓ 可行性已驗證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已用兩個專案範本(滑鼠、穿戴裝置)完成試跑驗證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5897880"/>
            <a:ext cx="4023360" cy="73152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9525">
            <a:solidFill>
              <a:srgbClr val="D3E1F2"/>
            </a:solidFill>
          </a:ln>
          <a:effectLst>
            <a:outerShdw blurRad="70000" dist="32000" dir="5400000" rotWithShape="0">
              <a:srgbClr val="0B2D5C">
                <a:alpha val="7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92040" y="603504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1E5BA8"/>
                </a:solidFill>
                <a:latin typeface="Calibri"/>
                <a:ea typeface="Noto Sans TC"/>
                <a:cs typeface="Calibri"/>
              </a:rPr>
              <a:t>開發階程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16263D"/>
                </a:solidFill>
                <a:latin typeface="Calibri"/>
                <a:ea typeface="Noto Sans TC"/>
                <a:cs typeface="Calibri"/>
              </a:rPr>
              <a:t>核心功能約 3-6 週可完成,後續再擴充其他應用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6601968"/>
            <a:ext cx="5943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/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0" y="6601968"/>
            <a:ext cx="292608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C6B80"/>
                </a:solidFill>
                <a:latin typeface="Calibri"/>
                <a:ea typeface="Noto Sans TC"/>
                <a:cs typeface="Calibri"/>
              </a:rPr>
              <a:t>2026-06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