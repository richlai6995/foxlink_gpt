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1460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2C39A"/>
                </a:solidFill>
                <a:latin typeface="Microsoft JhengHei"/>
              </a:rPr>
              <a:t>FOXLINK 正崴 · Cortex 報價/成本平台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JhengHei"/>
              </a:rPr>
              <a:t>角色工作區 · 操作測試說明書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JhengHei"/>
              </a:rPr>
              <a:t>10 角色 × 各自獨立操作工作區 · 對齊 Cortex_互動Demo_v0.13.html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611880"/>
            <a:ext cx="10972800" cy="1920240"/>
          </a:xfrm>
          <a:prstGeom prst="roundRect">
            <a:avLst>
              <a:gd name="adj" fmla="val 4000"/>
            </a:avLst>
          </a:prstGeom>
          <a:solidFill>
            <a:srgbClr val="14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673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2C39A"/>
                </a:solidFill>
                <a:latin typeface="Microsoft JhengHei"/>
              </a:rPr>
              <a:t>怎麼用這份說明書測試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Microsoft JhengHei"/>
              </a:rPr>
              <a:t>1. 開 Cortex_互動Demo_v0.13.html → 右上「切換角色登入身分」下拉選角色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17136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Microsoft JhengHei"/>
              </a:rPr>
              <a:t>2. 每換一個角色 → 左 rail menu / landing / 資料投影 全部跟著換(這就是「角色工作區制」)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28031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Microsoft JhengHei"/>
              </a:rPr>
              <a:t>3. 照本說明書每頁的「③ 可測試的操作」逐項點點看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38927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Microsoft JhengHei"/>
              </a:rPr>
              <a:t>4. 記下哪裡怪 / 想調整 → 回來跟我討論(本 demo 是導覽範式驗證 · 不是全功能)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v0.13 · 2026-06 · 8 operational + 2 oversight · 取代 v0.12 單一 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導覽總覽:10 角色 → 10 工作區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登入 → 依角色 landing 到專屬 route · 不再進單一 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11384280" cy="45720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99032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408176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C7293"/>
                </a:solidFill>
                <a:latin typeface="Consolas"/>
              </a:rPr>
              <a:t>/quote/cockpit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08176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BPM 業務專案經理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408176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開案 + gate + 報價 orchestration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833372"/>
            <a:ext cx="11384280" cy="45720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906524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915667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Consolas"/>
              </a:rPr>
              <a:t>/rd/desk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915667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RD 研發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915667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上傳 BOM + AI 解析 + 料號確認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340864"/>
            <a:ext cx="11384280" cy="45720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2414016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2423160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891B2"/>
                </a:solidFill>
                <a:latin typeface="Consolas"/>
              </a:rPr>
              <a:t>/buyer/cockpit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423160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採購 Buyer(含 PKG)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423160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採購策略 + RFQ 雙價 + PKG 配置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2848356"/>
            <a:ext cx="11384280" cy="45720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2921508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2930652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Consolas"/>
              </a:rPr>
              <a:t>/epm/desk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93065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EPM 廠製造工程經理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93065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廠 baseline + 案級 Cleansheet + compute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355848"/>
            <a:ext cx="11384280" cy="45720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342900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3438144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Consolas"/>
              </a:rPr>
              <a:t>/dpm/review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438144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DPM 開發總監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438144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cost review + BOM lock + propagate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3863340"/>
            <a:ext cx="11384280" cy="45720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3936492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0" y="3945636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5A524"/>
                </a:solidFill>
                <a:latin typeface="Consolas"/>
              </a:rPr>
              <a:t>/sales/quote-desk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3945636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業務 Sales(兼 Finance)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945636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報價 + Margin 稽核 + 議價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4370832"/>
            <a:ext cx="11384280" cy="45720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2920" y="4443984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453128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Consolas"/>
              </a:rPr>
              <a:t>/proc/approval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4453128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採購主管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4453128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採購策略審核 + 跨案比價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4878324"/>
            <a:ext cx="11384280" cy="45720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4951476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91840" y="4960620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onsolas"/>
              </a:rPr>
              <a:t>/admin/cost-master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4960620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admin / 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4960620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設定 master + 權限 grant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5385816"/>
            <a:ext cx="11384280" cy="45720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02920" y="5458968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91840" y="5468112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C7293"/>
                </a:solidFill>
                <a:latin typeface="Consolas"/>
              </a:rPr>
              <a:t>/portfolio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546811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總經理 / BG 高層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546811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該 BG 所有案 portfolio(唯讀)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1480" y="5893307"/>
            <a:ext cx="11384280" cy="45720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02920" y="5966459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91840" y="5975603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onsolas"/>
              </a:rPr>
              <a:t>/portfolio?scope=GLOBAL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" y="5975603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董事長 / 集團最高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5975603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全 BG 所有案 portfolio(唯讀)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v0.13 角色工作區 · 逐角色測試說明書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0" y="65196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端到端流程 · 角色怎麼交棒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QUOTE 8 stage · BPM 是 gate 唯一確認人 · 完成即交棒下一角色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572768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6A34A"/>
                </a:solidFill>
                <a:latin typeface="Microsoft JhengHei"/>
              </a:rPr>
              <a:t>業務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374755"/>
                </a:solidFill>
                <a:latin typeface="Microsoft JhengHei"/>
              </a:rPr>
              <a:t>發 RFQ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79" y="17830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Microsoft JhengHei"/>
              </a:rP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66543" y="1554480"/>
            <a:ext cx="1572768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66543" y="1645920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6A34A"/>
                </a:solidFill>
                <a:latin typeface="Microsoft JhengHei"/>
              </a:rPr>
              <a:t>BPM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66543" y="1965960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374755"/>
                </a:solidFill>
                <a:latin typeface="Microsoft JhengHei"/>
              </a:rPr>
              <a:t>開案 8-stage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3" y="17830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Microsoft JhengHei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75887" y="1554480"/>
            <a:ext cx="1572768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7" y="1645920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6A34A"/>
                </a:solidFill>
                <a:latin typeface="Microsoft JhengHei"/>
              </a:rPr>
              <a:t>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1965960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374755"/>
                </a:solidFill>
                <a:latin typeface="Microsoft JhengHei"/>
              </a:rPr>
              <a:t>Stage4 BOM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17830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Microsoft JhengHe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85231" y="1554480"/>
            <a:ext cx="1572768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85231" y="1645920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5A524"/>
                </a:solidFill>
                <a:latin typeface="Microsoft JhengHei"/>
              </a:rPr>
              <a:t>採購∥EPM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1" y="1965960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374755"/>
                </a:solidFill>
                <a:latin typeface="Microsoft JhengHei"/>
              </a:rPr>
              <a:t>Stage5 Collect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17830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Microsoft JhengHei"/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94575" y="1554480"/>
            <a:ext cx="1572768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94575" y="1645920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C7293"/>
                </a:solidFill>
                <a:latin typeface="Microsoft JhengHei"/>
              </a:rPr>
              <a:t>DPM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5" y="1965960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374755"/>
                </a:solidFill>
                <a:latin typeface="Microsoft JhengHei"/>
              </a:rPr>
              <a:t>Stage6 lock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17830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Microsoft JhengHei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19" y="1554480"/>
            <a:ext cx="1572768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19" y="1645920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Microsoft JhengHei"/>
              </a:rPr>
              <a:t>業務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9" y="1965960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374755"/>
                </a:solidFill>
                <a:latin typeface="Microsoft JhengHei"/>
              </a:rPr>
              <a:t>Stage7 報價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17830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Microsoft JhengHei"/>
              </a:rP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13263" y="1554480"/>
            <a:ext cx="1572768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13263" y="1645920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Microsoft JhengHei"/>
              </a:rPr>
              <a:t>業務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13263" y="1965960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374755"/>
                </a:solidFill>
                <a:latin typeface="Microsoft JhengHei"/>
              </a:rPr>
              <a:t>Stage8 結案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2880360"/>
            <a:ext cx="11384280" cy="566928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9525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2962656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🔄 reprice 回圈:業務議價破底線 → 開新 stage iteration 退 Stage5 → 採購重議+EPM 重 compute+DPM 重 lock → 回 Stage7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3538728"/>
            <a:ext cx="11384280" cy="566928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62102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📊 oversight 旁路:DPM lock+propagate 後 margin 即時聚合進 GM(/portfolio)+ 董事長(GLOBAL)· 唯讀不交棒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4197096"/>
            <a:ext cx="11384280" cy="566928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95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27939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⚙️ admin 旁路:不在 stage 鏈 · 月度交付 baseline/類別/wage/權限 給所有作業角色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5074920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Microsoft JhengHei"/>
              </a:rPr>
              <a:t>💡 測試提示:每個角色 menu 都有「🔗 端到端流程」可看這張 handoff 圖 + 三案目前位置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v0.13 角色工作區 · 逐角色測試說明書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5196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BPM 業務專案經理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工作區:我的報價案工作台 · 登入身分:Lisa 林(OPTO/MOUSE)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35440" y="274320"/>
            <a:ext cx="2560320" cy="457200"/>
          </a:xfrm>
          <a:prstGeom prst="roundRect">
            <a:avLst>
              <a:gd name="adj" fmla="val 3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283464"/>
            <a:ext cx="2560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/quote/cockpit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70432"/>
            <a:ext cx="11384280" cy="36576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9786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🔑 可看 true cost(VIEW_TRUE_COST)· owner+gate 唯一確認人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691640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691640"/>
            <a:ext cx="3703320" cy="384048"/>
          </a:xfrm>
          <a:prstGeom prst="roundRect">
            <a:avLst>
              <a:gd name="adj" fmla="val 4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746504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📍 ① 登入後看到(Landing)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案卡牆:我 owner 的在辦案(SteelSeries/Razer/WHOOP)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08529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KPI:在辦/待簽 Gate/SLA/議價中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7495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「待我處理」收件匣(待簽 stage · reprice 退回)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87952" y="1691640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87952" y="1691640"/>
            <a:ext cx="3703320" cy="384048"/>
          </a:xfrm>
          <a:prstGeom prst="roundRect">
            <a:avLst>
              <a:gd name="adj" fmla="val 4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746504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📋 ② 左 rail menu(可點)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🏠 Cockpit 首頁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236098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➕ 開新報價案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2527401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📊 案進度儀表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2693822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👥 角色邀請配置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5112" y="2860243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🚦 Gate 控制台(badge 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3026664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💰 成本檢視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5112" y="3193084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📤 報價 Console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3359505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🔗 端到端流程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64423" y="1691640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64423" y="1691640"/>
            <a:ext cx="3703320" cy="384048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74151" y="1746504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✅ ③ 可測試的操作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1583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點「➕ 開新報價案」→ 5 步 wizard 逐步點「下一步」(基本→model→qty→pkg→廠別+變體)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01583" y="2456078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點案卡 → 案進度 swimlane(8 stage)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01583" y="2622499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「🚦 Gate 控制台」→ 點放行/退回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01583" y="278892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「👥 角色邀請」看 field_grants 角色 template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5760720"/>
            <a:ext cx="11384280" cy="566928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9525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824728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2400E"/>
                </a:solidFill>
                <a:latin typeface="Microsoft JhengHei"/>
              </a:rPr>
              <a:t>🔗 交棒(handoff):接業務 RFQ → 開案 → 每 gate 放行給下一角色 → Stage8 結案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v0.13 角色工作區 · 逐角色測試說明書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196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RD 研發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工作區:我的 BOM 工作台 · 登入身分:Troy 黃(OPTO/MOUSE)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35440" y="274320"/>
            <a:ext cx="2560320" cy="457200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283464"/>
            <a:ext cx="2560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/rd/desk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70432"/>
            <a:ext cx="11384280" cy="36576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9786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🔑 不看雙價(RD 不渲染 cost 欄)· 只做 BOM 結構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691640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691640"/>
            <a:ext cx="3703320" cy="384048"/>
          </a:xfrm>
          <a:prstGeom prst="roundRect">
            <a:avLst>
              <a:gd name="adj" fmla="val 4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746504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📍 ① 登入後看到(Landing)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指派給我的 BOM 案卡(Razer 進行中 / SteelSeries 已交棒唯讀)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08529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KPI:指派/待提交/parse 紅旗/Reprice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7495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4-step 進度條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87952" y="1691640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87952" y="1691640"/>
            <a:ext cx="3703320" cy="384048"/>
          </a:xfrm>
          <a:prstGeom prst="roundRect">
            <a:avLst>
              <a:gd name="adj" fmla="val 4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746504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📋 ② 左 rail menu(可點)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🏠 BOM Desk 首頁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236098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🧱 BOM 建置 4-step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2527401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🧩 Module 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2693822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🔗 端到端流程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64423" y="1691640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64423" y="1691640"/>
            <a:ext cx="3703320" cy="384048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74151" y="1746504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✅ ③ 可測試的操作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01583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點案卡 → 「🧱 BOM 建置 4-step」看上傳→AI 解析→ERP 料號→Variant 4 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1583" y="2456078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「🧩 Module Board」看 WHOOP 8 子組件(6 EE + 2 ME)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1583" y="2670048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看 EE→shared / ME→per_variant 自動預設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5760720"/>
            <a:ext cx="11384280" cy="566928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9525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824728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2400E"/>
                </a:solidFill>
                <a:latin typeface="Microsoft JhengHei"/>
              </a:rPr>
              <a:t>🔗 交棒(handoff):接 BPM 開案 → rd_submitted 交棒採購+EPM(仍 DRAFT)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v0.13 角色工作區 · 逐角色測試說明書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196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採購 Buyer(含 PKG)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工作區:採購工作台 · 登入身分:David 張(OPTO/MOUSE)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35440" y="274320"/>
            <a:ext cx="2560320" cy="457200"/>
          </a:xfrm>
          <a:prstGeom prst="roundRect">
            <a:avLst>
              <a:gd name="adj" fmla="val 3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283464"/>
            <a:ext cx="2560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/buyer/cockpit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70432"/>
            <a:ext cx="11384280" cy="36576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9786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🔑 可看 true cost / markup(採購核心欄)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691640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691640"/>
            <a:ext cx="3703320" cy="384048"/>
          </a:xfrm>
          <a:prstGeom prst="roundRect">
            <a:avLst>
              <a:gd name="adj" fmla="val 4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746504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📍 ① 登入後看到(Landing)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三桶卡片牆:待採/待 Review/被退回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6098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KPI:待報價子料/markup 異常/ERP 未拉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27401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跨案待採(SteelSeries/WHOOP)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87952" y="1691640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87952" y="1691640"/>
            <a:ext cx="3703320" cy="384048"/>
          </a:xfrm>
          <a:prstGeom prst="roundRect">
            <a:avLst>
              <a:gd name="adj" fmla="val 4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746504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📋 ② 左 rail menu(可點)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🏠 採購工作台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236098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🎯 採購策略工作台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2527401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📋 RFQ 報價錄入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2693822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🔍 ERP 歷史價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5112" y="2860243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📮 PKG 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3026664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🔗 端到端流程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64423" y="1691640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64423" y="1691640"/>
            <a:ext cx="3703320" cy="384048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74151" y="1746504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✅ ③ 可測試的操作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1583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點 SteelSeries 卡 → 「🎯 採購策略」子料矩陣(ERP 參考 / true / quote / markup / is_chosen)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1583" y="2503627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「📋 RFQ 報價錄入」看雙價 tier(Low/High · markup 自動)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1583" y="2717596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點 WHOOP 卡 → 「📮 PKG 配置」5 SKU × 8 module 矩陣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5760720"/>
            <a:ext cx="11384280" cy="566928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9525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824728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2400E"/>
                </a:solidFill>
                <a:latin typeface="Microsoft JhengHei"/>
              </a:rPr>
              <a:t>🔗 交棒(handoff):接 RD BOM → 採購主管核可策略 → 交 DPM(每子料選定 tier)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v0.13 角色工作區 · 逐角色測試說明書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196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EPM 廠製造工程經理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工作區:EPM 製造工程工作台 · 登入身分:Andy 陳(OPTO/MOUSE)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35440" y="274320"/>
            <a:ext cx="2560320" cy="457200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283464"/>
            <a:ext cx="2560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/epm/desk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70432"/>
            <a:ext cx="11384280" cy="36576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9786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🔑 廠別=參數(只看 grant 的廠)· 看製造成本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691640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691640"/>
            <a:ext cx="3703320" cy="384048"/>
          </a:xfrm>
          <a:prstGeom prst="roundRect">
            <a:avLst>
              <a:gd name="adj" fmla="val 4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746504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📍 ① 登入後看到(Landing)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廠別切換器 CN/VN/TW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6098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baseline 健康卡(月度燈號)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27401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廠級 vs 案級 雙動線卡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87952" y="1691640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87952" y="1691640"/>
            <a:ext cx="3703320" cy="384048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746504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📋 ② 左 rail menu(可點)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🏠 工作台首頁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236098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📅 廠 Baseline 維護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2527401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🧮 案級 Cleansheet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2693822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⚙️ Compute &amp; 廠 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5112" y="2860243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🔗 端到端流程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64423" y="1691640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64423" y="1691640"/>
            <a:ext cx="3703320" cy="384048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1" y="1746504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✅ ③ 可測試的操作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1583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頂部點 CN/VN/TW 切廠別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1583" y="236098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「📅 廠 Baseline 維護」看 7 sub-tab(DL 廠級單一 wage)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1583" y="257495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「🧮 案級 Cleansheet」→ 切 FULL_MVA / SIMPLIFIED → 看兩 model 不同 component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1583" y="2884017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「⚙️ Compute」看 ε&lt;0.01 + 廠 Lock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5760720"/>
            <a:ext cx="11384280" cy="566928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9525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824728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2400E"/>
                </a:solidFill>
                <a:latin typeface="Microsoft JhengHei"/>
              </a:rPr>
              <a:t>🔗 交棒(handoff):接採購材料價 → compute+廠 Lock(per case_factory)→ 交 DPM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v0.13 角色工作區 · 逐角色測試說明書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196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DPM 開發總監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工作區:Cost Review 控制台 · 登入身分:Mike 王(OPTO/MOUSE)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35440" y="274320"/>
            <a:ext cx="2560320" cy="45720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283464"/>
            <a:ext cx="2560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/dpm/review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70432"/>
            <a:ext cx="11384280" cy="36576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9786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🔑 VIEW_TRUE_COST · cost 唯讀 · final lock 限 DPM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691640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691640"/>
            <a:ext cx="3703320" cy="384048"/>
          </a:xfrm>
          <a:prstGeom prst="roundRect">
            <a:avLst>
              <a:gd name="adj" fmla="val 4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746504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📍 ① 登入後看到(Landing)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待 Review 收件匣(SteelSeries 待 lock)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08529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待二簽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7495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KPI:待 Review/二簽/本月 lock/margin 紅燈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87952" y="1691640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87952" y="1691640"/>
            <a:ext cx="3703320" cy="384048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746504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📋 ② 左 rail menu(可點)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🏠 Review 收件匣(badge 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236098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🔢 Cost Matrix 控制台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2527401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🔒 BOM Lock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2693822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✍️ Baseline 漲幅二簽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5112" y="2860243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🔗 端到端流程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64423" y="1691640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64423" y="1691640"/>
            <a:ext cx="3703320" cy="384048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1" y="1746504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✅ ③ 可測試的操作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1583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收件匣點 SteelSeries → 「🔢 Cost Matrix」多維 pivot + margin(VN-Black ⭐ 最便宜)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1583" y="2503627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「🔒 BOM Lock Gate」→ propagate dry-run 預覽 24 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1583" y="2717596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「✍️ 二簽」看 DL wage 漲幅 approve/reject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760720"/>
            <a:ext cx="11384280" cy="566928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9525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824728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2400E"/>
                </a:solidFill>
                <a:latin typeface="Microsoft JhengHei"/>
              </a:rPr>
              <a:t>🔗 交棒(handoff):接採購+EPM(compute 完)→ final lock+propagate(寫唯一 fact)→ 交業務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v0.13 角色工作區 · 逐角色測試說明書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196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業務 Sales(兼 Finance)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工作區:報價工作台 · 登入身分:John 李(OPTO/MOUSE)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35440" y="274320"/>
            <a:ext cx="2560320" cy="457200"/>
          </a:xfrm>
          <a:prstGeom prst="roundRect">
            <a:avLst>
              <a:gd name="adj" fmla="val 30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283464"/>
            <a:ext cx="2560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/sales/quote-desk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70432"/>
            <a:ext cx="11384280" cy="36576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9786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🔑 VIEW_TRUE_COST(兼 Finance 才有)· 只消費 fact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691640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691640"/>
            <a:ext cx="3703320" cy="384048"/>
          </a:xfrm>
          <a:prstGeom prst="roundRect">
            <a:avLst>
              <a:gd name="adj" fmla="val 4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746504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📍 ① 登入後看到(Landing)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三 tab:待報價/議價循環/Margin 稽核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6098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KPI:待報價/議價中/SLA/加權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27401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只看 DPM lock 後的 fact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87952" y="1691640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87952" y="1691640"/>
            <a:ext cx="3703320" cy="384048"/>
          </a:xfrm>
          <a:prstGeom prst="roundRect">
            <a:avLst>
              <a:gd name="adj" fmla="val 4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746504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📋 ② 左 rail menu(可點)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🏠 My Quotes 首頁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236098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📝 待報價 To-Quote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2527401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🔄 議價循環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2693822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📈 Margin 稽核台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5112" y="2860243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📤 客戶報價匯出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3026664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🔗 端到端流程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64423" y="1691640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64423" y="1691640"/>
            <a:ext cx="3703320" cy="384048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74151" y="1746504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✅ ③ 可測試的操作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1583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首頁切三 tab(To-Quote / 議價 / Margin 稽核)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1583" y="2408529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「📈 Margin 稽核」看 (quote-true)/quote amount 加權 + Top markup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1583" y="2670048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「🔄 議價循環」看 A 只動 quote / B reprice 退 Stage5 兩路徑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01583" y="2884017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「📤 匯出」看同引擎讀 mask 出 FULL/SIMPLIFIED 兩版面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5760720"/>
            <a:ext cx="11384280" cy="566928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9525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824728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2400E"/>
                </a:solidFill>
                <a:latin typeface="Microsoft JhengHei"/>
              </a:rPr>
              <a:t>🔗 交棒(handoff):接 DPM lock → 報價/議價 → 路徑B reprice 退採購/EPM/DPM → 成交歸檔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v0.13 角色工作區 · 逐角色測試說明書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196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採購主管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工作區:採購審核台 · 登入身分:Karen 周(OPTO/MOUSE)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35440" y="274320"/>
            <a:ext cx="2560320" cy="45720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283464"/>
            <a:ext cx="2560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/proc/approval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70432"/>
            <a:ext cx="11384280" cy="36576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9786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🔑 VIEW_TRUE_COST · 策略核可 gate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691640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691640"/>
            <a:ext cx="3703320" cy="384048"/>
          </a:xfrm>
          <a:prstGeom prst="roundRect">
            <a:avLst>
              <a:gd name="adj" fmla="val 4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746504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📍 ① 登入後看到(Landing)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跨案待核佇列(SLA+金額排序)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6098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比價警示(同料跨案價差/離群)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27401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KPI:待審/待核 tier/離群/核可金額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87952" y="1691640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87952" y="1691640"/>
            <a:ext cx="3703320" cy="384048"/>
          </a:xfrm>
          <a:prstGeom prst="roundRect">
            <a:avLst>
              <a:gd name="adj" fmla="val 4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746504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📋 ② 左 rail menu(可點)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🏠 Approval Desk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236098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✅ 採購策略審核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2527401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💲 Price Tier 核可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2693822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📊 跨案 Supplier 比價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5112" y="2860243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🔗 端到端流程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64423" y="1691640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64423" y="1691640"/>
            <a:ext cx="3703320" cy="384048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1" y="1746504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✅ ③ 可測試的操作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1583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收件匣點 SteelSeries 策略 → 看 preview 試算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1583" y="2408529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「📊 跨案 Supplier 比價」看同 Foxlink P/N 跨案價差 + 離群警示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1583" y="2622499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核可後 procurement_gate_status=approved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760720"/>
            <a:ext cx="11384280" cy="566928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9525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824728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2400E"/>
                </a:solidFill>
                <a:latin typeface="Microsoft JhengHei"/>
              </a:rPr>
              <a:t>🔗 交棒(handoff):接採購提交策略 → 核可 → 放行進 DPM(或退回採購補)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v0.13 角色工作區 · 逐角色測試說明書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196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admin /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工作區:設定 Master 控制台 · 登入身分:Cortex Admin(HQ/IT)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35440" y="274320"/>
            <a:ext cx="2560320" cy="457200"/>
          </a:xfrm>
          <a:prstGeom prst="roundRect">
            <a:avLst>
              <a:gd name="adj" fmla="val 3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283464"/>
            <a:ext cx="2560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/admin/cost-master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70432"/>
            <a:ext cx="11384280" cy="36576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9786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🔑 跨 BG · scope=ALL · super-admin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691640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691640"/>
            <a:ext cx="3703320" cy="384048"/>
          </a:xfrm>
          <a:prstGeom prst="roundRect">
            <a:avLst>
              <a:gd name="adj" fmla="val 4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746504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📍 ① 登入後看到(Landing)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平台健康儀表(baseline 就緒 tiles)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6098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9 子模組卡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27401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跨 BG 全廠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87952" y="1691640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87952" y="1691640"/>
            <a:ext cx="3703320" cy="384048"/>
          </a:xfrm>
          <a:prstGeom prst="roundRect">
            <a:avLst>
              <a:gd name="adj" fmla="val 4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746504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📋 ② 左 rail menu(可點)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🏠 平台健康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236098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📅 廠 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2527401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🏭 設備類別 Catalog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2693822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👷 工資 Master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5112" y="2860243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🎛️ Costing Model × Mask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3026664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🔐 權限 Grant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64423" y="1691640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64423" y="1691640"/>
            <a:ext cx="3703320" cy="384048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74151" y="1746504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✅ ③ 可測試的操作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1583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「🎛️ Costing Model × Mask」看 component 啟用對照(FULL/SIMPLIFIED + fallback_into)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1583" y="2503627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「🏭 設備類別 Catalog」看跨 BG copy(OPTO→CONSUMER)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1583" y="2717596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「🔐 權限 Grant」看 D10 單一源=資料權限管理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5760720"/>
            <a:ext cx="11384280" cy="566928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9525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824728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2400E"/>
                </a:solidFill>
                <a:latin typeface="Microsoft JhengHei"/>
              </a:rPr>
              <a:t>🔗 交棒(handoff):不在 stage 鏈 · 月度交付可信 master + 正確權限給所有作業角色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v0.13 角色工作區 · 逐角色測試說明書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196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總經理 / BG 高層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工作區:BG Portfolio 戰情中心 · 登入身分:David 總(OPTO BG)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35440" y="274320"/>
            <a:ext cx="2560320" cy="457200"/>
          </a:xfrm>
          <a:prstGeom prst="roundRect">
            <a:avLst>
              <a:gd name="adj" fmla="val 3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283464"/>
            <a:ext cx="2560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/portfolio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70432"/>
            <a:ext cx="11384280" cy="36576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9786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🔑 唯讀 · 該 BG 所有 BU · VTC 預設有(GM 進名單)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691640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691640"/>
            <a:ext cx="3703320" cy="384048"/>
          </a:xfrm>
          <a:prstGeom prst="roundRect">
            <a:avLst>
              <a:gd name="adj" fmla="val 4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746504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📍 ① 登入後看到(Landing)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BG 戰情 KPI tiles(在辦/報價額/margin/紅燈)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08529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全案清單(唯讀 drill)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7495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只該 BG(OPTO)的案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87952" y="1691640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87952" y="1691640"/>
            <a:ext cx="3703320" cy="384048"/>
          </a:xfrm>
          <a:prstGeom prst="roundRect">
            <a:avLst>
              <a:gd name="adj" fmla="val 4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746504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📋 ② 左 rail menu(可點)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🏠 BG 戰情總覽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236098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📋 全案清單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2527401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🔴 卡關紅燈中心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2693822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📈 Margin 風險雷達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5112" y="2860243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🫗 Stage 流量漏斗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64423" y="1691640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64423" y="1691640"/>
            <a:ext cx="3703320" cy="384048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1" y="1746504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✅ ③ 可測試的操作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1583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看 BG portfolio KPI 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1583" y="236098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點案卡 drill(唯讀)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1583" y="2527401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「📈 Margin 風險雷達」看該 BG margin(VTC gate)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1583" y="2741371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確認:看不到 CONSUMER BG 的案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5760720"/>
            <a:ext cx="11384280" cy="566928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9525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824728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2400E"/>
                </a:solidFill>
                <a:latin typeface="Microsoft JhengHei"/>
              </a:rPr>
              <a:t>🔗 交棒(handoff):oversight 唯讀 dead-end · 治理只走線下/訊息催 DPM/業務 · 不交棒不推進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v0.13 角色工作區 · 逐角色測試說明書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196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董事長 / 集團最高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工作區:集團 Portfolio 戰情儀表板 · 登入身分:Chairman(集團)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35440" y="274320"/>
            <a:ext cx="2560320" cy="457200"/>
          </a:xfrm>
          <a:prstGeom prst="roundRect">
            <a:avLst>
              <a:gd name="adj" fmla="val 3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283464"/>
            <a:ext cx="2560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/portfolio?scope=GLOBAL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70432"/>
            <a:ext cx="11384280" cy="36576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9786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🔑 唯讀 · 全 BG 不過濾 · true cost 恆開 · 機密穿透 🛡️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691640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691640"/>
            <a:ext cx="3703320" cy="384048"/>
          </a:xfrm>
          <a:prstGeom prst="roundRect">
            <a:avLst>
              <a:gd name="adj" fmla="val 4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746504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📍 ① 登入後看到(Landing)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集團 KPI tiles(全 BG 彙總)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6098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各 BG swimlane(OPTO + CONSUMER)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27401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全 3 案都看得到(GLOBAL)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87952" y="1691640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87952" y="1691640"/>
            <a:ext cx="3703320" cy="384048"/>
          </a:xfrm>
          <a:prstGeom prst="roundRect">
            <a:avLst>
              <a:gd name="adj" fmla="val 4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746504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📋 ② 左 rail menu(可點)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🏠 集團總覽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236098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⚖️ BG 對比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2527401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🌐 全集團專案瀏覽器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2693822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📈 Margin 與雙價分析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5112" y="2860243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📑 匯出 Board Pack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64423" y="1691640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64423" y="1691640"/>
            <a:ext cx="3703320" cy="384048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1" y="1746504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✅ ③ 可測試的操作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1583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看集團 KPI + 各 BG swimlane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1583" y="236098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確認:OPTO + CONSUMER 兩 BG 案全看得到(GM 只看單 BG)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1583" y="257495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• 看 true cost 全穿透(右上綠盾概念)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760720"/>
            <a:ext cx="11384280" cy="566928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9525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824728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2400E"/>
                </a:solidFill>
                <a:latin typeface="Microsoft JhengHei"/>
              </a:rPr>
              <a:t>🔗 交棒(handoff):oversight 唯讀 · 複用 /portfolio + GLOBAL toggle(D9)· 機密穿透最上層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v0.13 角色工作區 · 逐角色測試說明書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196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測試重點:同一系統 · 兩種計價模型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切 SteelSeries(FULL_MVA)vs WHOOP(SIMPLIFIED)· 看同角色不同投影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5669280" cy="4754880"/>
          </a:xfrm>
          <a:prstGeom prst="roundRect">
            <a:avLst>
              <a:gd name="adj" fmla="val 3000"/>
            </a:avLst>
          </a:prstGeom>
          <a:solidFill>
            <a:srgbClr val="F0F9FF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669280" cy="457200"/>
          </a:xfrm>
          <a:prstGeom prst="roundRect">
            <a:avLst>
              <a:gd name="adj" fmla="val 3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🖱️ SteelSeries Rival 3+(FULL_MVA · OPTO)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74519"/>
            <a:ext cx="544068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74755"/>
                </a:solidFill>
                <a:latin typeface="Microsoft JhengHei"/>
              </a:rPr>
              <a:t>在哪測:採購/EPM/DPM/業務 切到此案
• 採購:商包/工包 PKG 版
• EPM Cleansheet:選 FULL_MVA → 細製程 9×§A + IDL matrix 17×9 + 設備類別折舊
• 啟用 component:DL_CPU/IDL_CPU/EQUIP/FACILITY/FREIGHT/VAT/LOSS/MVA_TOTAL
• DPM Cost Matrix:3 廠×2 variant×2 qty×2 pkg = 24 cells
• 業務:廠×variant 報價版面
• margin ~6.7%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80160"/>
            <a:ext cx="5486400" cy="4754880"/>
          </a:xfrm>
          <a:prstGeom prst="roundRect">
            <a:avLst>
              <a:gd name="adj" fmla="val 3000"/>
            </a:avLst>
          </a:prstGeom>
          <a:solidFill>
            <a:srgbClr val="FAF5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280160"/>
            <a:ext cx="5486400" cy="457200"/>
          </a:xfrm>
          <a:prstGeom prst="roundRect">
            <a:avLst>
              <a:gd name="adj" fmla="val 3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53312"/>
            <a:ext cx="5212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⌚ WHOOP Gen4 MP(SIMPLIFIED · CONSUMER)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874519"/>
            <a:ext cx="525780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74755"/>
                </a:solidFill>
                <a:latin typeface="Microsoft JhengHei"/>
              </a:rPr>
              <a:t>在哪測:採購/EPM 切到此案 · 董事長看得到
• RD:Module Board 8 子組件
• 採購:PKG 5 SKU × 8 module 矩陣
• EPM Cleansheet:選 SIMPLIFIED → 放大製程 macro + SMT 點數 + 材料耗損率
• 啟用 component:PROC_MACRO/SMT_POINTS/MAT_LOSS_RATE/OVERHEAD_4PCT/TRANSPORTATION
• disable 的 IDL/設備 fallback → OVERHEAD 4% 吸收
• margin ~6.0%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v0.13 角色工作區 · 逐角色測試說明書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196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測試重點:權限 + 機密遮罩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切不同角色 → 看同一 cost matrix 顯示不同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80160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C7293"/>
                </a:solidFill>
                <a:latin typeface="Microsoft JhengHei"/>
              </a:rPr>
              <a:t>切 RD(無 VIEW_TRUE_COST)vs DPM/業務(有)→ 看 true cost / margin 欄變化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37360"/>
            <a:ext cx="11384280" cy="530352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56231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RD 研發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856231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Microsoft JhengHei"/>
              </a:rPr>
              <a:t>❌ 無 VTC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856231"/>
            <a:ext cx="6675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根本不渲染雙價欄 · 只做 BOM 結構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340864"/>
            <a:ext cx="11384280" cy="530352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59736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採購 Buyer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459736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Microsoft JhengHei"/>
              </a:rPr>
              <a:t>✅ 有 VTC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459736"/>
            <a:ext cx="6675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true cost / markup 可見可改(核心欄)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944368"/>
            <a:ext cx="11384280" cy="530352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63240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EPM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063240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Microsoft JhengHei"/>
              </a:rPr>
              <a:t>✅ 有 VTC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063240"/>
            <a:ext cx="6675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看製造成本 · 不碰材料 quote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547872"/>
            <a:ext cx="11384280" cy="530352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66744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DPM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666744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Microsoft JhengHei"/>
              </a:rPr>
              <a:t>✅ 有 VTC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666744"/>
            <a:ext cx="6675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全看 · cost 唯讀 · 只能 lock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151376"/>
            <a:ext cx="11384280" cy="530352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70248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業務(兼 Finance)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270248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Microsoft JhengHei"/>
              </a:rPr>
              <a:t>✅ 有 VTC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270248"/>
            <a:ext cx="6675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Margin 稽核解鎖 · markup=🔒🔒 每 access 寫 audit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754880"/>
            <a:ext cx="11384280" cy="530352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87375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GM_BG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873752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A524"/>
                </a:solidFill>
                <a:latin typeface="Microsoft JhengHei"/>
              </a:rPr>
              <a:t>✅ 有 VTC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4873752"/>
            <a:ext cx="6675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該 BG margin 雷達 · 看不到他 BG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5358384"/>
            <a:ext cx="11384280" cy="530352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477256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董事長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77256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Microsoft JhengHei"/>
              </a:rPr>
              <a:t>🛡️ 全穿透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5477256"/>
            <a:ext cx="6675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全 BG true cost 恆開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943600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C7293"/>
                </a:solidFill>
                <a:latin typeface="Microsoft JhengHei"/>
              </a:rPr>
              <a:t>💡 在 DPM「🔢 Cost Matrix」或業務「📈 Margin 稽核」看完整;切 RD 對比(RD 看不到雙價)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v0.13 角色工作區 · 逐角色測試說明書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196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逐角色測試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照這張勾 · 測完跟我討論要調哪裡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553212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532120" cy="411480"/>
          </a:xfrm>
          <a:prstGeom prst="roundRect">
            <a:avLst>
              <a:gd name="adj" fmla="val 3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44168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作業軌(8)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☐ BPM:開案 wizard 5 步走完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942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☐ BPM:Gate 控制台放行/退回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7004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☐ RD:4-step + Module Board 8 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9067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☐ 採購:策略矩陣 + RFQ tier + PKG 矩陣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1129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☐ EPM:廠別切換 + FULL/SIMPLIFIED 切換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9319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☐ EPM:Compute + 廠 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5254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☐ DPM:Cost Matrix + Lock Gate dry-run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7316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☐ 業務:三 tab + 議價 A/B + 匯出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19379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☐ 採購主管:策略審核 + 跨案比價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61441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☐ admin:component mask 表 + 權限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280160"/>
            <a:ext cx="553212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26480" y="1280160"/>
            <a:ext cx="5532120" cy="411480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344168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oversight(2)+ 跨切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☐ GM_BG:BG portfolio + 只看單 BG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24942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☐ 董事長:集團 portfolio + 全 BG 穿透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67004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☐ 切 SteelSeries vs WHOOP 兩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09067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☐ 切 RD vs DPM 看機密遮罩差異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51129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☐ 每角色「🔗 端到端流程」handoff 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9319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35254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B1F3A"/>
                </a:solidFill>
                <a:latin typeface="Microsoft JhengHei"/>
              </a:rPr>
              <a:t>📝 測試時記下: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77316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  · 哪個角色 menu 少了什麼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19379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  · 哪個操作 flow 怪 / 順序不對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61441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Microsoft JhengHei"/>
              </a:rPr>
              <a:t>  · 哪些畫面要做深(目前是說明頁)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v0.13 角色工作區 · 逐角色測試說明書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196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icrosoft JhengHei"/>
              </a:rPr>
              <a:t>測完回來討論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2C39A"/>
                </a:solidFill>
                <a:latin typeface="Microsoft JhengHei"/>
              </a:rPr>
              <a:t>每角色操作確認後 → 我們逐角色調整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08960"/>
            <a:ext cx="10972800" cy="3017520"/>
          </a:xfrm>
          <a:prstGeom prst="roundRect">
            <a:avLst>
              <a:gd name="adj" fmla="val 4000"/>
            </a:avLst>
          </a:prstGeom>
          <a:solidFill>
            <a:srgbClr val="14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2C39A"/>
                </a:solidFill>
                <a:latin typeface="Microsoft JhengHei"/>
              </a:rPr>
              <a:t>🔗 檔案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JhengHei"/>
              </a:rPr>
              <a:t>• 互動 demo:Cortex_互動Demo_v0.13.html(右上切角色測試)
• 架構 SD:cortex-role-workspace-sd.md(10 角色完整規格)
• 設計稿:cortex-role-operations-design.md(D1-D11 決議)
• 底層:cortex-unified-architecture-sd.md(superset + component mask)
討論方向:
  · 哪些角色 menu / flow 要增減
  · 哪些說明頁要做成可點深畫面
  · handoff / gate 流程順序對不對
  · 兩 model(FULL/SIMPLIFIED)呈現夠不夠清楚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</a:rPr>
              <a:t>Cortex v0.13 角色工作區 · 操作測試說明書 · 2026-06 · FOXLINK GPT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