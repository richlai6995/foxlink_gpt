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170432"/>
          </a:xfrm>
          <a:prstGeom prst="rect">
            <a:avLst/>
          </a:prstGeom>
          <a:gradFill rotWithShape="1">
            <a:gsLst>
              <a:gs pos="0">
                <a:srgbClr val="0B2D5C"/>
              </a:gs>
              <a:gs pos="100000">
                <a:srgbClr val="1E5BA8"/>
              </a:gs>
            </a:gsLst>
            <a:lin scaled="0" ang="16200000"/>
          </a:gradFill>
          <a:ln>
            <a:noFill/>
          </a:ln>
          <a:effectLst>
            <a:outerShdw blurRad="70000" dist="26000" dir="5400000" rotWithShape="0">
              <a:srgbClr val="0B2D5C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5448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B9BD5"/>
                </a:solidFill>
                <a:latin typeface="Calibri"/>
                <a:ea typeface="Noto Sans TC"/>
                <a:cs typeface="Calibri"/>
              </a:rPr>
              <a:t>FOXLINK 正崴 · Cortex AI 整合平台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7132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Cortex BOM × MVA — 業務快接接單平台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5039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BD9EE"/>
                </a:solidFill>
                <a:latin typeface="Calibri"/>
                <a:ea typeface="Noto Sans TC"/>
                <a:cs typeface="Calibri"/>
              </a:rPr>
              <a:t>報價週期 3-4 週 → 1 週 · 跨案重用 · Margin 透明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280160"/>
            <a:ext cx="8595360" cy="457200"/>
          </a:xfrm>
          <a:prstGeom prst="roundRect">
            <a:avLst>
              <a:gd name="adj" fmla="val 4500"/>
            </a:avLst>
          </a:prstGeom>
          <a:gradFill rotWithShape="1">
            <a:gsLst>
              <a:gs pos="0">
                <a:srgbClr val="EAF2FB"/>
              </a:gs>
              <a:gs pos="100000">
                <a:srgbClr val="DCEAF9"/>
              </a:gs>
            </a:gsLst>
            <a:lin scaled="0" ang="16200000"/>
          </a:gradFill>
          <a:ln w="12700">
            <a:solidFill>
              <a:srgbClr val="5B9BD5"/>
            </a:solidFill>
          </a:ln>
          <a:effectLst>
            <a:outerShdw blurRad="70000" dist="20000" dir="5400000" rotWithShape="0">
              <a:srgbClr val="0B2D5C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80160"/>
            <a:ext cx="109728" cy="457200"/>
          </a:xfrm>
          <a:prstGeom prst="rect">
            <a:avLst/>
          </a:prstGeom>
          <a:solidFill>
            <a:srgbClr val="1E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280160"/>
            <a:ext cx="818387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6263D"/>
                </a:solidFill>
                <a:latin typeface="Calibri"/>
                <a:ea typeface="Noto Sans TC"/>
                <a:cs typeface="Calibri"/>
              </a:rPr>
              <a:t>系統設計目標：打造更快速、更智慧、更安全的報價系統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103120"/>
            <a:ext cx="4279392" cy="1920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3E1F2"/>
            </a:solidFill>
          </a:ln>
          <a:effectLst>
            <a:outerShdw blurRad="70000" dist="32000" dir="5400000" rotWithShape="0">
              <a:srgbClr val="0B2D5C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02920" y="2304288"/>
            <a:ext cx="384048" cy="384048"/>
          </a:xfrm>
          <a:prstGeom prst="ellipse">
            <a:avLst/>
          </a:prstGeom>
          <a:gradFill rotWithShape="1">
            <a:gsLst>
              <a:gs pos="0">
                <a:srgbClr val="1E5BA8"/>
              </a:gs>
              <a:gs pos="100000">
                <a:srgbClr val="2E78C7"/>
              </a:gs>
            </a:gsLst>
            <a:lin scaled="0" ang="18900000"/>
          </a:gradFill>
          <a:ln>
            <a:noFill/>
          </a:ln>
          <a:effectLst>
            <a:outerShdw blurRad="45000" dist="22000" dir="5400000" rotWithShape="0">
              <a:srgbClr val="0B2D5C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7" y="2340863"/>
            <a:ext cx="336499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263D"/>
                </a:solidFill>
                <a:latin typeface="Calibri"/>
                <a:ea typeface="Noto Sans TC"/>
                <a:cs typeface="Calibri"/>
              </a:rPr>
              <a:t>業務快接接單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816352"/>
            <a:ext cx="3822191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>報價週期從 3-4 週壓到 1 週</a:t>
            </a:r>
            <a:br/>
            <a:r>
              <a:rPr sz="105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>同步出多廠、多色、多批量報價</a:t>
            </a:r>
            <a:br/>
            <a:r>
              <a:rPr sz="105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>(大幅提升業務回應客戶速度)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81728" y="2103120"/>
            <a:ext cx="4187952" cy="1920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3E1F2"/>
            </a:solidFill>
          </a:ln>
          <a:effectLst>
            <a:outerShdw blurRad="70000" dist="32000" dir="5400000" rotWithShape="0">
              <a:srgbClr val="0B2D5C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910328" y="2304288"/>
            <a:ext cx="384048" cy="384048"/>
          </a:xfrm>
          <a:prstGeom prst="ellipse">
            <a:avLst/>
          </a:prstGeom>
          <a:gradFill rotWithShape="1">
            <a:gsLst>
              <a:gs pos="0">
                <a:srgbClr val="1E5BA8"/>
              </a:gs>
              <a:gs pos="100000">
                <a:srgbClr val="2E78C7"/>
              </a:gs>
            </a:gsLst>
            <a:lin scaled="0" ang="18900000"/>
          </a:gradFill>
          <a:ln>
            <a:noFill/>
          </a:ln>
          <a:effectLst>
            <a:outerShdw blurRad="45000" dist="22000" dir="5400000" rotWithShape="0">
              <a:srgbClr val="0B2D5C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31536" y="2340863"/>
            <a:ext cx="32735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263D"/>
                </a:solidFill>
                <a:latin typeface="Calibri"/>
                <a:ea typeface="Noto Sans TC"/>
                <a:cs typeface="Calibri"/>
              </a:rPr>
              <a:t>跨案 / 跨廠重用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10328" y="2816352"/>
            <a:ext cx="37307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>廠級 master 結構化 (設備/耗材/IDL/wage)</a:t>
            </a:r>
            <a:br/>
            <a:r>
              <a:rPr sz="105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>EPM 交接免重做 1500 行 Excel</a:t>
            </a:r>
            <a:br/>
            <a:r>
              <a:rPr sz="105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>(確保知識資產持續累積)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4206240"/>
            <a:ext cx="4279392" cy="1920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3E1F2"/>
            </a:solidFill>
          </a:ln>
          <a:effectLst>
            <a:outerShdw blurRad="70000" dist="32000" dir="5400000" rotWithShape="0">
              <a:srgbClr val="0B2D5C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02920" y="4407407"/>
            <a:ext cx="384048" cy="384048"/>
          </a:xfrm>
          <a:prstGeom prst="ellipse">
            <a:avLst/>
          </a:prstGeom>
          <a:gradFill rotWithShape="1">
            <a:gsLst>
              <a:gs pos="0">
                <a:srgbClr val="1E5BA8"/>
              </a:gs>
              <a:gs pos="100000">
                <a:srgbClr val="2E78C7"/>
              </a:gs>
            </a:gsLst>
            <a:lin scaled="0" ang="18900000"/>
          </a:gradFill>
          <a:ln>
            <a:noFill/>
          </a:ln>
          <a:effectLst>
            <a:outerShdw blurRad="45000" dist="22000" dir="5400000" rotWithShape="0">
              <a:srgbClr val="0B2D5C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7" y="4443983"/>
            <a:ext cx="336499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263D"/>
                </a:solidFill>
                <a:latin typeface="Calibri"/>
                <a:ea typeface="Noto Sans TC"/>
                <a:cs typeface="Calibri"/>
              </a:rPr>
              <a:t>Margin 即時透明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919472"/>
            <a:ext cx="3822191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>True Cost / Quote Price 雙價分層架構</a:t>
            </a:r>
            <a:br/>
            <a:r>
              <a:rPr sz="105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>議價當下即時顯示毛利浮動</a:t>
            </a:r>
            <a:br/>
            <a:r>
              <a:rPr sz="105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>(精準掌控各階段利潤率)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81728" y="4206240"/>
            <a:ext cx="4187952" cy="1920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3E1F2"/>
            </a:solidFill>
          </a:ln>
          <a:effectLst>
            <a:outerShdw blurRad="70000" dist="32000" dir="5400000" rotWithShape="0">
              <a:srgbClr val="0B2D5C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910328" y="4407407"/>
            <a:ext cx="384048" cy="384048"/>
          </a:xfrm>
          <a:prstGeom prst="ellipse">
            <a:avLst/>
          </a:prstGeom>
          <a:gradFill rotWithShape="1">
            <a:gsLst>
              <a:gs pos="0">
                <a:srgbClr val="1E5BA8"/>
              </a:gs>
              <a:gs pos="100000">
                <a:srgbClr val="2E78C7"/>
              </a:gs>
            </a:gsLst>
            <a:lin scaled="0" ang="18900000"/>
          </a:gradFill>
          <a:ln>
            <a:noFill/>
          </a:ln>
          <a:effectLst>
            <a:outerShdw blurRad="45000" dist="22000" dir="5400000" rotWithShape="0">
              <a:srgbClr val="0B2D5C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31536" y="4443983"/>
            <a:ext cx="32735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263D"/>
                </a:solidFill>
                <a:latin typeface="Calibri"/>
                <a:ea typeface="Noto Sans TC"/>
                <a:cs typeface="Calibri"/>
              </a:rPr>
              <a:t>雙價 + 4 級權限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10328" y="4919472"/>
            <a:ext cx="37307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>業務檢視 Quote，採購與 CFO 檢視 True Cost</a:t>
            </a:r>
            <a:br/>
            <a:r>
              <a:rPr sz="105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>機密欄位權限嚴格控管</a:t>
            </a:r>
            <a:br/>
            <a:r>
              <a:rPr sz="105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>(保護核心商業成本機密)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6601968"/>
            <a:ext cx="5943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>Cortex Platform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6601968"/>
            <a:ext cx="2926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>2026-06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170432"/>
          </a:xfrm>
          <a:prstGeom prst="rect">
            <a:avLst/>
          </a:prstGeom>
          <a:gradFill rotWithShape="1">
            <a:gsLst>
              <a:gs pos="0">
                <a:srgbClr val="0B2D5C"/>
              </a:gs>
              <a:gs pos="100000">
                <a:srgbClr val="1E5BA8"/>
              </a:gs>
            </a:gsLst>
            <a:lin scaled="0" ang="16200000"/>
          </a:gradFill>
          <a:ln>
            <a:noFill/>
          </a:ln>
          <a:effectLst>
            <a:outerShdw blurRad="70000" dist="26000" dir="5400000" rotWithShape="0">
              <a:srgbClr val="0B2D5C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5448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B9BD5"/>
                </a:solidFill>
                <a:latin typeface="Calibri"/>
                <a:ea typeface="Noto Sans TC"/>
                <a:cs typeface="Calibri"/>
              </a:rPr>
              <a:t>價值體現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7132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期待達成效果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5039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BD9EE"/>
                </a:solidFill>
                <a:latin typeface="Calibri"/>
                <a:ea typeface="Noto Sans TC"/>
                <a:cs typeface="Calibri"/>
              </a:rPr>
              <a:t>快速回覆、多廠協同、全面透明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280160"/>
            <a:ext cx="8595360" cy="457200"/>
          </a:xfrm>
          <a:prstGeom prst="roundRect">
            <a:avLst>
              <a:gd name="adj" fmla="val 4500"/>
            </a:avLst>
          </a:prstGeom>
          <a:gradFill rotWithShape="1">
            <a:gsLst>
              <a:gs pos="0">
                <a:srgbClr val="EAF2FB"/>
              </a:gs>
              <a:gs pos="100000">
                <a:srgbClr val="DCEAF9"/>
              </a:gs>
            </a:gsLst>
            <a:lin scaled="0" ang="16200000"/>
          </a:gradFill>
          <a:ln w="12700">
            <a:solidFill>
              <a:srgbClr val="5B9BD5"/>
            </a:solidFill>
          </a:ln>
          <a:effectLst>
            <a:outerShdw blurRad="70000" dist="20000" dir="5400000" rotWithShape="0">
              <a:srgbClr val="0B2D5C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80160"/>
            <a:ext cx="109728" cy="457200"/>
          </a:xfrm>
          <a:prstGeom prst="rect">
            <a:avLst/>
          </a:prstGeom>
          <a:solidFill>
            <a:srgbClr val="1E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280160"/>
            <a:ext cx="818387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6263D"/>
                </a:solidFill>
                <a:latin typeface="Calibri"/>
                <a:ea typeface="Noto Sans TC"/>
                <a:cs typeface="Calibri"/>
              </a:rPr>
              <a:t>以數據驅動的業務決策，提升企業接單競爭力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1078992" cy="384048"/>
          </a:xfrm>
          <a:prstGeom prst="roundRect">
            <a:avLst>
              <a:gd name="adj" fmla="val 4500"/>
            </a:avLst>
          </a:prstGeom>
          <a:gradFill rotWithShape="1">
            <a:gsLst>
              <a:gs pos="0">
                <a:srgbClr val="C99A3B"/>
              </a:gs>
              <a:gs pos="100000">
                <a:srgbClr val="E0B85A"/>
              </a:gs>
            </a:gsLst>
            <a:lin scaled="0" ang="18900000"/>
          </a:gradFill>
          <a:ln>
            <a:noFill/>
          </a:ln>
          <a:effectLst>
            <a:outerShdw blurRad="40000" dist="20000" dir="5400000" rotWithShape="0">
              <a:srgbClr val="0B2D5C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↓ 70%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2267712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6263D"/>
                </a:solidFill>
                <a:latin typeface="Calibri"/>
                <a:ea typeface="Noto Sans TC"/>
                <a:cs typeface="Calibri"/>
              </a:rPr>
              <a:t>報價週期大幅縮減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53896" y="24734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>3-4 週 → 1 週</a:t>
            </a:r>
            <a:br/>
            <a:r>
              <a:rPr sz="90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>提升接單速度與客戶滿意度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81728" y="2286000"/>
            <a:ext cx="1078992" cy="384048"/>
          </a:xfrm>
          <a:prstGeom prst="roundRect">
            <a:avLst>
              <a:gd name="adj" fmla="val 4500"/>
            </a:avLst>
          </a:prstGeom>
          <a:gradFill rotWithShape="1">
            <a:gsLst>
              <a:gs pos="0">
                <a:srgbClr val="1E5BA8"/>
              </a:gs>
              <a:gs pos="100000">
                <a:srgbClr val="2E78C7"/>
              </a:gs>
            </a:gsLst>
            <a:lin scaled="0" ang="18900000"/>
          </a:gradFill>
          <a:ln>
            <a:noFill/>
          </a:ln>
          <a:effectLst>
            <a:outerShdw blurRad="40000" dist="20000" dir="5400000" rotWithShape="0">
              <a:srgbClr val="0B2D5C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↑ 3 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61304" y="2267712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6263D"/>
                </a:solidFill>
                <a:latin typeface="Calibri"/>
                <a:ea typeface="Noto Sans TC"/>
                <a:cs typeface="Calibri"/>
              </a:rPr>
              <a:t>同步並行 RFQ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61304" y="24734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>CN / VN / TW 同時跑 Cleansheet</a:t>
            </a:r>
            <a:br/>
            <a:r>
              <a:rPr sz="90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>跨廠協同無縫接軌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4297680"/>
            <a:ext cx="1078992" cy="384048"/>
          </a:xfrm>
          <a:prstGeom prst="roundRect">
            <a:avLst>
              <a:gd name="adj" fmla="val 4500"/>
            </a:avLst>
          </a:prstGeom>
          <a:gradFill rotWithShape="1">
            <a:gsLst>
              <a:gs pos="0">
                <a:srgbClr val="1E5BA8"/>
              </a:gs>
              <a:gs pos="100000">
                <a:srgbClr val="2E78C7"/>
              </a:gs>
            </a:gsLst>
            <a:lin scaled="0" ang="18900000"/>
          </a:gradFill>
          <a:ln>
            <a:noFill/>
          </a:ln>
          <a:effectLst>
            <a:outerShdw blurRad="40000" dist="20000" dir="5400000" rotWithShape="0">
              <a:srgbClr val="0B2D5C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24 cells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53896" y="4279392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6263D"/>
                </a:solidFill>
                <a:latin typeface="Calibri"/>
                <a:ea typeface="Noto Sans TC"/>
                <a:cs typeface="Calibri"/>
              </a:rPr>
              <a:t>一鍵多視角檢視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53896" y="448513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>3廠×2色×2批量×2包裝</a:t>
            </a:r>
            <a:br/>
            <a:r>
              <a:rPr sz="90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>pivot 即看多維度成本比較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81728" y="4297680"/>
            <a:ext cx="1078992" cy="384048"/>
          </a:xfrm>
          <a:prstGeom prst="roundRect">
            <a:avLst>
              <a:gd name="adj" fmla="val 4500"/>
            </a:avLst>
          </a:prstGeom>
          <a:gradFill rotWithShape="1">
            <a:gsLst>
              <a:gs pos="0">
                <a:srgbClr val="1E5BA8"/>
              </a:gs>
              <a:gs pos="100000">
                <a:srgbClr val="2E78C7"/>
              </a:gs>
            </a:gsLst>
            <a:lin scaled="0" ang="18900000"/>
          </a:gradFill>
          <a:ln>
            <a:noFill/>
          </a:ln>
          <a:effectLst>
            <a:outerShdw blurRad="40000" dist="20000" dir="5400000" rotWithShape="0">
              <a:srgbClr val="0B2D5C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0 漏單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61304" y="4279392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6263D"/>
                </a:solidFill>
                <a:latin typeface="Calibri"/>
                <a:ea typeface="Noto Sans TC"/>
                <a:cs typeface="Calibri"/>
              </a:rPr>
              <a:t>全自動資料寫入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61304" y="448513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>BOM 鎖版 → MVA×SGA×Profit</a:t>
            </a:r>
            <a:br/>
            <a:r>
              <a:rPr sz="90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>全自動寫入 fact table 保障正確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6601968"/>
            <a:ext cx="5943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>Cortex Platform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6601968"/>
            <a:ext cx="2926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>2026-06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170432"/>
          </a:xfrm>
          <a:prstGeom prst="rect">
            <a:avLst/>
          </a:prstGeom>
          <a:gradFill rotWithShape="1">
            <a:gsLst>
              <a:gs pos="0">
                <a:srgbClr val="0B2D5C"/>
              </a:gs>
              <a:gs pos="100000">
                <a:srgbClr val="1E5BA8"/>
              </a:gs>
            </a:gsLst>
            <a:lin scaled="0" ang="16200000"/>
          </a:gradFill>
          <a:ln>
            <a:noFill/>
          </a:ln>
          <a:effectLst>
            <a:outerShdw blurRad="70000" dist="26000" dir="5400000" rotWithShape="0">
              <a:srgbClr val="0B2D5C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5448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B9BD5"/>
                </a:solidFill>
                <a:latin typeface="Calibri"/>
                <a:ea typeface="Noto Sans TC"/>
                <a:cs typeface="Calibri"/>
              </a:rPr>
              <a:t>實作路徑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7132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端到端 7 Phase 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5039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BD9EE"/>
                </a:solidFill>
                <a:latin typeface="Calibri"/>
                <a:ea typeface="Noto Sans TC"/>
                <a:cs typeface="Calibri"/>
              </a:rPr>
              <a:t>標準化流程，確保資料正確流轉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280160"/>
            <a:ext cx="8595360" cy="457200"/>
          </a:xfrm>
          <a:prstGeom prst="roundRect">
            <a:avLst>
              <a:gd name="adj" fmla="val 4500"/>
            </a:avLst>
          </a:prstGeom>
          <a:gradFill rotWithShape="1">
            <a:gsLst>
              <a:gs pos="0">
                <a:srgbClr val="EAF2FB"/>
              </a:gs>
              <a:gs pos="100000">
                <a:srgbClr val="DCEAF9"/>
              </a:gs>
            </a:gsLst>
            <a:lin scaled="0" ang="16200000"/>
          </a:gradFill>
          <a:ln w="12700">
            <a:solidFill>
              <a:srgbClr val="5B9BD5"/>
            </a:solidFill>
          </a:ln>
          <a:effectLst>
            <a:outerShdw blurRad="70000" dist="20000" dir="5400000" rotWithShape="0">
              <a:srgbClr val="0B2D5C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80160"/>
            <a:ext cx="109728" cy="457200"/>
          </a:xfrm>
          <a:prstGeom prst="rect">
            <a:avLst/>
          </a:prstGeom>
          <a:solidFill>
            <a:srgbClr val="1E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280160"/>
            <a:ext cx="818387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6263D"/>
                </a:solidFill>
                <a:latin typeface="Calibri"/>
                <a:ea typeface="Noto Sans TC"/>
                <a:cs typeface="Calibri"/>
              </a:rPr>
              <a:t>從基礎建置到最終報價，全自動串接 7 大關鍵節點</a:t>
            </a:r>
          </a:p>
        </p:txBody>
      </p:sp>
      <p:sp>
        <p:nvSpPr>
          <p:cNvPr id="10" name="Chevron 9"/>
          <p:cNvSpPr/>
          <p:nvPr/>
        </p:nvSpPr>
        <p:spPr>
          <a:xfrm>
            <a:off x="512063" y="2286000"/>
            <a:ext cx="1097280" cy="731520"/>
          </a:xfrm>
          <a:prstGeom prst="chevron">
            <a:avLst>
              <a:gd name="adj" fmla="val 18000"/>
            </a:avLst>
          </a:prstGeom>
          <a:gradFill rotWithShape="1">
            <a:gsLst>
              <a:gs pos="0">
                <a:srgbClr val="6FB0E0"/>
              </a:gs>
              <a:gs pos="100000">
                <a:srgbClr val="2E78C7"/>
              </a:gs>
            </a:gsLst>
            <a:lin scaled="0" ang="16200000"/>
          </a:gradFill>
          <a:ln>
            <a:noFill/>
          </a:ln>
          <a:effectLst>
            <a:outerShdw blurRad="38000" dist="18000" dir="5400000" rotWithShape="0">
              <a:srgbClr val="0B2D5C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建置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EAF2FB"/>
                </a:solidFill>
                <a:latin typeface="Calibri"/>
                <a:ea typeface="Noto Sans TC"/>
                <a:cs typeface="Calibri"/>
              </a:rPr>
              <a:t>廠master</a:t>
            </a:r>
          </a:p>
        </p:txBody>
      </p:sp>
      <p:sp>
        <p:nvSpPr>
          <p:cNvPr id="11" name="Chevron 10"/>
          <p:cNvSpPr/>
          <p:nvPr/>
        </p:nvSpPr>
        <p:spPr>
          <a:xfrm>
            <a:off x="1682495" y="2286000"/>
            <a:ext cx="1097280" cy="731520"/>
          </a:xfrm>
          <a:prstGeom prst="chevron">
            <a:avLst>
              <a:gd name="adj" fmla="val 18000"/>
            </a:avLst>
          </a:prstGeom>
          <a:gradFill rotWithShape="1">
            <a:gsLst>
              <a:gs pos="0">
                <a:srgbClr val="619FD3"/>
              </a:gs>
              <a:gs pos="100000">
                <a:srgbClr val="286BB5"/>
              </a:gs>
            </a:gsLst>
            <a:lin scaled="0" ang="16200000"/>
          </a:gradFill>
          <a:ln>
            <a:noFill/>
          </a:ln>
          <a:effectLst>
            <a:outerShdw blurRad="38000" dist="18000" dir="5400000" rotWithShape="0">
              <a:srgbClr val="0B2D5C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月維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EAF2FB"/>
                </a:solidFill>
                <a:latin typeface="Calibri"/>
                <a:ea typeface="Noto Sans TC"/>
                <a:cs typeface="Calibri"/>
              </a:rPr>
              <a:t>baseline</a:t>
            </a:r>
          </a:p>
        </p:txBody>
      </p:sp>
      <p:sp>
        <p:nvSpPr>
          <p:cNvPr id="12" name="Chevron 11"/>
          <p:cNvSpPr/>
          <p:nvPr/>
        </p:nvSpPr>
        <p:spPr>
          <a:xfrm>
            <a:off x="2852927" y="2286000"/>
            <a:ext cx="1097280" cy="731520"/>
          </a:xfrm>
          <a:prstGeom prst="chevron">
            <a:avLst>
              <a:gd name="adj" fmla="val 18000"/>
            </a:avLst>
          </a:prstGeom>
          <a:gradFill rotWithShape="1">
            <a:gsLst>
              <a:gs pos="0">
                <a:srgbClr val="548FC7"/>
              </a:gs>
              <a:gs pos="100000">
                <a:srgbClr val="225FA3"/>
              </a:gs>
            </a:gsLst>
            <a:lin scaled="0" ang="16200000"/>
          </a:gradFill>
          <a:ln>
            <a:noFill/>
          </a:ln>
          <a:effectLst>
            <a:outerShdw blurRad="38000" dist="18000" dir="5400000" rotWithShape="0">
              <a:srgbClr val="0B2D5C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開案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EAF2FB"/>
                </a:solidFill>
                <a:latin typeface="Calibri"/>
                <a:ea typeface="Noto Sans TC"/>
                <a:cs typeface="Calibri"/>
              </a:rPr>
              <a:t>選模/qty</a:t>
            </a:r>
          </a:p>
        </p:txBody>
      </p:sp>
      <p:sp>
        <p:nvSpPr>
          <p:cNvPr id="13" name="Chevron 12"/>
          <p:cNvSpPr/>
          <p:nvPr/>
        </p:nvSpPr>
        <p:spPr>
          <a:xfrm>
            <a:off x="4023359" y="2286000"/>
            <a:ext cx="1097280" cy="731520"/>
          </a:xfrm>
          <a:prstGeom prst="chevron">
            <a:avLst>
              <a:gd name="adj" fmla="val 18000"/>
            </a:avLst>
          </a:prstGeom>
          <a:gradFill rotWithShape="1">
            <a:gsLst>
              <a:gs pos="0">
                <a:srgbClr val="467FBB"/>
              </a:gs>
              <a:gs pos="100000">
                <a:srgbClr val="1C5291"/>
              </a:gs>
            </a:gsLst>
            <a:lin scaled="0" ang="16200000"/>
          </a:gradFill>
          <a:ln>
            <a:noFill/>
          </a:ln>
          <a:effectLst>
            <a:outerShdw blurRad="38000" dist="18000" dir="5400000" rotWithShape="0">
              <a:srgbClr val="0B2D5C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配置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EAF2FB"/>
                </a:solidFill>
                <a:latin typeface="Calibri"/>
                <a:ea typeface="Noto Sans TC"/>
                <a:cs typeface="Calibri"/>
              </a:rPr>
              <a:t>案級matrix</a:t>
            </a:r>
          </a:p>
        </p:txBody>
      </p:sp>
      <p:sp>
        <p:nvSpPr>
          <p:cNvPr id="14" name="Chevron 13"/>
          <p:cNvSpPr/>
          <p:nvPr/>
        </p:nvSpPr>
        <p:spPr>
          <a:xfrm>
            <a:off x="5193792" y="2286000"/>
            <a:ext cx="1097280" cy="731520"/>
          </a:xfrm>
          <a:prstGeom prst="chevron">
            <a:avLst>
              <a:gd name="adj" fmla="val 18000"/>
            </a:avLst>
          </a:prstGeom>
          <a:gradFill rotWithShape="1">
            <a:gsLst>
              <a:gs pos="0">
                <a:srgbClr val="396FAE"/>
              </a:gs>
              <a:gs pos="100000">
                <a:srgbClr val="16467F"/>
              </a:gs>
            </a:gsLst>
            <a:lin scaled="0" ang="16200000"/>
          </a:gradFill>
          <a:ln>
            <a:noFill/>
          </a:ln>
          <a:effectLst>
            <a:outerShdw blurRad="38000" dist="18000" dir="5400000" rotWithShape="0">
              <a:srgbClr val="0B2D5C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運算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EAF2FB"/>
                </a:solidFill>
                <a:latin typeface="Calibri"/>
                <a:ea typeface="Noto Sans TC"/>
                <a:cs typeface="Calibri"/>
              </a:rPr>
              <a:t>30秒</a:t>
            </a:r>
          </a:p>
        </p:txBody>
      </p:sp>
      <p:sp>
        <p:nvSpPr>
          <p:cNvPr id="15" name="Chevron 14"/>
          <p:cNvSpPr/>
          <p:nvPr/>
        </p:nvSpPr>
        <p:spPr>
          <a:xfrm>
            <a:off x="6364224" y="2286000"/>
            <a:ext cx="1097280" cy="731520"/>
          </a:xfrm>
          <a:prstGeom prst="chevron">
            <a:avLst>
              <a:gd name="adj" fmla="val 18000"/>
            </a:avLst>
          </a:prstGeom>
          <a:gradFill rotWithShape="1">
            <a:gsLst>
              <a:gs pos="0">
                <a:srgbClr val="2B5FA2"/>
              </a:gs>
              <a:gs pos="100000">
                <a:srgbClr val="10396D"/>
              </a:gs>
            </a:gsLst>
            <a:lin scaled="0" ang="16200000"/>
          </a:gradFill>
          <a:ln>
            <a:noFill/>
          </a:ln>
          <a:effectLst>
            <a:outerShdw blurRad="38000" dist="18000" dir="5400000" rotWithShape="0">
              <a:srgbClr val="0B2D5C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鎖版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EAF2FB"/>
                </a:solidFill>
                <a:latin typeface="Calibri"/>
                <a:ea typeface="Noto Sans TC"/>
                <a:cs typeface="Calibri"/>
              </a:rPr>
              <a:t>DPM lock</a:t>
            </a:r>
          </a:p>
        </p:txBody>
      </p:sp>
      <p:sp>
        <p:nvSpPr>
          <p:cNvPr id="16" name="Chevron 15"/>
          <p:cNvSpPr/>
          <p:nvPr/>
        </p:nvSpPr>
        <p:spPr>
          <a:xfrm>
            <a:off x="7534655" y="2286000"/>
            <a:ext cx="1097280" cy="731520"/>
          </a:xfrm>
          <a:prstGeom prst="chevron">
            <a:avLst>
              <a:gd name="adj" fmla="val 18000"/>
            </a:avLst>
          </a:prstGeom>
          <a:gradFill rotWithShape="1">
            <a:gsLst>
              <a:gs pos="0">
                <a:srgbClr val="1E4F96"/>
              </a:gs>
              <a:gs pos="100000">
                <a:srgbClr val="0B2D5C"/>
              </a:gs>
            </a:gsLst>
            <a:lin scaled="0" ang="16200000"/>
          </a:gradFill>
          <a:ln>
            <a:noFill/>
          </a:ln>
          <a:effectLst>
            <a:outerShdw blurRad="38000" dist="18000" dir="5400000" rotWithShape="0">
              <a:srgbClr val="0B2D5C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報價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EAF2FB"/>
                </a:solidFill>
                <a:latin typeface="Calibri"/>
                <a:ea typeface="Noto Sans TC"/>
                <a:cs typeface="Calibri"/>
              </a:rPr>
              <a:t>Margin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4206240"/>
            <a:ext cx="4279392" cy="20116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3E1F2"/>
            </a:solidFill>
          </a:ln>
          <a:effectLst>
            <a:outerShdw blurRad="70000" dist="32000" dir="5400000" rotWithShape="0">
              <a:srgbClr val="0B2D5C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02920" y="4407407"/>
            <a:ext cx="384048" cy="384048"/>
          </a:xfrm>
          <a:prstGeom prst="ellipse">
            <a:avLst/>
          </a:prstGeom>
          <a:gradFill rotWithShape="1">
            <a:gsLst>
              <a:gs pos="0">
                <a:srgbClr val="1E5BA8"/>
              </a:gs>
              <a:gs pos="100000">
                <a:srgbClr val="2E78C7"/>
              </a:gs>
            </a:gsLst>
            <a:lin scaled="0" ang="18900000"/>
          </a:gradFill>
          <a:ln>
            <a:noFill/>
          </a:ln>
          <a:effectLst>
            <a:outerShdw blurRad="45000" dist="22000" dir="5400000" rotWithShape="0">
              <a:srgbClr val="0B2D5C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7" y="4443983"/>
            <a:ext cx="336499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263D"/>
                </a:solidFill>
                <a:latin typeface="Calibri"/>
                <a:ea typeface="Noto Sans TC"/>
                <a:cs typeface="Calibri"/>
              </a:rPr>
              <a:t>前期準備與基礎設定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19472"/>
            <a:ext cx="3822191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>確保底層資料正確性與標準化：</a:t>
            </a:r>
            <a:br/>
            <a:r>
              <a:rPr sz="105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>- 廠區資源盤點與 master 建檔</a:t>
            </a:r>
            <a:br/>
            <a:r>
              <a:rPr sz="105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>- 每月定期維護基礎成本 (baseline)</a:t>
            </a:r>
            <a:br/>
            <a:r>
              <a:rPr sz="105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>- 依專案需求選擇模板與數量設定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81728" y="4206240"/>
            <a:ext cx="4187952" cy="20116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3E1F2"/>
            </a:solidFill>
          </a:ln>
          <a:effectLst>
            <a:outerShdw blurRad="70000" dist="32000" dir="5400000" rotWithShape="0">
              <a:srgbClr val="0B2D5C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910328" y="4407407"/>
            <a:ext cx="384048" cy="384048"/>
          </a:xfrm>
          <a:prstGeom prst="ellipse">
            <a:avLst/>
          </a:prstGeom>
          <a:gradFill rotWithShape="1">
            <a:gsLst>
              <a:gs pos="0">
                <a:srgbClr val="1E5BA8"/>
              </a:gs>
              <a:gs pos="100000">
                <a:srgbClr val="2E78C7"/>
              </a:gs>
            </a:gsLst>
            <a:lin scaled="0" ang="18900000"/>
          </a:gradFill>
          <a:ln>
            <a:noFill/>
          </a:ln>
          <a:effectLst>
            <a:outerShdw blurRad="45000" dist="22000" dir="5400000" rotWithShape="0">
              <a:srgbClr val="0B2D5C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31536" y="4443983"/>
            <a:ext cx="32735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263D"/>
                </a:solidFill>
                <a:latin typeface="Calibri"/>
                <a:ea typeface="Noto Sans TC"/>
                <a:cs typeface="Calibri"/>
              </a:rPr>
              <a:t>核心運算與產出鎖版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10328" y="4919472"/>
            <a:ext cx="373075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>高度自動化運算與嚴謹的權限控管：</a:t>
            </a:r>
            <a:br/>
            <a:r>
              <a:rPr sz="105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>- 案級矩陣配置，30秒極速運算生成報價</a:t>
            </a:r>
            <a:br/>
            <a:r>
              <a:rPr sz="105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>- 版本鎖定 (DPM lock) 防止資料遭誤改</a:t>
            </a:r>
            <a:br/>
            <a:r>
              <a:rPr sz="105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>- Margin 呈現與業務閘口審批放行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6601968"/>
            <a:ext cx="5943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>Cortex Platform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6601968"/>
            <a:ext cx="2926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>2026-06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170432"/>
          </a:xfrm>
          <a:prstGeom prst="rect">
            <a:avLst/>
          </a:prstGeom>
          <a:gradFill rotWithShape="1">
            <a:gsLst>
              <a:gs pos="0">
                <a:srgbClr val="0B2D5C"/>
              </a:gs>
              <a:gs pos="100000">
                <a:srgbClr val="1E5BA8"/>
              </a:gs>
            </a:gsLst>
            <a:lin scaled="0" ang="16200000"/>
          </a:gradFill>
          <a:ln>
            <a:noFill/>
          </a:ln>
          <a:effectLst>
            <a:outerShdw blurRad="70000" dist="26000" dir="5400000" rotWithShape="0">
              <a:srgbClr val="0B2D5C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5448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B9BD5"/>
                </a:solidFill>
                <a:latin typeface="Calibri"/>
                <a:ea typeface="Noto Sans TC"/>
                <a:cs typeface="Calibri"/>
              </a:rPr>
              <a:t>專案規劃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7132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佐證與開發排程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5039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BD9EE"/>
                </a:solidFill>
                <a:latin typeface="Calibri"/>
                <a:ea typeface="Noto Sans TC"/>
                <a:cs typeface="Calibri"/>
              </a:rPr>
              <a:t>以現有案例驗證，確保專案如期上線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280160"/>
            <a:ext cx="8595360" cy="457200"/>
          </a:xfrm>
          <a:prstGeom prst="roundRect">
            <a:avLst>
              <a:gd name="adj" fmla="val 4500"/>
            </a:avLst>
          </a:prstGeom>
          <a:gradFill rotWithShape="1">
            <a:gsLst>
              <a:gs pos="0">
                <a:srgbClr val="EAF2FB"/>
              </a:gs>
              <a:gs pos="100000">
                <a:srgbClr val="DCEAF9"/>
              </a:gs>
            </a:gsLst>
            <a:lin scaled="0" ang="16200000"/>
          </a:gradFill>
          <a:ln w="12700">
            <a:solidFill>
              <a:srgbClr val="5B9BD5"/>
            </a:solidFill>
          </a:ln>
          <a:effectLst>
            <a:outerShdw blurRad="70000" dist="20000" dir="5400000" rotWithShape="0">
              <a:srgbClr val="0B2D5C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80160"/>
            <a:ext cx="109728" cy="457200"/>
          </a:xfrm>
          <a:prstGeom prst="rect">
            <a:avLst/>
          </a:prstGeom>
          <a:solidFill>
            <a:srgbClr val="1E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280160"/>
            <a:ext cx="818387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6263D"/>
                </a:solidFill>
                <a:latin typeface="Calibri"/>
                <a:ea typeface="Noto Sans TC"/>
                <a:cs typeface="Calibri"/>
              </a:rPr>
              <a:t>透過真實產品驗證可行性，預計 6.5 個 sprint 完成開發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4279392" cy="38404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3E1F2"/>
            </a:solidFill>
          </a:ln>
          <a:effectLst>
            <a:outerShdw blurRad="70000" dist="32000" dir="5400000" rotWithShape="0">
              <a:srgbClr val="0B2D5C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02920" y="2487168"/>
            <a:ext cx="384048" cy="384048"/>
          </a:xfrm>
          <a:prstGeom prst="ellipse">
            <a:avLst/>
          </a:prstGeom>
          <a:gradFill rotWithShape="1">
            <a:gsLst>
              <a:gs pos="0">
                <a:srgbClr val="1E5BA8"/>
              </a:gs>
              <a:gs pos="100000">
                <a:srgbClr val="2E78C7"/>
              </a:gs>
            </a:gsLst>
            <a:lin scaled="0" ang="18900000"/>
          </a:gradFill>
          <a:ln>
            <a:noFill/>
          </a:ln>
          <a:effectLst>
            <a:outerShdw blurRad="45000" dist="22000" dir="5400000" rotWithShape="0">
              <a:srgbClr val="0B2D5C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7" y="2523744"/>
            <a:ext cx="336499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263D"/>
                </a:solidFill>
                <a:latin typeface="Calibri"/>
                <a:ea typeface="Noto Sans TC"/>
                <a:cs typeface="Calibri"/>
              </a:rPr>
              <a:t>已驗證案例可行性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999232"/>
            <a:ext cx="3822191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>透過兩大專案範本實際驗證：</a:t>
            </a:r>
            <a:br/>
            <a:r>
              <a:rPr sz="105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/>
            </a:r>
            <a:br/>
            <a:r>
              <a:rPr sz="105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>• SteelSeries Rival 3+ Wired</a:t>
            </a:r>
            <a:br/>
            <a:r>
              <a:rPr sz="105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>  - 涵蓋 9 道核心製程</a:t>
            </a:r>
            <a:br/>
            <a:r>
              <a:rPr sz="105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>  - 驗證多工序成本計算準確度</a:t>
            </a:r>
            <a:br/>
            <a:r>
              <a:rPr sz="105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/>
            </a:r>
            <a:br/>
            <a:r>
              <a:rPr sz="105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>• WHOOP Gen4 MP</a:t>
            </a:r>
            <a:br/>
            <a:r>
              <a:rPr sz="105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>  - 包含 8 個 sub-BOM</a:t>
            </a:r>
            <a:br/>
            <a:r>
              <a:rPr sz="105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>  - 驗證複雜階層 BOM 展開與計算</a:t>
            </a:r>
            <a:br/>
            <a:r>
              <a:rPr sz="105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/>
            </a:r>
            <a:br/>
            <a:r>
              <a:rPr sz="105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>對應系統規格：</a:t>
            </a:r>
            <a:br/>
            <a:r>
              <a:rPr sz="105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>cleansheet-mva-sd v0.3 / bom-collection-sd v0.4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81728" y="2286000"/>
            <a:ext cx="4187952" cy="38404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3E1F2"/>
            </a:solidFill>
          </a:ln>
          <a:effectLst>
            <a:outerShdw blurRad="70000" dist="32000" dir="5400000" rotWithShape="0">
              <a:srgbClr val="0B2D5C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910328" y="2487168"/>
            <a:ext cx="384048" cy="384048"/>
          </a:xfrm>
          <a:prstGeom prst="ellipse">
            <a:avLst/>
          </a:prstGeom>
          <a:gradFill rotWithShape="1">
            <a:gsLst>
              <a:gs pos="0">
                <a:srgbClr val="1E5BA8"/>
              </a:gs>
              <a:gs pos="100000">
                <a:srgbClr val="2E78C7"/>
              </a:gs>
            </a:gsLst>
            <a:lin scaled="0" ang="18900000"/>
          </a:gradFill>
          <a:ln>
            <a:noFill/>
          </a:ln>
          <a:effectLst>
            <a:outerShdw blurRad="45000" dist="22000" dir="5400000" rotWithShape="0">
              <a:srgbClr val="0B2D5C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31536" y="2523744"/>
            <a:ext cx="32735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263D"/>
                </a:solidFill>
                <a:latin typeface="Calibri"/>
                <a:ea typeface="Noto Sans TC"/>
                <a:cs typeface="Calibri"/>
              </a:rPr>
              <a:t>開發排程規劃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10328" y="2999232"/>
            <a:ext cx="3730752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>總時程與階段劃分：</a:t>
            </a:r>
            <a:br/>
            <a:r>
              <a:rPr sz="105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>預計 6.5 個 sprint (約 5-6 週 / 1 人)</a:t>
            </a:r>
            <a:br/>
            <a:r>
              <a:rPr sz="105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/>
            </a:r>
            <a:br/>
            <a:r>
              <a:rPr sz="105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>• Phase 1-4 核心功能建置</a:t>
            </a:r>
            <a:br/>
            <a:r>
              <a:rPr sz="105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>  - 廠級與案級架構設計</a:t>
            </a:r>
            <a:br/>
            <a:r>
              <a:rPr sz="105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>  - 運算引擎與 BOM 串接</a:t>
            </a:r>
            <a:br/>
            <a:r>
              <a:rPr sz="105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/>
            </a:r>
            <a:br/>
            <a:r>
              <a:rPr sz="105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>• Phase 5-6 跨廠擴充與應用</a:t>
            </a:r>
            <a:br/>
            <a:r>
              <a:rPr sz="105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>  - 支援 CN/VN/TW 多廠區</a:t>
            </a:r>
            <a:br/>
            <a:r>
              <a:rPr sz="105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>  - 權限控管與自動化產出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6601968"/>
            <a:ext cx="5943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>Cortex Platform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6601968"/>
            <a:ext cx="2926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>2026-06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