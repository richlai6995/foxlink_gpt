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ARCHITECTURE REPORT · 對非技術角色的整體說明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0" y="45720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v1.0 · 2026-06-01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架構報告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From Excel 痛點到 結構化 / ERP 對齊 / 版本鎖定 / 跨案重用 的 BOM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194560" cy="100584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947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業務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幾乎沒變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3657600"/>
            <a:ext cx="2194560" cy="100584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7947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DPM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1800" y="42062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+ Lock 動作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3657600"/>
            <a:ext cx="2194560" cy="100584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37947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42062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+ ERP 上次價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3657600"/>
            <a:ext cx="2194560" cy="100584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37947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35240" y="42062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+ AI 助手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3657600"/>
            <a:ext cx="2194560" cy="1005840"/>
          </a:xfrm>
          <a:prstGeom prst="roundRect">
            <a:avLst/>
          </a:prstGeom>
          <a:solidFill>
            <a:srgbClr val="11365B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379476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EPM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966960" y="420624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Cleansheet → 矩陣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914400"/>
          </a:xfrm>
          <a:prstGeom prst="roundRect">
            <a:avLst/>
          </a:prstGeom>
          <a:solidFill>
            <a:srgbClr val="06334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💡 一份結構化的、跟 ERP 對齊的、版本鎖定的、能跨案重用的 BOM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讓 RD 出結構、採購出價、MPM/EPM 出製造端、DPM 鎖、業務拿鎖定版簽核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基於 SD bom-collection-sd v0.3 + factory-matrix-schema-sd v0.1 · 對齊 spec v0.5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TL;DR · 一頁懂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一頁懂 · 從 Excel 痛點到結構化 BOM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30 秒總覽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要做什麼 / 為什麼這樣設計 / 對你日常工作的影響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2331720"/>
          </a:xfrm>
          <a:prstGeom prst="roundRect">
            <a:avLst/>
          </a:prstGeom>
          <a:solidFill>
            <a:srgbClr val="0A254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1947672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核心承諾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228600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一份結構化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跟 ERP 對齊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版本鎖定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可跨案重用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49852" y="1783080"/>
            <a:ext cx="274320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2732" y="19202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35652" y="1947672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四件具體事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78452" y="2377440"/>
            <a:ext cx="2286000" cy="22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8452" y="251460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① 層級化 BOM 結構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② 跟 ERP 連動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③ AI 智能輔助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④ 鎖定後 propagate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7444" y="1783080"/>
            <a:ext cx="2743200" cy="23317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0324" y="19202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3244" y="1947672"/>
            <a:ext cx="1965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三個新概念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6044" y="2377440"/>
            <a:ext cx="228600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6044" y="2514600"/>
            <a:ext cx="23317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① Variant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   (同案多版本)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② Multi-Factory Matrix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③ MVA (⏳ 待拍板)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11475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407408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💬 心智模型 · 各角色的工作分工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4846320"/>
            <a:ext cx="2194560" cy="41148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8463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 出結構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534924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這台機器需要哪些零件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51760" y="4846320"/>
            <a:ext cx="137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0" y="4846320"/>
            <a:ext cx="2194560" cy="411480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48463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  出價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0" y="534924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這些零件向誰買、多少錢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846320"/>
            <a:ext cx="137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983480" y="4846320"/>
            <a:ext cx="2194560" cy="4114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8463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MPM/EPM  出製造端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83480" y="534924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在 CN/VN/TW 各廠裝起來的成本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4846320"/>
            <a:ext cx="137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223760" y="4846320"/>
            <a:ext cx="2194560" cy="4114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48463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DPM  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534924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這版 BOM 是要拿去報價的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72600" y="4846320"/>
            <a:ext cx="137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464040" y="4846320"/>
            <a:ext cx="2194560" cy="41148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64040" y="48463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業務  簽核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464040" y="5349240"/>
            <a:ext cx="219456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拿鎖定版去 customer 報價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PROBLEM · 7 個 Excel 時代痛點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PROBLEM STATEMENT · 7 個 Excel 時代痛點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我們在解決什麼問題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今天 RD / 採購 / 財務手上散落 N 份 Excel + 隱性知識,N 份 Excel = N 個問題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3657600" cy="41148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755648"/>
            <a:ext cx="7818120" cy="41148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痛點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755648"/>
            <a:ext cx="7452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帶來的問題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6712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2167128"/>
            <a:ext cx="7818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67128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結構分散在 Excel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167128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同子料各案命名不同,後續分析湊不起來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36576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734056"/>
            <a:ext cx="7818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34056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同件子料,不同案不同價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734056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沒有版本、沒有有效期,不知道這個價是何時詢的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00984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0" y="3300984"/>
            <a:ext cx="7818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00984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 variant(黑/白)資料無處放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300984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兩份 Excel 各跑一遍,共用件改一次漏改一次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67912"/>
            <a:ext cx="36576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3867912"/>
            <a:ext cx="7818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67912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多廠成本對照混亂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3867912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三廠 EPM 各自 Cleansheet Excel,看價差靠手抄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23360" y="4434840"/>
            <a:ext cx="7818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34840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NRE 11 項各案重做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4434840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沒有「上次相同客戶 NRE 怎麼壓的」歷史對照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001768"/>
            <a:ext cx="365760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0" y="5001768"/>
            <a:ext cx="78181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001768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包裝 16 項詢價分散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5001768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工廠採購與主案分離,BPM 看不到包裝佔比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56869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5568696"/>
            <a:ext cx="7818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568696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業務簽核時 BOM 可能已被改過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06240" y="5568696"/>
            <a:ext cx="7452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沒有 lock,簽完後 RD 還能動,品質風險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5897880"/>
            <a:ext cx="11475720" cy="548640"/>
          </a:xfrm>
          <a:prstGeom prst="roundRect">
            <a:avLst/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897880"/>
            <a:ext cx="11155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✨ 核心承諾  </a:t>
            </a:r>
            <a:r>
              <a:rPr 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一份結構化的、跟 ERP 對齊的、版本鎖定的、能跨案重用的 BOM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WORKFLOW · 3 個 Stage 接力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WORKFLOW · 3 個 Stage 接力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整體工作流 · Stage 4 → 5 → 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出結構 → 採購出價 + EPM 出 Cleansheet → DPM 鎖 → 業務簽核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703320" cy="4160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28800"/>
            <a:ext cx="3703320" cy="640080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3337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Stage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提供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👥 RD / EE / 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2004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在 BOM Form 建子料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(EE 共用、ME 分 variant)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🤖 AI 自動搜 ERP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找最像的料號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上次採購廠商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歷史價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點「採用」即可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87368" y="3634740"/>
            <a:ext cx="182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270248" y="1828800"/>
            <a:ext cx="3703320" cy="41605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1828800"/>
            <a:ext cx="3703320" cy="6400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3128" y="1883664"/>
            <a:ext cx="3337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Stage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53128" y="2121408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並行 Collect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98848" y="2606040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👥 採購 + 三廠 EPM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44568" y="2926080"/>
            <a:ext cx="32004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採購對每子料補: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製造商選項(多 mfg)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報價快照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採購策略(選哪家)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三廠 EPM 跑 Cleansheet: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CN / VN / TW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每 variant 一格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矩陣 UI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91856" y="3634740"/>
            <a:ext cx="182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174736" y="1828800"/>
            <a:ext cx="3703320" cy="41605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4736" y="1828800"/>
            <a:ext cx="3703320" cy="640080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1883664"/>
            <a:ext cx="3337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Stage 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57616" y="2121408"/>
            <a:ext cx="33375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Cost Review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03336" y="2606040"/>
            <a:ext cx="3246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👥 DPM + BPM + RD + 採購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49056" y="2926080"/>
            <a:ext cx="32004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DPM 開審查會 → 鎖 BOM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系統自動: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採購選定價 propagate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  到工廠矩陣對應格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BOM 進唯讀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後續變更走 ECN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Stage 進 7 業務 gate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6172200"/>
            <a:ext cx="11475720" cy="292608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172200"/>
            <a:ext cx="11155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💡 全程同步進行 · RD/採購/EPM 平行 · DPM 是匯流節點 · 業務只看鎖定版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CORE CONCEPTS · 3 個新概念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CORE CONCEPTS · 3 個 Excel 時代沒有的新概念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三個核心新概念 · 總覽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Variant · Multi-Factory Matrix · MVA — 後續三頁分別深入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703320" cy="4480560"/>
          </a:xfrm>
          <a:prstGeom prst="roundRect">
            <a:avLst/>
          </a:prstGeom>
          <a:solidFill>
            <a:srgbClr val="CFFAF1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965960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🎨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Variant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同案多版本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154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📌 Black 80% / White 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31546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欄位分「共用」vs「per-variant」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EE BOM → 共用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ME BOM → per-variant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Material Cost → per-variant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PKG → 共用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📐 Phase 1 限制: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單軸(只一個軸)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變體數 ≤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5897880"/>
            <a:ext cx="37033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58978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 下一頁深入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0248" y="1783080"/>
            <a:ext cx="3703320" cy="44805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8848" y="19659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②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04888" y="1920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🏭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184648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Multi-Factory Matrix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84648" y="22860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多廠成本矩陣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44568" y="2697480"/>
            <a:ext cx="3154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269748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📌 CN / VN / TW 三廠對照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3200400"/>
            <a:ext cx="31546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一張矩陣表 · 對齊客戶 RFQ_Cost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 廠 × 2 variants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= 6 個 PRIME COST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= 6 個 Total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⭐ Packaging 不在矩陣維度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單一版本(跨三廠共用)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在 §packaging 收一份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70248" y="5897880"/>
            <a:ext cx="37033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48" y="58978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 p.7 深入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74736" y="1783080"/>
            <a:ext cx="3703320" cy="4480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A5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03336" y="1965960"/>
            <a:ext cx="548640" cy="54864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19659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③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1009376" y="1920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⏳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089136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MVA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89136" y="2286000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Manufacturing Value Add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49056" y="2697480"/>
            <a:ext cx="315468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2697480"/>
            <a:ext cx="3154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📌 設計待定 · USER 6 件事拍板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49056" y="3200400"/>
            <a:ext cx="31546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工廠把料件組裝起來自己賺的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(Labor + OH + Tooling 攤提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 + 良率扣損 ...)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🚨 6 件事待 USER 拍板: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數字來源 / 拆幾項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Variant 維度 / PKG 維度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版本鏈呈現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集團 rollup view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74736" y="5897880"/>
            <a:ext cx="3703320" cy="36576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5897880"/>
            <a:ext cx="3703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→ p.8 深入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CONCEPT 1 · Variant 深入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CONCEPT ① · VARIANT 同案多版本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概念一 · Variant(同案多版本)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一個專案,一份 BOM,標記哪些欄位「共用」、哪些「依 variant 不同」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303520" cy="18288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❌ 過去做法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兩個專案 / 兩份 BOM Excel
</a:t>
            </a:r>
            <a:r>
              <a:rPr lang="en-US" sz="13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維護一次改兩次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💢 共用件改一次漏改一次,雙倍工作量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5303520" cy="18288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920240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✅ 新做法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228600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一個專案,一份 BOM
</a:t>
            </a:r>
            <a:r>
              <a:rPr lang="en-US" sz="13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欄位標 共用 / per-variant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💚 共用件改一次,所有 variant 同步更新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📋 SteelSeries Rival 3+ 範例 · 欄位拆分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2743200" cy="384048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2062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欄位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4206240"/>
            <a:ext cx="2743200" cy="384048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206240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共用 vs Per-Variant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0" y="4206240"/>
            <a:ext cx="5989320" cy="384048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4206240"/>
            <a:ext cx="58064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範例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59028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90288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EE BOM (主板/電子料)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4590288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4645152"/>
            <a:ext cx="2468880" cy="274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645152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共用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4590288"/>
            <a:ext cx="5989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590288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Black/White 都用同一塊 PCB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974336"/>
            <a:ext cx="27432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974336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ME BOM (機構件)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08960" y="4974336"/>
            <a:ext cx="27432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5029200"/>
            <a:ext cx="246888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502920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Per-Variant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4974336"/>
            <a:ext cx="59893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4974336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Black 啞光黑塑膠 / White 珍珠白塑膠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535838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5358384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Material Cost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08960" y="535838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6120" y="5413248"/>
            <a:ext cx="246888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5413248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Per-Variant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52160" y="5358384"/>
            <a:ext cx="5989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5358384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Black $4.32 / White $4.45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5742432"/>
            <a:ext cx="27432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5742432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年量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108960" y="5742432"/>
            <a:ext cx="27432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46120" y="5797296"/>
            <a:ext cx="246888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5797296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Per-Variant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5742432"/>
            <a:ext cx="59893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5742432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Black 334K / White 84K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6126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126480"/>
            <a:ext cx="2514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PKG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108960" y="61264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46120" y="6181344"/>
            <a:ext cx="2468880" cy="274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6181344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共用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52160" y="6126480"/>
            <a:ext cx="5989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89320" y="6126480"/>
            <a:ext cx="5760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同一款 gift box,僅 logo 顏色不同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6199632"/>
            <a:ext cx="1147572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199632"/>
            <a:ext cx="11155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📐 Phase 1 約束(spec §11.3.5)· 單軸(只一個軸,不能兩個交叉)· 變體數 ≤ 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CONCEPT 2 · Multi-Factory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CONCEPT ② · MULTI-FACTORY COST MATRIX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概念二 · 多廠成本矩陣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一張矩陣表 · 對齊客戶 RFQ_Cost.xlsx 版面 · 同時看到 6 個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10312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2880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Cost 項目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132588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82880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CN 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Option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94760" y="1828800"/>
            <a:ext cx="132588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82880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VN 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132588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828800"/>
            <a:ext cx="1234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TW 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Option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2103120" cy="329184"/>
          </a:xfrm>
          <a:prstGeom prst="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86000"/>
            <a:ext cx="20116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Retail Packaging</a:t>
            </a:r>
            <a:endParaRPr lang="en-US" sz="900" dirty="0"/>
          </a:p>
          <a:p>
            <a:pPr marL="0" indent="0">
              <a:buNone/>
            </a:pPr>
            <a:r>
              <a:rPr lang="en-US" sz="900" b="1" i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(單一版本 16 items)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2286000"/>
            <a:ext cx="3977640" cy="329184"/>
          </a:xfrm>
          <a:prstGeom prst="rect">
            <a:avLst/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286000"/>
            <a:ext cx="39776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⭐ 跨三廠共用,不在矩陣維度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1518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MVA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261518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261518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$1.8558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261518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261518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$1.430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61518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61518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$3.207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935224"/>
            <a:ext cx="21031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93522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PRIME COST (Matl+Labor) 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93522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293522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$10.373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94760" y="293522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93522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$10.356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293522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93522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$11.840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55264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5526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PRIME COST (Matl+Labor) 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68880" y="325526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325526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$10.588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94760" y="325526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325526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$10.579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20640" y="325526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25526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$12.055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1031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575304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SG&amp;A + Profit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68880" y="357530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14600" y="357530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$0.7500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94760" y="357530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357530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$0.750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20640" y="3575304"/>
            <a:ext cx="1325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3575304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$0.750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895344"/>
            <a:ext cx="6080760" cy="3657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3931920"/>
            <a:ext cx="210312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93192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Total Cost (Ex-Factory) Black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468880" y="3931920"/>
            <a:ext cx="132588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393192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$11.123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94760" y="3931920"/>
            <a:ext cx="132588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0" y="393192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$11.106 ⭐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120640" y="3931920"/>
            <a:ext cx="132588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393192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$12.590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65760" y="4343400"/>
            <a:ext cx="2103120" cy="411480"/>
          </a:xfrm>
          <a:prstGeom prst="rect">
            <a:avLst/>
          </a:prstGeom>
          <a:solidFill>
            <a:srgbClr val="FBEFB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343400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Total Cost (Ex-Factory) White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468880" y="4343400"/>
            <a:ext cx="1325880" cy="411480"/>
          </a:xfrm>
          <a:prstGeom prst="rect">
            <a:avLst/>
          </a:prstGeom>
          <a:solidFill>
            <a:srgbClr val="FBEFB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14600" y="434340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$11.338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794760" y="4343400"/>
            <a:ext cx="1325880" cy="411480"/>
          </a:xfrm>
          <a:prstGeom prst="rect">
            <a:avLst/>
          </a:prstGeom>
          <a:solidFill>
            <a:srgbClr val="CFFAF1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0" y="434340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$11.329 ⭐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120640" y="4343400"/>
            <a:ext cx="1325880" cy="411480"/>
          </a:xfrm>
          <a:prstGeom prst="rect">
            <a:avLst/>
          </a:prstGeom>
          <a:solidFill>
            <a:srgbClr val="FBEFBA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66360" y="4343400"/>
            <a:ext cx="1234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$12.750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772400" y="1828800"/>
            <a:ext cx="40690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09560" y="192024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📐 矩陣結構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955280" y="233172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工廠維度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601200" y="23317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CN / VN / TW (3 個)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955280" y="283464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Variant 維度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9601200" y="283464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Black / White (2 個)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955280" y="333756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PKG 維度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333756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❌ 無(單一版本)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955280" y="384048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Cell 總數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9601200" y="384048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3 × 2 = 6 個 Total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955280" y="4343400"/>
            <a:ext cx="1645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共用值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601200" y="434340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MVA + SG&amp;A 三廠統一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285232"/>
            <a:ext cx="11475720" cy="1170432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5376672"/>
            <a:ext cx="10972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💚 矩陣帶來的 4 個好處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548640" y="5669280"/>
            <a:ext cx="1115568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6 個 Total 一頁看完 </a:t>
            </a: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不用切 tab
</a:t>
            </a:r>
            <a:r>
              <a:rPr lang="en-US" sz="11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同 variant 三廠價差 / 同廠 Black vs White 價差</a:t>
            </a: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一眼判別
</a:t>
            </a:r>
            <a:r>
              <a:rPr lang="en-US" sz="11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直接掃 </a:t>
            </a: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給「最便宜推薦」、「MVA 異常 flag」(TW $3.21 比 CN/VN 高很多)
</a:t>
            </a:r>
            <a:r>
              <a:rPr lang="en-US" sz="11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鎖定後料件價 propagate</a:t>
            </a: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· EPM 不用重抄,自動帶到每廠 PRIME COST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ALIGNMENT · AI 智能輔助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ALIGNMENT · AI 智能輔助(模組智能核心)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子料件如何跟 ERP 對齊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描述零件 → AI 找 ERP 料號 / 上次廠商 / 歷史價 → RD 點「採用」即可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212080" cy="5943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寫 「USB-C 連接器,公頭,Apple A 規範」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42032"/>
            <a:ext cx="521208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把這段文字轉成向量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55264"/>
            <a:ext cx="5212080" cy="594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55264"/>
            <a:ext cx="457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255264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到 ERP item master 撈最相似的 top-10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886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5212080" cy="1874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43484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🎯 AI 候選結果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493776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80060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候選 1  CONN-USB-C-M-AA01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5029200"/>
            <a:ext cx="47548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USB-C male 24P Apple v2 · 2026-03 / 立訊精密 / $0.62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5440680"/>
            <a:ext cx="493776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486400"/>
            <a:ext cx="4754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候選 2  CONN-USB-C-M-AA00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715000"/>
            <a:ext cx="47548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USB-C male 24P generic · 2026-01 / 協承精密 / $0.55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182880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📊 RD 負擔大幅降低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0" y="2194560"/>
            <a:ext cx="1828800" cy="420624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194560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操作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2194560"/>
            <a:ext cx="1828800" cy="420624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194560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過去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01200" y="2194560"/>
            <a:ext cx="2194560" cy="420624"/>
          </a:xfrm>
          <a:prstGeom prst="rect">
            <a:avLst/>
          </a:prstGeom>
          <a:solidFill>
            <a:srgbClr val="11365B"/>
          </a:solidFill>
          <a:ln w="12700">
            <a:solidFill>
              <a:srgbClr val="1136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0" y="2194560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新做法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61518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2615184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找 ERP 料號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2615184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2615184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翻 ERP 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01200" y="2615184"/>
            <a:ext cx="21945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2615184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AI 建議 top-10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3035808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3035808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規格描述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0" y="3035808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3035808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手抄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01200" y="3035808"/>
            <a:ext cx="21945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92640" y="3035808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345643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3456432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上次採購廠商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772400" y="3456432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3456432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問採購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601200" y="3456432"/>
            <a:ext cx="21945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92640" y="3456432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系統帶上次採購單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43600" y="3877056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3877056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上次成交價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772400" y="3877056"/>
            <a:ext cx="182880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63840" y="3877056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問採購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601200" y="3877056"/>
            <a:ext cx="21945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0" y="3877056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系統帶 · 採購確認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43600" y="42976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5040" y="4297680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該不該詢新價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772400" y="4297680"/>
            <a:ext cx="1828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63840" y="4297680"/>
            <a:ext cx="164592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採購憑感覺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601200" y="4297680"/>
            <a:ext cx="219456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4297680"/>
            <a:ext cx="201168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系統 flag &gt; 90 天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6080760"/>
            <a:ext cx="11475720" cy="3657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💡 採購不會被取代 · 價格時效性 / 廠商關係 / 量價策略 / 風險評估 — 這些 AI 不會做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LOCK + PROPAGATE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LOCK + PROPAGATE · DPM 鎖定機制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鎖定機制 · 簽核版本一定要可指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業務簽完不能再改 / 改完客戶看到的價對不上 / Cleansheet 不能根據舊版算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685800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6583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🔒 DPM 一鎖 · 系統做 3 件事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649224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42032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420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487168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全部唯讀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子料、單價、製造商選項全部唯讀 · 只有 admin / DPM 能解鎖 · audit log 記錄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649224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63931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3931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584448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採購選定價 propagate 到工廠矩陣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每個子料的「採購策略」(選定的 mfg + 價)自動寫入工廠矩陣每個 cell 的 Material 欄位 · 跨 variant、跨工廠、跨 PKG 一次帶完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649224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736592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365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681728"/>
            <a:ext cx="5486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後續變更走 ECN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98348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正式 BOM 變更走工程變更通知流程(類似 ERP 的 ECO 概念)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06640" y="1828800"/>
            <a:ext cx="4434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1920240"/>
            <a:ext cx="4114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🔓 解鎖規則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589520" y="2331720"/>
            <a:ext cx="41148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33172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92440" y="233172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 / 採購 / EPM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04120" y="233172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0" y="2880360"/>
            <a:ext cx="41148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8803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92440" y="288036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DPM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04120" y="288036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須留註記原因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89520" y="3429000"/>
            <a:ext cx="41148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34290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92440" y="3429000"/>
            <a:ext cx="2011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Admin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104120" y="342900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89520" y="4114800"/>
            <a:ext cx="4114800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20624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🚨 解鎖會觸發告警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45262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通知 BPM 跟業務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26680" y="48006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(因為可能影響已簽報價)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26680" y="51206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audit log 永久保留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5989320"/>
            <a:ext cx="11475720" cy="4572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💡 為什麼要 lock </a:t>
            </a:r>
            <a:r>
              <a:rPr lang="en-US" sz="11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 · 業務簽完 RD 改 → 報價對不上 · 採購喬完價 → 簽核 vs 出貨價落差 · EPM 已根據舊版算 → 鎖完算錯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RACI · 角色分工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資料收集模組架構報告 · v1.0 · 2026-06-01 · Cortex 規劃小組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RACI · 各角色負責什麼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RACI · 誰負責什麼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 = Responsible(主執行)· A = Accountable(最終負責)· C = Consulted · I = Informed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38912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43891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工作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RD/EE/ME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98464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42048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42048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EPM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85632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DPM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29216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BPM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0" y="1737360"/>
            <a:ext cx="1243584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1737360"/>
            <a:ext cx="1243584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業務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21408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建 BOM 結構 (子料、規格、用量)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42048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42048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85632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85632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29216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972800" y="212140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0" y="212140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450592"/>
            <a:ext cx="43891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450592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ERP 料號對齊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98464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8464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42048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85632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729216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9216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972800" y="2450592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0" y="245059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2779776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779776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詢價、製造商選項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54880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98464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98464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42048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42048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85632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85632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29216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29216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972800" y="2779776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72800" y="277977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65760" y="3108960"/>
            <a:ext cx="43891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3108960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採購策略(選哪家)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754880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98464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98464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R/A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42048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42048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485632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85632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729216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29216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0972800" y="3108960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972800" y="310896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5760" y="3438144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3438144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Cleansheet(三廠成本)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754880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54880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998464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98464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242048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42048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485632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85632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729216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729216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0972800" y="3438144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972800" y="343814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65760" y="3767328"/>
            <a:ext cx="43891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3767328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Variant 拆分(共用 vs per-variant)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4754880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54880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998464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242048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42048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8485632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485632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9729216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729216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0972800" y="3767328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972800" y="376732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365760" y="4096512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4096512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多廠矩陣 review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754880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54880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5998464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998464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7242048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242048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8485632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485632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R/A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9729216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9729216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10972800" y="4096512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972800" y="4096512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365760" y="4425696"/>
            <a:ext cx="43891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425696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🔒 Lock BOM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4754880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54880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998464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998464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7242048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242048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8485632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485632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R/A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9729216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729216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10972800" y="4425696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972800" y="4425696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365760" y="4754880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57200" y="4754880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BOM Cost Review 會議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4754880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54880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5998464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998464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40" name="Shape 138"/>
          <p:cNvSpPr/>
          <p:nvPr/>
        </p:nvSpPr>
        <p:spPr>
          <a:xfrm>
            <a:off x="7242048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242048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8485632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485632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9729216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729216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46" name="Shape 144"/>
          <p:cNvSpPr/>
          <p:nvPr/>
        </p:nvSpPr>
        <p:spPr>
          <a:xfrm>
            <a:off x="10972800" y="4754880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972800" y="4754880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365760" y="5084064"/>
            <a:ext cx="438912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57200" y="5084064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🔓 解鎖授權</a:t>
            </a:r>
            <a:endParaRPr lang="en-US" sz="1050" dirty="0"/>
          </a:p>
        </p:txBody>
      </p:sp>
      <p:sp>
        <p:nvSpPr>
          <p:cNvPr id="150" name="Shape 148"/>
          <p:cNvSpPr/>
          <p:nvPr/>
        </p:nvSpPr>
        <p:spPr>
          <a:xfrm>
            <a:off x="4754880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4754880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52" name="Shape 150"/>
          <p:cNvSpPr/>
          <p:nvPr/>
        </p:nvSpPr>
        <p:spPr>
          <a:xfrm>
            <a:off x="5998464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998464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54" name="Shape 152"/>
          <p:cNvSpPr/>
          <p:nvPr/>
        </p:nvSpPr>
        <p:spPr>
          <a:xfrm>
            <a:off x="7242048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242048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56" name="Shape 154"/>
          <p:cNvSpPr/>
          <p:nvPr/>
        </p:nvSpPr>
        <p:spPr>
          <a:xfrm>
            <a:off x="8485632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8485632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</a:t>
            </a:r>
            <a:endParaRPr lang="en-US" sz="1100" dirty="0"/>
          </a:p>
        </p:txBody>
      </p:sp>
      <p:sp>
        <p:nvSpPr>
          <p:cNvPr id="158" name="Shape 156"/>
          <p:cNvSpPr/>
          <p:nvPr/>
        </p:nvSpPr>
        <p:spPr>
          <a:xfrm>
            <a:off x="9729216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729216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10972800" y="5084064"/>
            <a:ext cx="1243584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0972800" y="5084064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365760" y="5413248"/>
            <a:ext cx="43891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57200" y="5413248"/>
            <a:ext cx="42062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報價簽核(以 lock 版為基礎)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4754880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54880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66" name="Shape 164"/>
          <p:cNvSpPr/>
          <p:nvPr/>
        </p:nvSpPr>
        <p:spPr>
          <a:xfrm>
            <a:off x="5998464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998464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68" name="Shape 166"/>
          <p:cNvSpPr/>
          <p:nvPr/>
        </p:nvSpPr>
        <p:spPr>
          <a:xfrm>
            <a:off x="7242048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242048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</a:t>
            </a:r>
            <a:endParaRPr lang="en-US" sz="1100" dirty="0"/>
          </a:p>
        </p:txBody>
      </p:sp>
      <p:sp>
        <p:nvSpPr>
          <p:cNvPr id="170" name="Shape 168"/>
          <p:cNvSpPr/>
          <p:nvPr/>
        </p:nvSpPr>
        <p:spPr>
          <a:xfrm>
            <a:off x="8485632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485632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9729216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29216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</a:t>
            </a:r>
            <a:endParaRPr lang="en-US" sz="1100" dirty="0"/>
          </a:p>
        </p:txBody>
      </p:sp>
      <p:sp>
        <p:nvSpPr>
          <p:cNvPr id="174" name="Shape 172"/>
          <p:cNvSpPr/>
          <p:nvPr/>
        </p:nvSpPr>
        <p:spPr>
          <a:xfrm>
            <a:off x="10972800" y="5413248"/>
            <a:ext cx="12435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72800" y="5413248"/>
            <a:ext cx="12435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R/A</a:t>
            </a:r>
            <a:endParaRPr lang="en-US" sz="1100" dirty="0"/>
          </a:p>
        </p:txBody>
      </p:sp>
      <p:sp>
        <p:nvSpPr>
          <p:cNvPr id="176" name="Shape 174"/>
          <p:cNvSpPr/>
          <p:nvPr/>
        </p:nvSpPr>
        <p:spPr>
          <a:xfrm>
            <a:off x="365760" y="5989320"/>
            <a:ext cx="114757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R </a:t>
            </a: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主執行  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300" b="1" dirty="0">
                <a:solidFill>
                  <a:srgbClr val="E5484D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A </a:t>
            </a: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最終負責 (背鍋)  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300" b="1" dirty="0">
                <a:solidFill>
                  <a:srgbClr val="F5A524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C </a:t>
            </a: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諮詢  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</a:t>
            </a:r>
            <a:r>
              <a:rPr lang="en-US" sz="1300" b="1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I </a:t>
            </a:r>
            <a:r>
              <a:rPr lang="en-US" sz="1100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知會  </a:t>
            </a:r>
            <a:r>
              <a:rPr lang="en-US" sz="1100" dirty="0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·  注意:</a:t>
            </a:r>
            <a:r>
              <a:rPr lang="en-US" sz="1100" b="1" dirty="0">
                <a:solidFill>
                  <a:srgbClr val="0A2540"/>
                </a:solidFill>
                <a:latin typeface="微軟正黑體" panose="020B0604030504040204" pitchFamily="34" charset="-120"/>
                <a:ea typeface="微軟正黑體" panose="020B0604030504040204" pitchFamily="34" charset="-122"/>
                <a:cs typeface="微軟正黑體" panose="020B0604030504040204" pitchFamily="34" charset="-120"/>
              </a:rPr>
              <a:t>採購策略 / Lock 兩個動作 採購 / DPM 同時當 R+A(直接拍板)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5497</Words>
  <Application>WPS Presentation</Application>
  <PresentationFormat>On-screen Show (16:9)</PresentationFormat>
  <Paragraphs>778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新細明體</vt:lpstr>
      <vt:lpstr>Wingdings</vt:lpstr>
      <vt:lpstr>微軟正黑體</vt:lpstr>
      <vt:lpstr>微軟正黑體</vt:lpstr>
      <vt:lpstr>Calibri</vt:lpstr>
      <vt:lpstr>Microsoft YaHei</vt:lpstr>
      <vt:lpstr>SimSun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BOM 資料收集模組架構報告</dc:title>
  <dc:creator>Cortex 規劃小組</dc:creator>
  <dc:subject>PptxGenJS Presentation</dc:subject>
  <cp:lastModifiedBy>rich_lai</cp:lastModifiedBy>
  <cp:revision>4</cp:revision>
  <dcterms:created xsi:type="dcterms:W3CDTF">2026-06-01T03:47:00Z</dcterms:created>
  <dcterms:modified xsi:type="dcterms:W3CDTF">2026-06-03T07:15:12Z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938A556CB77847FAA3B24CF7209DDB3D</vt:lpwstr>
  </property>
  <property fmtid="{D5CDD505-2E9C-101B-9397-08002B2CF9AE}" pid="3" name="KSOProductBuildVer">
    <vt:lpwstr>1028-11.8.2.11649</vt:lpwstr>
  </property>
</Properties>
</file>