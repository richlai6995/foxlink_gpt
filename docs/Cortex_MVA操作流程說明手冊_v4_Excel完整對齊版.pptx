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2C39A"/>
                </a:solidFill>
                <a:latin typeface="Microsoft JhengHei"/>
              </a:rPr>
              <a:t>FOXLINK 正崴 · Cortex BOM × MVA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JhengHei"/>
              </a:rPr>
              <a:t>MVA 操作手冊 v4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icrosoft JhengHei"/>
              </a:rPr>
              <a:t>Excel Cleansheet §A 完整 55 行對齊 + DL/IDL 修正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20440"/>
            <a:ext cx="10972800" cy="1920240"/>
          </a:xfrm>
          <a:prstGeom prst="roundRect">
            <a:avLst>
              <a:gd name="adj" fmla="val 4000"/>
            </a:avLst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2C39A"/>
                </a:solidFill>
                <a:latin typeface="Microsoft JhengHei"/>
              </a:rPr>
              <a:t>v4 認錯 + 修正(對齊 v0.12 demo)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latin typeface="Microsoft JhengHei"/>
              </a:rP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0690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v0.11 偏差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06908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JhengHei"/>
              </a:rPr>
              <a:t>7 種 DL 工種費率 → 偏離 Excel 真實結構 · 廢除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latin typeface="Microsoft Jheng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976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DL 回歸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9768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JhengHei"/>
              </a:rPr>
              <a:t>4 category(DL/Debug/Functional/⭐Warehouse)+ 廠級單一 $4.95 wage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latin typeface="Microsoft JhengHei"/>
              </a:rPr>
              <a:t>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262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IDL Line-Dep wage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52628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JhengHei"/>
              </a:rPr>
              <a:t>4 角色 weekly wage(LL$403/Tech$436.80/⭐IQC$403/Sup$403)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latin typeface="Microsoft JhengHei"/>
              </a:rPr>
              <a:t>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548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案級補 4 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75488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JhengHei"/>
              </a:rPr>
              <a:t>warehouse_dl + line_leader_per_day + technician_per_day + iqc_per_day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latin typeface="Microsoft JhengHei"/>
              </a:rPr>
              <a:t>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9834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公式對齊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98348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JhengHei"/>
              </a:rPr>
              <a:t>csComputeDlSteps wage 從 schema 取 · 不再 hardcode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1208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latin typeface="Microsoft JhengHei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2120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保留正確設計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21208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JhengHei"/>
              </a:rPr>
              <a:t>BG/BU 隔離 · 設備類別 · 權限 grant · 設定 master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v4 · 2026-06 · 對應 cleansheet-mva-sd v0.5 + Cortex_互動Demo_v0.12.html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Microsoft JhengHei"/>
              </a:rPr>
              <a:t>v0.11 設計偏差 · 認錯與修正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</a:rPr>
              <a:t>感謝 user 質疑 — Cleansheet §A 完整看過才發現設計偏離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75720" cy="512064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11475720" cy="457200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247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⚠️ v0.11 我做錯的 4 件事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1201400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640080" cy="914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640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28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DL「7 種工種費率」over-engineer · 偏離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30552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v0.11 加 OP_GENERAL/OP_DEBUG/OP_FUNCT/OP_CLEANROOM/OP_MOLD/OP_TEST/OP_AUTO_MON 7 個工種各自 hourly_rate。
Excel 真實:DL 是 4 個 category(DL/Debug/Functional/Warehouse)用同一個 $4.95/hr。
user 之前要求「DL 費率按工種」其實對應的應該是 IDL Line-Dep 4 角色,不是 DL。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80360"/>
            <a:ext cx="11201400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926079"/>
            <a:ext cx="640080" cy="914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26079"/>
            <a:ext cx="640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2607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IDL Line-Dependent 4 個 weekly wage 完全漏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27832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Cleansheet r43-46 有 4 個 wage rate: Line Leader $403 / Technician $436.80 / IQC $403 / Supervisor $403。
v0.11 在 csComputeDlSteps 用 hardcode $280/$320/$460 · 而且 IQC 完全沒有。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77639"/>
            <a:ext cx="11201400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4023359"/>
            <a:ext cx="640080" cy="914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23359"/>
            <a:ext cx="640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02335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案級「Warehouse DL」完全漏 + per Day count 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325112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Excel r31 Warehouse DL 是真實第 4 種 DL category(Material Mgmt 製程用 0.5 人)· schema 沒。
另外 r37/38/39 Line Leader Per Day / Technician Per Day / IQC Per Day · 跟 r35/36 per Shift 是兩種獨立 count · 我合一了。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074920"/>
            <a:ext cx="11201400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5120640"/>
            <a:ext cx="640080" cy="9144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120640"/>
            <a:ext cx="640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120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IDL 17 角色 multiplier 表 r62-83 沒做 Manufacturing/Centralized 分區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422392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我 v0.10/0.11 17 角色 mix 在一起 · Excel 真實分 4 個 Manufacturing IDL (r64-67) + 9 個 Centralized Service (r74-82) 兩段。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v4 · Excel 完整對齊版 · 對齊 v0.12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📋 對齊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Excel Cleansheet §A 完整 55 行映射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對齊 SteelSeries Rival 3+ Cleansheet sheet r4-58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🔍 §A. Direct Labor Cost 完整結構 — 10 sub-sections × 9 製程 × 55 substantive cells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27432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Sub-section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554480"/>
            <a:ext cx="109728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5544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Rows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554480"/>
            <a:ext cx="64008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554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#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554480"/>
            <a:ext cx="50292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說明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554480"/>
            <a:ext cx="196596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155448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v0.12 覆蓋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920240"/>
            <a:ext cx="274320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2560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C7293"/>
                </a:solidFill>
                <a:latin typeface="Microsoft JhengHei"/>
              </a:rPr>
              <a:t>§A.1 Staffed Hours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1920240"/>
            <a:ext cx="109728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1920240"/>
            <a:ext cx="914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r7-11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1920240"/>
            <a:ext cx="64008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1920240"/>
            <a:ext cx="45719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Microsoft JhengHe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1920240"/>
            <a:ext cx="502920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59" y="1920240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Working hr/day · Working d/wk · Whr/wk(derived) · Shifts/day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1920240"/>
            <a:ext cx="196596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1920240"/>
            <a:ext cx="17830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✓ 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331720"/>
            <a:ext cx="274320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331720"/>
            <a:ext cx="2560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C7293"/>
                </a:solidFill>
                <a:latin typeface="Microsoft JhengHei"/>
              </a:rPr>
              <a:t>§A.2 Throughput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2331720"/>
            <a:ext cx="10972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2331720"/>
            <a:ext cx="914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r12-16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2331720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79" y="2331720"/>
            <a:ext cx="45719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Microsoft JhengHei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331720"/>
            <a:ext cx="502920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59" y="2331720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TAKT · UPH(derived) · Yield · Eff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20" y="2331720"/>
            <a:ext cx="196596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60" y="2331720"/>
            <a:ext cx="17830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✓ 100%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743200"/>
            <a:ext cx="274320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2743200"/>
            <a:ext cx="2560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C7293"/>
                </a:solidFill>
                <a:latin typeface="Microsoft JhengHei"/>
              </a:rPr>
              <a:t>§A.3 Volume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2743200"/>
            <a:ext cx="109728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2743200"/>
            <a:ext cx="914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r17-21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743200"/>
            <a:ext cx="64008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79" y="2743200"/>
            <a:ext cx="45719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Microsoft JhengHei"/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2743200"/>
            <a:ext cx="502920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37759" y="2743200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Annual demand · Avg wk · Max wk · Max output/line/wk(derived)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20" y="2743200"/>
            <a:ext cx="196596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66960" y="2743200"/>
            <a:ext cx="17830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✓ 100%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154680"/>
            <a:ext cx="274320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154680"/>
            <a:ext cx="2560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C7293"/>
                </a:solidFill>
                <a:latin typeface="Microsoft JhengHei"/>
              </a:rPr>
              <a:t>§A.4 Production Cap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08960" y="3154680"/>
            <a:ext cx="10972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0" y="3154680"/>
            <a:ext cx="914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r22-26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3154680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97679" y="3154680"/>
            <a:ext cx="45719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Microsoft JhengHei"/>
              </a:rPr>
              <a:t>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46320" y="3154680"/>
            <a:ext cx="502920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37759" y="3154680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Lines installed · Weekly output · Upside · Debug lines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75520" y="3154680"/>
            <a:ext cx="196596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66960" y="3154680"/>
            <a:ext cx="17830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✓ 100%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566160"/>
            <a:ext cx="274320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3566160"/>
            <a:ext cx="2560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C7293"/>
                </a:solidFill>
                <a:latin typeface="Microsoft JhengHei"/>
              </a:rPr>
              <a:t>§A.5 DL Required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08960" y="3566160"/>
            <a:ext cx="109728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0" y="3566160"/>
            <a:ext cx="914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r27-33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06240" y="3566160"/>
            <a:ext cx="64008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97679" y="3566160"/>
            <a:ext cx="45719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Microsoft JhengHei"/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46320" y="3566160"/>
            <a:ext cx="502920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37759" y="3566160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DL/Debug/Functional/⭐Warehouse + Total/Line/Shift + Total/day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75520" y="3566160"/>
            <a:ext cx="196596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66960" y="3566160"/>
            <a:ext cx="17830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6A34A"/>
                </a:solidFill>
                <a:latin typeface="Microsoft JhengHei"/>
              </a:rPr>
              <a:t>✓ 100% (v0.12 補 Warehouse)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3977639"/>
            <a:ext cx="274320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3977639"/>
            <a:ext cx="2560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C7293"/>
                </a:solidFill>
                <a:latin typeface="Microsoft JhengHei"/>
              </a:rPr>
              <a:t>§A.6 IDL Line-Indep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08960" y="3977639"/>
            <a:ext cx="10972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0" y="3977639"/>
            <a:ext cx="914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r34-41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06240" y="3977639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97679" y="3977639"/>
            <a:ext cx="45719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Microsoft JhengHei"/>
              </a:rPr>
              <a:t>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46320" y="3977639"/>
            <a:ext cx="502920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37759" y="3977639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LL/Tech Per Shift + Per Day · ⭐IQC/day · Supervisor/day · Total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75520" y="3977639"/>
            <a:ext cx="196596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66960" y="3977639"/>
            <a:ext cx="17830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6A34A"/>
                </a:solidFill>
                <a:latin typeface="Microsoft JhengHei"/>
              </a:rPr>
              <a:t>✓ 100% (v0.12 補 IQC + 4 per_day)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4389120"/>
            <a:ext cx="274320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4389120"/>
            <a:ext cx="2560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C7293"/>
                </a:solidFill>
                <a:latin typeface="Microsoft JhengHei"/>
              </a:rPr>
              <a:t>§A.7 IDL Line-Dep wage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108960" y="4389120"/>
            <a:ext cx="109728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0" y="4389120"/>
            <a:ext cx="914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r42-46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06240" y="4389120"/>
            <a:ext cx="64008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97679" y="4389120"/>
            <a:ext cx="45719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Microsoft JhengHei"/>
              </a:rPr>
              <a:t>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846320" y="4389120"/>
            <a:ext cx="502920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937759" y="4389120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⭐Line Leader/Tech/IQC/Supervisor weekly wage($403/$436.80/$403/$403)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875520" y="4389120"/>
            <a:ext cx="196596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966960" y="4389120"/>
            <a:ext cx="17830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6A34A"/>
                </a:solidFill>
                <a:latin typeface="Microsoft JhengHei"/>
              </a:rPr>
              <a:t>✓ 100% (v0.12 新增 schema)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4800600"/>
            <a:ext cx="274320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4800600"/>
            <a:ext cx="2560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C7293"/>
                </a:solidFill>
                <a:latin typeface="Microsoft JhengHei"/>
              </a:rPr>
              <a:t>§A.8 SEA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108960" y="4800600"/>
            <a:ext cx="10972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00400" y="4800600"/>
            <a:ext cx="914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r47-51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06240" y="4800600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97679" y="4800600"/>
            <a:ext cx="45719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Microsoft JhengHei"/>
              </a:rPr>
              <a:t>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846320" y="4800600"/>
            <a:ext cx="502920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937759" y="4800600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Per person hr/day · /wk · Multiplier 1 · Multiplier 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875520" y="4800600"/>
            <a:ext cx="196596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66960" y="4800600"/>
            <a:ext cx="17830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✓ 100%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5212080"/>
            <a:ext cx="274320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57200" y="5212080"/>
            <a:ext cx="2560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C7293"/>
                </a:solidFill>
                <a:latin typeface="Microsoft JhengHei"/>
              </a:rPr>
              <a:t>§A.9 DL Wage Calc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108960" y="5212080"/>
            <a:ext cx="109728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00400" y="5212080"/>
            <a:ext cx="914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r53-56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06240" y="5212080"/>
            <a:ext cx="64008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297679" y="5212080"/>
            <a:ext cx="45719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Microsoft JhengHei"/>
              </a:rPr>
              <a:t>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846320" y="5212080"/>
            <a:ext cx="502920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937759" y="5212080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DL wage/hr($4.95 廠級單一)· Total IDL $/wk · Total DL $/wk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875520" y="5212080"/>
            <a:ext cx="1965960" cy="39319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966960" y="5212080"/>
            <a:ext cx="17830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6A34A"/>
                </a:solidFill>
                <a:latin typeface="Microsoft JhengHei"/>
              </a:rPr>
              <a:t>✓ 100% (v0.12 回歸 Excel)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65760" y="5623560"/>
            <a:ext cx="274320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7200" y="5623560"/>
            <a:ext cx="2560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C7293"/>
                </a:solidFill>
                <a:latin typeface="Microsoft JhengHei"/>
              </a:rPr>
              <a:t>§A.10 Cost per Unit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108960" y="5623560"/>
            <a:ext cx="10972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200400" y="5623560"/>
            <a:ext cx="914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r57-58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623560"/>
            <a:ext cx="6400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297679" y="5623560"/>
            <a:ext cx="45719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Microsoft JhengHei"/>
              </a:rPr>
              <a:t>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846320" y="5623560"/>
            <a:ext cx="502920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937759" y="5623560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DL final cost per unit · per 製程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875520" y="5623560"/>
            <a:ext cx="196596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966960" y="5623560"/>
            <a:ext cx="17830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✓ 100%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576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Microsoft JhengHei"/>
              </a:rPr>
              <a:t>👉 Total 55 行 substantive cells × 9 製程 ≈ 500 個 cell · v0.12 覆蓋率從 v0.11 的 50% 提升到 100%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v4 · Excel 完整對齊版 · 對齊 v0.12 demo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👷 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DL 4 category 結構 · 對齊 Excel r28-31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廢除 7 工種 · 回歸 Excel 真實 4 種 DL 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669280" cy="4937760"/>
          </a:xfrm>
          <a:prstGeom prst="roundRect">
            <a:avLst>
              <a:gd name="adj" fmla="val 3000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669280" cy="365760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❌ v0.11 (廢除)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3949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Consolas"/>
              </a:rPr>
              <a:t>v0.11 引入 7 種 DL 工種 · 各自 hourly_rate:
  OP_GENERAL     $4.95
  OP_DEBUG       $8.50
  OP_FUNCT       $12.00
  OP_CLEANROOM   $6.50
  OP_MOLD        $5.50
  OP_TEST        $7.00
  OP_AUTO_MON    $6.00
問題:
  ✗ Excel 真實是 4 category 統一 wage
  ✗ 偏離 EPM 既有 Cleansheet 工作流
  ✗ 違反 Excel r54 設計
    「Wage per hour per person (DL)」單一 wage
  ✗ user 質疑 — 「dl 費率只是其中一小部分」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623560" cy="4937760"/>
          </a:xfrm>
          <a:prstGeom prst="roundRect">
            <a:avLst>
              <a:gd name="adj" fmla="val 3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623560" cy="365760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✓ v0.12 (回歸 Excel)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53492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Consolas"/>
              </a:rPr>
              <a:t>4 個 DL category · 廠級單一 wage($4.95)
對應 Cleansheet r28-31:
  r28  DL per line per shift           (一般直接人力)
  r29  Debug DL per line per shift     (Debug)
  r30  Functional DL per shift         (功能測試)
  r31  ⭐ Warehouse DL                 (倉儲 · 我之前漏)
  → 全用同一 wage_per_hr_usd $4.95
  → 對應 bom_cs_case_process 4 欄
    + bom_factory_baseline.dl_wage_per_hr_usd
範例(SteelSeries SMT_MAIN):
  r28: 10 人  · r29: 0.5 · r30: 0.5 · r31: 0
範例(SteelSeries BB_ASSY):
  r28: 22.5  · r29: 0   · r30: 0.5 · r31: 0
範例(SteelSeries Material Mgmt):
  r28: 0     · r29: 0   · r30: 0   · r31: 0.5 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v4 · Excel 完整對齊版 · 對齊 v0.12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👔 IDL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IDL Line-Dep 4 角色 weekly wage · 對齊 r43-46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取代 v0.11 hardcode($280/$320/$460)· 完整加 IQC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🔧 對齊 Cleansheet r43-46 IDL Line-Dependent wage(per week)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11475720" cy="475488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554480"/>
            <a:ext cx="11475720" cy="365760"/>
          </a:xfrm>
          <a:prstGeom prst="roundRect">
            <a:avLst>
              <a:gd name="adj" fmla="val 3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🗄️ bom_factory_idl_linedep_wage(🆕 v0.12 新表)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112014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2148839"/>
            <a:ext cx="1463040" cy="68580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7627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LINE_LEADER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JhengHei"/>
              </a:rPr>
              <a:t>r43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14883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Line Leader 線長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48716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</a:rPr>
              <a:t>Cleansheet r43 · CN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240279"/>
            <a:ext cx="3886200" cy="5029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240279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6A34A"/>
                </a:solidFill>
                <a:latin typeface="Consolas"/>
              </a:rPr>
              <a:t>$403.00 / wk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71800"/>
            <a:ext cx="112014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017520"/>
            <a:ext cx="1463040" cy="685800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4495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TECHNICIAN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3832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JhengHei"/>
              </a:rPr>
              <a:t>r44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017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Technician 技術員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35584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</a:rPr>
              <a:t>Cleansheet r44 · CN baseline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3108960"/>
            <a:ext cx="3886200" cy="5029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63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310896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EA5E9"/>
                </a:solidFill>
                <a:latin typeface="Consolas"/>
              </a:rPr>
              <a:t>$436.80 / wk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840479"/>
            <a:ext cx="112014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3886199"/>
            <a:ext cx="1463040" cy="68580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913631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IQC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25195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JhengHei"/>
              </a:rPr>
              <a:t>r45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388619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⭐ IQC 來料品保(新加)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224527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</a:rPr>
              <a:t>Cleansheet r45 · CN baseline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3977639"/>
            <a:ext cx="3886200" cy="5029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3977639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DC2626"/>
                </a:solidFill>
                <a:latin typeface="Consolas"/>
              </a:rPr>
              <a:t>$403.00 / wk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709159"/>
            <a:ext cx="112014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4754879"/>
            <a:ext cx="1463040" cy="685800"/>
          </a:xfrm>
          <a:prstGeom prst="roundRect">
            <a:avLst>
              <a:gd name="adj" fmla="val 4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78231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SUPERVISOR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1206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JhengHei"/>
              </a:rPr>
              <a:t>r46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475487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Supervisor 主任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093207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</a:rPr>
              <a:t>Cleansheet r46 · CN baseline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4846320"/>
            <a:ext cx="3886200" cy="5029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63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0" y="484632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CA8A04"/>
                </a:solidFill>
                <a:latin typeface="Consolas"/>
              </a:rPr>
              <a:t>$403.00 / wk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v4 · Excel 完整對齊版 · 對齊 v0.12 demo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🗄️ 案級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案級補 4 個新欄位 · 對齊 Excel r31 + r37-39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bom_cs_case_process 新增 warehouse_dl + per_day ×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📋 bom_cs_case_process 案級 schema 變動(v0.11 → v0.12)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11475720" cy="475488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554480"/>
            <a:ext cx="11475720" cy="365760"/>
          </a:xfrm>
          <a:prstGeom prst="roundRect">
            <a:avLst>
              <a:gd name="adj" fmla="val 3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🆕 ALTER TABLE bom_cs_case_process — 補 4 個案級欄位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1124712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Consolas"/>
              </a:rPr>
              <a:t>ALTER TABLE bom_cs_case_process
  -- 🆕 v0.12 補 r31 Warehouse DL(我之前完全漏 · Material Mgmt 製程用 0.5)
  ADD warehouse_dl_per_shift  NUMBER(5,2) DEFAULT 0,
  -- 🆕 v0.12 補 r37 / r38 IDL Line-Indep Per Day(跟 Per Shift 是兩種獨立 count)
  ADD line_leader_per_day     NUMBER(5,2) DEFAULT 0,
  ADD technician_per_day      NUMBER(5,2) DEFAULT 0,
  -- 🆕 v0.12 補 r39 IQC Per Day(v0.11 之前完全沒有此角色)
  ADD iqc_per_day             NUMBER(5,2) DEFAULT 0;
-- 既有欄位(維持 · v0.10 對齊 Excel r28-30 + r35-36 + r40)
--   dl_per_shift              -- r28
--   debug_dl_per_shift        -- r29
--   functional_dl_per_shift   -- r30
--   line_leader_per_shift     -- r35
--   technician_per_shift      -- r36
--   supervisor_per_day        -- r40
-- 範例案級數據(對應 Excel SteelSeries Rival 3+ Cleansheet · CN 廠):
SMT_MAIN:       dl=10 · debug=0.5  · funct=0.5 · ⭐warehouse=0
                ll_shift=0.5 · tech_shift=0.5 · ll_day=0.5 · tech_day=0.5 · ⭐iqc=0 · sup=0.25
WAVE_SOLDER:    dl=18 · debug=0.5  · funct=0.5 · ⭐warehouse=0
                ll_shift=0.5 · tech_shift=0.5 · ll_day=0.5 · tech_day=0.5 · ⭐iqc=0 · sup=0.25
BB_ASSY:        dl=22.5 · debug=0  · funct=0.5 · ⭐warehouse=0
                ll_shift=1   · tech_shift=1   · ll_day=1   · tech_day=1   · ⭐iqc=0 · sup=0
MAT_MGMT:       dl=0  · debug=0    · funct=0   · ⭐warehouse=0.5  ← Excel r31 真實值!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v4 · Excel 完整對齊版 · 對齊 v0.12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371600" cy="41148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📊 公式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csComputeDlSteps 公式更新 · 10 步驟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7132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wage 從 schema 取 · 完整對齊 Excel C28-C58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🧮 v0.12 csComputeDlSteps 改寫 — 10 個步驟(Excel C28-C58 完整對齊)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36576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219456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label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600200"/>
            <a:ext cx="45720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6002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公式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600200"/>
            <a:ext cx="128016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6002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Excel ref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600200"/>
            <a:ext cx="306324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60020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v0.12 變更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920240"/>
            <a:ext cx="36576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1920240"/>
            <a:ext cx="2194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Microsoft JhengHe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1920240"/>
            <a:ext cx="219456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1920240"/>
            <a:ext cx="204825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UPH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1920240"/>
            <a:ext cx="457200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1920240"/>
            <a:ext cx="44256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3600 / TAKT × Yield × Eff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1920240"/>
            <a:ext cx="128016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1" y="1920240"/>
            <a:ext cx="11338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C14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1920240"/>
            <a:ext cx="306324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1392" y="1920240"/>
            <a:ext cx="291693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不變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359152"/>
            <a:ext cx="3657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2359152"/>
            <a:ext cx="2194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Microsoft JhengHe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359152"/>
            <a:ext cx="21945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2359152"/>
            <a:ext cx="204825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Max output / line / wk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2359152"/>
            <a:ext cx="45720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9232" y="2359152"/>
            <a:ext cx="44256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Working hr/wk × UPH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2359152"/>
            <a:ext cx="12801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71231" y="2359152"/>
            <a:ext cx="11338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C21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2359152"/>
            <a:ext cx="3063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51392" y="2359152"/>
            <a:ext cx="291693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不變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798064"/>
            <a:ext cx="36576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2798064"/>
            <a:ext cx="2194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Microsoft JhengHei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2798064"/>
            <a:ext cx="219456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2798064"/>
            <a:ext cx="204825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Demand (max/wk)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2798064"/>
            <a:ext cx="457200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9232" y="2798064"/>
            <a:ext cx="44256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Annual / 50 × 1.2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2798064"/>
            <a:ext cx="128016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71231" y="2798064"/>
            <a:ext cx="11338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C18-20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78240" y="2798064"/>
            <a:ext cx="306324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51392" y="2798064"/>
            <a:ext cx="291693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不變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236976"/>
            <a:ext cx="3657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3236976"/>
            <a:ext cx="2194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Microsoft JhengHei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3236976"/>
            <a:ext cx="21945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" y="3236976"/>
            <a:ext cx="204825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Lines installed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80" y="3236976"/>
            <a:ext cx="45720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99232" y="3236976"/>
            <a:ext cx="44256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ROUNDUP(max_demand / max_output)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79" y="3236976"/>
            <a:ext cx="12801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71231" y="3236976"/>
            <a:ext cx="11338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C23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78240" y="3236976"/>
            <a:ext cx="3063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51392" y="3236976"/>
            <a:ext cx="291693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不變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675887"/>
            <a:ext cx="36576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" y="3675887"/>
            <a:ext cx="2194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Microsoft JhengHei"/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3675887"/>
            <a:ext cx="219456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2" y="3675887"/>
            <a:ext cx="204825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Weekly output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26080" y="3675887"/>
            <a:ext cx="457200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99232" y="3675887"/>
            <a:ext cx="44256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max_output × lines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98079" y="3675887"/>
            <a:ext cx="128016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71231" y="3675887"/>
            <a:ext cx="11338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C24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78240" y="3675887"/>
            <a:ext cx="306324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51392" y="3675887"/>
            <a:ext cx="291693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不變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4114800"/>
            <a:ext cx="3657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8912" y="4114800"/>
            <a:ext cx="2194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Microsoft JhengHei"/>
              </a:rPr>
              <a:t>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" y="4114800"/>
            <a:ext cx="21945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4672" y="4114800"/>
            <a:ext cx="204825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Total DL / day 🆕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926080" y="4114800"/>
            <a:ext cx="45720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99232" y="4114800"/>
            <a:ext cx="44256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Consolas"/>
              </a:rPr>
              <a:t>(DL+Debug+Functional+⭐Warehouse) × lines × shifts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98079" y="4114800"/>
            <a:ext cx="12801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71231" y="4114800"/>
            <a:ext cx="11338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Consolas"/>
              </a:rPr>
              <a:t>C32→C33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78240" y="4114800"/>
            <a:ext cx="3063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51392" y="4114800"/>
            <a:ext cx="291693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C2626"/>
                </a:solidFill>
                <a:latin typeface="Microsoft JhengHei"/>
              </a:rPr>
              <a:t>🆕 v0.12 補 Warehouse DL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4553712"/>
            <a:ext cx="36576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8912" y="4553712"/>
            <a:ext cx="2194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Microsoft JhengHei"/>
              </a:rPr>
              <a:t>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4553712"/>
            <a:ext cx="219456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4672" y="4553712"/>
            <a:ext cx="204825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Multiplier 1+2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26080" y="4553712"/>
            <a:ext cx="457200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999232" y="4553712"/>
            <a:ext cx="44256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mult1=(Whr/2×6)/SEA_wk · mult2=(SEA_day×Wday)/SEA_wk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98079" y="4553712"/>
            <a:ext cx="128016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71231" y="4553712"/>
            <a:ext cx="11338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C50, C51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553712"/>
            <a:ext cx="306324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51392" y="4553712"/>
            <a:ext cx="291693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不變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4992624"/>
            <a:ext cx="3657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38912" y="4992624"/>
            <a:ext cx="2194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Microsoft JhengHei"/>
              </a:rPr>
              <a:t>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1520" y="4992624"/>
            <a:ext cx="21945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4672" y="4992624"/>
            <a:ext cx="204825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DL cost / week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26080" y="4992624"/>
            <a:ext cx="45720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999232" y="4992624"/>
            <a:ext cx="44256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Consolas"/>
              </a:rPr>
              <a:t>$4.95 × SEA × Total_DL × mult1 × mult2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98079" y="4992624"/>
            <a:ext cx="12801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71231" y="4992624"/>
            <a:ext cx="11338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Consolas"/>
              </a:rPr>
              <a:t>C56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778240" y="4992624"/>
            <a:ext cx="3063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851392" y="4992624"/>
            <a:ext cx="291693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C2626"/>
                </a:solidFill>
                <a:latin typeface="Microsoft JhengHei"/>
              </a:rPr>
              <a:t>🆕 廠級單一 wage(廢 7 工種)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5431536"/>
            <a:ext cx="36576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8912" y="5431536"/>
            <a:ext cx="2194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Microsoft JhengHei"/>
              </a:rPr>
              <a:t>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5431536"/>
            <a:ext cx="219456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04672" y="5431536"/>
            <a:ext cx="204825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IDL Line-Dep $/wk 🆕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926080" y="5431536"/>
            <a:ext cx="457200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999232" y="5431536"/>
            <a:ext cx="44256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Consolas"/>
              </a:rPr>
              <a:t>Σ(role.count × role.weekly_wage) × mult2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498079" y="5431536"/>
            <a:ext cx="128016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71231" y="5431536"/>
            <a:ext cx="11338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Consolas"/>
              </a:rPr>
              <a:t>r43-46, C55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778240" y="5431536"/>
            <a:ext cx="3063240" cy="4114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851392" y="5431536"/>
            <a:ext cx="291693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C2626"/>
                </a:solidFill>
                <a:latin typeface="Microsoft JhengHei"/>
              </a:rPr>
              <a:t>🆕 wage 從 schema · 含 IQC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65760" y="5870448"/>
            <a:ext cx="3657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38912" y="5870448"/>
            <a:ext cx="2194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Microsoft JhengHei"/>
              </a:rPr>
              <a:t>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5870448"/>
            <a:ext cx="21945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04672" y="5870448"/>
            <a:ext cx="204825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DL cost / unit (FINAL)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926080" y="5870448"/>
            <a:ext cx="45720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999232" y="5870448"/>
            <a:ext cx="44256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(DL_cost_wk + IDL_line_dep_wk) / weekly_output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498079" y="5870448"/>
            <a:ext cx="12801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71231" y="5870448"/>
            <a:ext cx="11338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Consolas"/>
              </a:rPr>
              <a:t>C58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778240" y="5870448"/>
            <a:ext cx="3063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851392" y="5870448"/>
            <a:ext cx="291693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不變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v4 · Excel 完整對齊版 · 對齊 v0.12 demo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Microsoft JhengHei"/>
              </a:rPr>
              <a:t>✅ v0.11 正確設計保留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</a:rPr>
              <a:t>別誤會 — BG/權限/設備類別 / 設定 UI 都保留 · 只是 DL 部分大改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11475720" cy="77724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latin typeface="Microsoft JhengHei"/>
              </a:rPr>
              <a:t>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6245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BG/BU 隔離 baseline 切版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18488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baseline.bg_code · 同廠不同 BG 各有 baseline · 跨 BG 看不到對方數字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56231"/>
            <a:ext cx="10607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6A34A"/>
                </a:solidFill>
                <a:latin typeface="Microsoft JhengHei"/>
              </a:rPr>
              <a:t>  ↳ Q-BG1-5 拍板的設計都保留 · 無變動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67128"/>
            <a:ext cx="11475720" cy="77724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128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latin typeface="Microsoft JhengHei"/>
              </a:rP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037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權限 grant 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59736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bom_settings_admin_grant · user × scope × bg/bu/factory · 對齊既有資料權限管理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97480"/>
            <a:ext cx="10607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6A34A"/>
                </a:solidFill>
                <a:latin typeface="Microsoft JhengHei"/>
              </a:rPr>
              <a:t>  ↳ Q-PERM1-3 拍板的設計都保留 · 無變動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008376"/>
            <a:ext cx="11475720" cy="77724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540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latin typeface="Microsoft JhengHei"/>
              </a:rPr>
              <a:t>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44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設備類別取代實體設備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00984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bom_equip_category_catalog 26 類 / BG × bom_cs_case_equip_category 案級 binding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38728"/>
            <a:ext cx="10607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6A34A"/>
                </a:solidFill>
                <a:latin typeface="Microsoft JhengHei"/>
              </a:rPr>
              <a:t>  ↳ Q-FIX1-7 拍板的設計都保留 · 26 類 + 3 wearable 跟 v0.11 一樣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849624"/>
            <a:ext cx="11475720" cy="77724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9534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latin typeface="Microsoft JhengHei"/>
              </a:rPr>
              <a:t>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8862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設定 master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42232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7 個 sub-tab · 廠 baseline / 類別 catalog / 類別單價 / DL wage 🆕 / IDL Line-Dep wage 🆕 / IDL Centralized / 耗材 / 權限 grant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379976"/>
            <a:ext cx="10607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6A34A"/>
                </a:solidFill>
                <a:latin typeface="Microsoft JhengHei"/>
              </a:rPr>
              <a:t>  ↳ 原 "DL 角色費率" sub-tab 改名為 "DL 廠級單一 wage" + 新增 "IDL Line-Dep wage"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690872"/>
            <a:ext cx="11475720" cy="77724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7365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latin typeface="Microsoft JhengHei"/>
              </a:rP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72744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admin 跨 BG copy 類別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983480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從 OPTO BG copy 26 類到 CONSUMER BG · 加速新 BG onboarding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221224"/>
            <a:ext cx="10607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6A34A"/>
                </a:solidFill>
                <a:latin typeface="Microsoft JhengHei"/>
              </a:rPr>
              <a:t>  ↳ 保留 · 無變動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532120"/>
            <a:ext cx="11475720" cy="77724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5778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latin typeface="Microsoft JhengHei"/>
              </a:rPr>
              <a:t>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56869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案綁定 BG · SteelSeries=OPTO · WHOOP=CONSUMER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824728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projects.bg_code/bu_code 從 user 主檔帶 · case_factory 冗存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62472"/>
            <a:ext cx="10607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6A34A"/>
                </a:solidFill>
                <a:latin typeface="Microsoft JhengHei"/>
              </a:rPr>
              <a:t>  ↳ 保留 · 無變動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473952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105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Cortex MVA 操作手冊 v4 · Excel 完整對齊版 · 對齊 v0.12 demo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105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Microsoft JhengHe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JhengHei"/>
              </a:rPr>
              <a:t>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2C39A"/>
                </a:solidFill>
                <a:latin typeface="Microsoft JhengHei"/>
              </a:rPr>
              <a:t>Q&amp;A · 等待 schema migration 拍板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10972800" cy="3200400"/>
          </a:xfrm>
          <a:prstGeom prst="roundRect">
            <a:avLst>
              <a:gd name="adj" fmla="val 4000"/>
            </a:avLst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2C39A"/>
                </a:solidFill>
                <a:latin typeface="Microsoft JhengHei"/>
              </a:rPr>
              <a:t>🔗 v4 後續行動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515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JhengHei"/>
              </a:rPr>
              <a:t>• 互動 demo:Cortex_互動Demo_v0.12.html(§Cleansheet Step 1-7 全套 + Excel §A 100% 對齊)
• SD 更新:cleansheet-mva-sd v0.5(廢 bom_factory_dl_role · 新增 bom_factory_idl_linedep_wage)
• 案級 schema 補 4 欄(warehouse_dl + 3 per_day)· 1 個 ALTER + 1 個新表
• v0.11 保留設計:BG/BU 隔離 · 設備類別 · 權限 grant · 設定 master UI 全部沒變
• 兩案 BG 綁定維持:SteelSeries → OPTO · WHOOP → CONSUMER
• 我犯的錯:over-engineer DL 工種 + 漏 IQC/Warehouse DL/per Day · 已全部修正 + 認錯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</a:rPr>
              <a:t>Cortex MVA 操作手冊 v4 · Excel 完整對齊版 · 2026-06 · FOXLINK GPT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