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ang="16200000" scaled="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FOXLINK 正崴 · Cortex AI 整合平台</a:t>
            </a:r>
            <a:endParaRPr sz="1050" b="1">
              <a:solidFill>
                <a:srgbClr val="5B9BD5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Cortex 智慧報價平台</a:t>
            </a:r>
            <a:endParaRPr sz="26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接單更快 · 毛利即時透明 · 報價知識不流失</a:t>
            </a:r>
            <a:endParaRPr sz="1250" b="0">
              <a:solidFill>
                <a:srgbClr val="CBD9EE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279392" cy="25420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4279392" cy="420624"/>
          </a:xfrm>
          <a:prstGeom prst="rect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為什麼要做</a:t>
            </a:r>
            <a:endParaRPr sz="13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502920" y="1938528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8900000" scaled="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①</a:t>
            </a:r>
            <a:endParaRPr sz="11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192024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報價更快</a:t>
            </a:r>
            <a:endParaRPr sz="115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139696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報價時間從 3–4 週縮短到約 1 週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02920" y="2414016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8900000" scaled="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②</a:t>
            </a:r>
            <a:endParaRPr sz="11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" y="239572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知識留得住</a:t>
            </a:r>
            <a:endParaRPr sz="115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2688" y="261518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報價經驗系統化保存,人員異動不重來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02920" y="2889504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8900000" scaled="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③</a:t>
            </a:r>
            <a:endParaRPr sz="11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688" y="2871216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毛利看得見</a:t>
            </a:r>
            <a:endParaRPr sz="115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2688" y="3090672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議價當下即時掌握毛利變化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8900000" scaled="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④</a:t>
            </a:r>
            <a:endParaRPr sz="11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2688" y="334670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資料更安全</a:t>
            </a:r>
            <a:endParaRPr sz="115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356616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不同層級看不同價格,機密成本受控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81728" y="1371600"/>
            <a:ext cx="4187952" cy="25420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1728" y="1371600"/>
            <a:ext cx="4187952" cy="420624"/>
          </a:xfrm>
          <a:prstGeom prst="rect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帶來的效益</a:t>
            </a:r>
            <a:endParaRPr sz="13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910328" y="1920240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C99A3B"/>
              </a:gs>
              <a:gs pos="100000">
                <a:srgbClr val="E0B85A"/>
              </a:gs>
            </a:gsLst>
            <a:lin ang="16200000" scaled="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↓70%</a:t>
            </a:r>
            <a:endParaRPr sz="11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89904" y="190195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報價時間</a:t>
            </a:r>
            <a:endParaRPr sz="110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89904" y="212140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從 3–4 週縮短到 1 週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910328" y="2395728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6200000" scaled="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3 廠</a:t>
            </a:r>
            <a:endParaRPr sz="11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9904" y="237744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同步報價</a:t>
            </a:r>
            <a:endParaRPr sz="110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9904" y="2596896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台灣 / 中國 / 越南同時試算比較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910328" y="2871216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6200000" scaled="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多版本</a:t>
            </a:r>
            <a:endParaRPr sz="11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89904" y="285292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一鍵比較</a:t>
            </a:r>
            <a:endParaRPr sz="110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89904" y="3072384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不同工廠、顏色、數量一次看完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910328" y="3346704"/>
            <a:ext cx="1078992" cy="38404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6200000" scaled="0"/>
          </a:gradFill>
          <a:ln>
            <a:noFill/>
          </a:ln>
          <a:effectLst>
            <a:outerShdw blurRad="40000" dist="20000" dir="5400000" rotWithShape="0">
              <a:srgbClr val="0B2D5C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0 漏單</a:t>
            </a:r>
            <a:endParaRPr sz="11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089904" y="3328416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流程自動串接</a:t>
            </a:r>
            <a:endParaRPr sz="110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89904" y="35478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鎖定版本後自動完成後續計算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74320" y="4078224"/>
            <a:ext cx="859536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078224"/>
            <a:ext cx="8595360" cy="420624"/>
          </a:xfrm>
          <a:prstGeom prst="rect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系統怎麼運作 — 七個步驟</a:t>
            </a:r>
            <a:endParaRPr sz="13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37" name="Chevron 36"/>
          <p:cNvSpPr/>
          <p:nvPr/>
        </p:nvSpPr>
        <p:spPr>
          <a:xfrm>
            <a:off x="438912" y="4681728"/>
            <a:ext cx="1133856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6FB0E0"/>
              </a:gs>
              <a:gs pos="100000">
                <a:srgbClr val="2E78C7"/>
              </a:gs>
            </a:gsLst>
            <a:lin ang="16200000" scaled="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1</a:t>
            </a:r>
            <a:endParaRPr sz="12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建立基礎資料</a:t>
            </a:r>
            <a:endParaRPr sz="850" b="0">
              <a:solidFill>
                <a:srgbClr val="EAF2FB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38" name="Chevron 37"/>
          <p:cNvSpPr/>
          <p:nvPr/>
        </p:nvSpPr>
        <p:spPr>
          <a:xfrm>
            <a:off x="1627632" y="4681728"/>
            <a:ext cx="1133856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619FD3"/>
              </a:gs>
              <a:gs pos="100000">
                <a:srgbClr val="286BB5"/>
              </a:gs>
            </a:gsLst>
            <a:lin ang="16200000" scaled="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2</a:t>
            </a:r>
            <a:endParaRPr sz="12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每月更新</a:t>
            </a:r>
            <a:endParaRPr sz="850" b="0">
              <a:solidFill>
                <a:srgbClr val="EAF2FB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39" name="Chevron 38"/>
          <p:cNvSpPr/>
          <p:nvPr/>
        </p:nvSpPr>
        <p:spPr>
          <a:xfrm>
            <a:off x="2816352" y="4681728"/>
            <a:ext cx="1133856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548FC7"/>
              </a:gs>
              <a:gs pos="100000">
                <a:srgbClr val="225FA3"/>
              </a:gs>
            </a:gsLst>
            <a:lin ang="16200000" scaled="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3</a:t>
            </a:r>
            <a:endParaRPr sz="12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開立新案</a:t>
            </a:r>
            <a:endParaRPr sz="850" b="0">
              <a:solidFill>
                <a:srgbClr val="EAF2FB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40" name="Chevron 39"/>
          <p:cNvSpPr/>
          <p:nvPr/>
        </p:nvSpPr>
        <p:spPr>
          <a:xfrm>
            <a:off x="4005072" y="4681728"/>
            <a:ext cx="1133856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467FBB"/>
              </a:gs>
              <a:gs pos="100000">
                <a:srgbClr val="1C5291"/>
              </a:gs>
            </a:gsLst>
            <a:lin ang="16200000" scaled="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4</a:t>
            </a:r>
            <a:endParaRPr sz="12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設定條件</a:t>
            </a:r>
            <a:endParaRPr sz="850" b="0">
              <a:solidFill>
                <a:srgbClr val="EAF2FB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41" name="Chevron 40"/>
          <p:cNvSpPr/>
          <p:nvPr/>
        </p:nvSpPr>
        <p:spPr>
          <a:xfrm>
            <a:off x="5193792" y="4681728"/>
            <a:ext cx="1133856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396FAE"/>
              </a:gs>
              <a:gs pos="100000">
                <a:srgbClr val="16467F"/>
              </a:gs>
            </a:gsLst>
            <a:lin ang="16200000" scaled="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5</a:t>
            </a:r>
            <a:endParaRPr sz="12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自動試算</a:t>
            </a:r>
            <a:endParaRPr sz="850" b="0">
              <a:solidFill>
                <a:srgbClr val="EAF2FB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42" name="Chevron 41"/>
          <p:cNvSpPr/>
          <p:nvPr/>
        </p:nvSpPr>
        <p:spPr>
          <a:xfrm>
            <a:off x="6382512" y="4681728"/>
            <a:ext cx="1133856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2B5FA2"/>
              </a:gs>
              <a:gs pos="100000">
                <a:srgbClr val="10396D"/>
              </a:gs>
            </a:gsLst>
            <a:lin ang="16200000" scaled="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6</a:t>
            </a:r>
            <a:endParaRPr sz="12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鎖定版本</a:t>
            </a:r>
            <a:endParaRPr sz="850" b="0">
              <a:solidFill>
                <a:srgbClr val="EAF2FB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43" name="Chevron 42"/>
          <p:cNvSpPr/>
          <p:nvPr/>
        </p:nvSpPr>
        <p:spPr>
          <a:xfrm>
            <a:off x="7571232" y="4681728"/>
            <a:ext cx="1133856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1E4F96"/>
              </a:gs>
              <a:gs pos="100000">
                <a:srgbClr val="0B2D5C"/>
              </a:gs>
            </a:gsLst>
            <a:lin ang="16200000" scaled="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7</a:t>
            </a:r>
            <a:endParaRPr sz="1200" b="1">
              <a:solidFill>
                <a:srgbClr val="FFFFFF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AF2FB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產出報價</a:t>
            </a:r>
            <a:endParaRPr sz="850" b="0">
              <a:solidFill>
                <a:srgbClr val="EAF2FB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53218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把過去分散在個人 Excel 的報價邏輯,變成一套標準化、可重複使用的系統流程。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74320" y="5742432"/>
            <a:ext cx="4279392" cy="74980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ang="16200000" scaled="0"/>
          </a:gradFill>
          <a:ln w="9525">
            <a:solidFill>
              <a:srgbClr val="5B9BD5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870448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✓  可行性已驗證</a:t>
            </a:r>
            <a:endParaRPr sz="105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7200" y="612648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已用兩個產品範本(滑鼠、穿戴裝置)完成試算驗證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681728" y="5742432"/>
            <a:ext cx="4187952" cy="74980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ang="16200000" scaled="0"/>
          </a:gradFill>
          <a:ln w="9525">
            <a:solidFill>
              <a:srgbClr val="5B9BD5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64608" y="5870448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63D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◷  開發時程</a:t>
            </a:r>
            <a:endParaRPr sz="1050" b="1">
              <a:solidFill>
                <a:srgbClr val="16263D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64608" y="6099175"/>
            <a:ext cx="3840480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核心功能約</a:t>
            </a:r>
            <a:r>
              <a:rPr lang="en-US"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 8</a:t>
            </a: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–</a:t>
            </a:r>
            <a:r>
              <a:rPr lang="en-US"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12</a:t>
            </a:r>
            <a:r>
              <a:rPr sz="85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 週可完成,後續再擴充跨廠應用</a:t>
            </a:r>
            <a:endParaRPr sz="85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74320" y="6601968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Cortex BOM × MVA 模組  ·  v0.9 內部呈核版</a:t>
            </a:r>
            <a:endParaRPr sz="80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943600" y="660196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 panose="020F0502020204030204"/>
                <a:ea typeface="Noto Sans TC" panose="020B0200000000000000" charset="-120"/>
                <a:cs typeface="Calibri" panose="020F0502020204030204"/>
              </a:rPr>
              <a:t>2026-06</a:t>
            </a:r>
            <a:endParaRPr sz="800" b="0">
              <a:solidFill>
                <a:srgbClr val="5C6B80"/>
              </a:solidFill>
              <a:latin typeface="Calibri" panose="020F0502020204030204"/>
              <a:ea typeface="Noto Sans TC" panose="020B0200000000000000" charset="-120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WPS Presentation</Application>
  <PresentationFormat>On-screen Show (4:3)</PresentationFormat>
  <Paragraphs>95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新細明體</vt:lpstr>
      <vt:lpstr>Wingdings</vt:lpstr>
      <vt:lpstr>Arial</vt:lpstr>
      <vt:lpstr>Calibri</vt:lpstr>
      <vt:lpstr>Noto Sans TC</vt:lpstr>
      <vt:lpstr>Microsoft YaHei</vt:lpstr>
      <vt:lpstr>SimSun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rich_lai</cp:lastModifiedBy>
  <cp:revision>2</cp:revision>
  <dcterms:created xsi:type="dcterms:W3CDTF">2013-01-27T09:14:00Z</dcterms:created>
  <dcterms:modified xsi:type="dcterms:W3CDTF">2026-06-22T02:17:31Z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01E9244053454AAB93FD8034828B8B5F</vt:lpwstr>
  </property>
  <property fmtid="{D5CDD505-2E9C-101B-9397-08002B2CF9AE}" pid="3" name="KSOProductBuildVer">
    <vt:lpwstr>1028-11.8.2.11649</vt:lpwstr>
  </property>
</Properties>
</file>