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FOXLINK 正崴 · Cortex AI 整合平台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Cortex BOM × MVA 業務快接接單平台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報價週期 3-4 週 → 1 週 · 跨案重用知識資產 · Margin 即時透明 · EPM 走人不重做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35024"/>
            <a:ext cx="4215384" cy="246653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335024"/>
            <a:ext cx="4215384" cy="38404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系統設計目標 (Why)</a:t>
            </a:r>
          </a:p>
        </p:txBody>
      </p:sp>
      <p:sp>
        <p:nvSpPr>
          <p:cNvPr id="9" name="Oval 8"/>
          <p:cNvSpPr/>
          <p:nvPr/>
        </p:nvSpPr>
        <p:spPr>
          <a:xfrm>
            <a:off x="420623" y="1865376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47088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業務快接接單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3465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報價週期縮至 1 週, 同步多廠多色多批量</a:t>
            </a:r>
          </a:p>
        </p:txBody>
      </p:sp>
      <p:sp>
        <p:nvSpPr>
          <p:cNvPr id="12" name="Oval 11"/>
          <p:cNvSpPr/>
          <p:nvPr/>
        </p:nvSpPr>
        <p:spPr>
          <a:xfrm>
            <a:off x="420623" y="2312845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294557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跨案 / 跨廠重用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523157"/>
            <a:ext cx="3465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廠級 master 結構化, EPM 離職免重做 Excel</a:t>
            </a:r>
          </a:p>
        </p:txBody>
      </p:sp>
      <p:sp>
        <p:nvSpPr>
          <p:cNvPr id="15" name="Oval 14"/>
          <p:cNvSpPr/>
          <p:nvPr/>
        </p:nvSpPr>
        <p:spPr>
          <a:xfrm>
            <a:off x="420623" y="2760315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742027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Margin 即時透明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970627"/>
            <a:ext cx="3465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雙價分層架構, 議價當下立即可見真實毛利</a:t>
            </a:r>
          </a:p>
        </p:txBody>
      </p:sp>
      <p:sp>
        <p:nvSpPr>
          <p:cNvPr id="18" name="Oval 17"/>
          <p:cNvSpPr/>
          <p:nvPr/>
        </p:nvSpPr>
        <p:spPr>
          <a:xfrm>
            <a:off x="420623" y="3207785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189497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雙價 + 4 級權限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418097"/>
            <a:ext cx="3465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業務看 Quote, CFO 閱 True Cost, 嚴控機密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4296" y="1335024"/>
            <a:ext cx="4215384" cy="246653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4296" y="1335024"/>
            <a:ext cx="4215384" cy="38404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預期達成效果 (Impact)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865376"/>
            <a:ext cx="1024128" cy="420624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↓70%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1847088"/>
            <a:ext cx="2752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報價週期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2084832"/>
            <a:ext cx="2752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3-4 週降至 1 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312845"/>
            <a:ext cx="1024128" cy="420624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 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2294557"/>
            <a:ext cx="2752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同步並行 RFQ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2" y="2532301"/>
            <a:ext cx="2752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多廠同時跑 Cleansheet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760315"/>
            <a:ext cx="1024128" cy="420624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1032" y="2742027"/>
            <a:ext cx="2752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一鍵多視角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2" y="2979771"/>
            <a:ext cx="2752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廠/色/量/包裝即時分析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3207785"/>
            <a:ext cx="1024128" cy="420624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1032" y="3189497"/>
            <a:ext cx="2752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漏單防呆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2" y="3427241"/>
            <a:ext cx="2752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BOM 鎖版自動寫入平台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947863"/>
            <a:ext cx="8595360" cy="11099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20" y="3947863"/>
            <a:ext cx="8595360" cy="38404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系統運作流程 (What)</a:t>
            </a:r>
          </a:p>
        </p:txBody>
      </p:sp>
      <p:sp>
        <p:nvSpPr>
          <p:cNvPr id="37" name="Chevron 36"/>
          <p:cNvSpPr/>
          <p:nvPr/>
        </p:nvSpPr>
        <p:spPr>
          <a:xfrm>
            <a:off x="420623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6FB0E0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建置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廠 master</a:t>
            </a:r>
          </a:p>
        </p:txBody>
      </p:sp>
      <p:sp>
        <p:nvSpPr>
          <p:cNvPr id="38" name="Chevron 37"/>
          <p:cNvSpPr/>
          <p:nvPr/>
        </p:nvSpPr>
        <p:spPr>
          <a:xfrm>
            <a:off x="1614569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619FD3"/>
              </a:gs>
              <a:gs pos="100000">
                <a:srgbClr val="286BB5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月維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月度 baseline</a:t>
            </a:r>
          </a:p>
        </p:txBody>
      </p:sp>
      <p:sp>
        <p:nvSpPr>
          <p:cNvPr id="39" name="Chevron 38"/>
          <p:cNvSpPr/>
          <p:nvPr/>
        </p:nvSpPr>
        <p:spPr>
          <a:xfrm>
            <a:off x="2808514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548FC7"/>
              </a:gs>
              <a:gs pos="100000">
                <a:srgbClr val="225FA3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開案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選模板設數量</a:t>
            </a:r>
          </a:p>
        </p:txBody>
      </p:sp>
      <p:sp>
        <p:nvSpPr>
          <p:cNvPr id="40" name="Chevron 39"/>
          <p:cNvSpPr/>
          <p:nvPr/>
        </p:nvSpPr>
        <p:spPr>
          <a:xfrm>
            <a:off x="4002459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467FBB"/>
              </a:gs>
              <a:gs pos="100000">
                <a:srgbClr val="1C5291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配置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案級 9×17</a:t>
            </a:r>
          </a:p>
        </p:txBody>
      </p:sp>
      <p:sp>
        <p:nvSpPr>
          <p:cNvPr id="41" name="Chevron 40"/>
          <p:cNvSpPr/>
          <p:nvPr/>
        </p:nvSpPr>
        <p:spPr>
          <a:xfrm>
            <a:off x="5196404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396FAE"/>
              </a:gs>
              <a:gs pos="100000">
                <a:srgbClr val="16467F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運算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30 秒 compute</a:t>
            </a:r>
          </a:p>
        </p:txBody>
      </p:sp>
      <p:sp>
        <p:nvSpPr>
          <p:cNvPr id="42" name="Chevron 41"/>
          <p:cNvSpPr/>
          <p:nvPr/>
        </p:nvSpPr>
        <p:spPr>
          <a:xfrm>
            <a:off x="6390349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2B5FA2"/>
              </a:gs>
              <a:gs pos="100000">
                <a:srgbClr val="10396D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鎖定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DPM lock</a:t>
            </a:r>
          </a:p>
        </p:txBody>
      </p:sp>
      <p:sp>
        <p:nvSpPr>
          <p:cNvPr id="43" name="Chevron 42"/>
          <p:cNvSpPr/>
          <p:nvPr/>
        </p:nvSpPr>
        <p:spPr>
          <a:xfrm>
            <a:off x="7584294" y="4478215"/>
            <a:ext cx="1139081" cy="195540"/>
          </a:xfrm>
          <a:prstGeom prst="chevron">
            <a:avLst>
              <a:gd name="adj" fmla="val 16000"/>
            </a:avLst>
          </a:prstGeom>
          <a:gradFill rotWithShape="1">
            <a:gsLst>
              <a:gs pos="0">
                <a:srgbClr val="1E4F96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報價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Margin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3" y="4673756"/>
            <a:ext cx="8302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把過去分散在個人 Excel 的報價邏輯, 變成一套標準化、可重複使用的系統流程。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204108"/>
            <a:ext cx="4215384" cy="123326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" y="5405276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7" y="544185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兩大範本驗證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17340"/>
            <a:ext cx="3758184" cy="410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SteelSeries Rival 3+ Wired(9 製程)、WHOOP Gen4 MP(8 sub-BOM)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54296" y="5204108"/>
            <a:ext cx="4215384" cy="123326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82896" y="5405276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4104" y="544185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預計開發排程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896" y="5917340"/>
            <a:ext cx="3758184" cy="410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6.5 Sprint (約 5-6 週/1人)。P1-4 核心功能，P5-6 跨廠擴充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FOXLINK 內部機密文件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