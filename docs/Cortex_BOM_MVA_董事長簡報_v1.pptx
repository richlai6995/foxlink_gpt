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234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850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2C39A"/>
                </a:solidFill>
                <a:latin typeface="Microsoft JhengHei"/>
              </a:rPr>
              <a:t>FOXLINK 正崴 · Cortex AI 整合平台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</a:rPr>
              <a:t>Cortex BOM × MVA  ▏  業務快接接單平台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JhengHei"/>
              </a:rPr>
              <a:t>報價週期 3-4 週 → 1 週 ‧ 跨案重用知識資產 ‧ Margin 即時透明 ‧ EPM 走人不重做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429768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417320"/>
            <a:ext cx="4297680" cy="36576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72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🎯  系統設計目標 (Why)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業務快接接單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報價週期從 3-4 週壓到 1 週 · 同步出 6 cells 多廠多色多批量報價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505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5059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跨案 / 跨廠重用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7919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廠級 master(設備/耗材/IDL/wage)結構化 · EPM 走人不重做 1500 行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Margin 即時透明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095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True Cost / Quote Price 雙價分層 · 議價當下看到毛利浮動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112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112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雙價 + 4 級權限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3989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業務只看 Quote · 採購/CFO 看 True · 機密欄 VIEW_TRUE_COST 控管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417320"/>
            <a:ext cx="42519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1417320"/>
            <a:ext cx="4251960" cy="3657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1472184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📈  期待達成效果 (Impact)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192024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192024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↓ 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920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報價週期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1488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報價交件:3-4 週 → 1 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2450592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2450592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↑ 3 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45059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同步並行 RFQ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67919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CN / VN / TW 同時跑 Cleansheet,不再 EPM 個人 Excel 各自寫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2980944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2980944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24 cells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9809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一鍵多視角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20954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3 廠 × 2 色 × 2 批量 × 2 包裝 = 24 種報價 pivot 即看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600" y="3511296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3511296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 漏單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51129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Lock 自動 propagate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373989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BOM 鎖版 → MVA × SGA × Profit 全自動寫 fact table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297680"/>
            <a:ext cx="859536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74320" y="4297680"/>
            <a:ext cx="8595360" cy="365760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3525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🛠️  系統功能 — 端到端 7 Phase × 33 步驟 (What)</a:t>
            </a:r>
          </a:p>
        </p:txBody>
      </p:sp>
      <p:sp>
        <p:nvSpPr>
          <p:cNvPr id="45" name="Chevron 44"/>
          <p:cNvSpPr/>
          <p:nvPr/>
        </p:nvSpPr>
        <p:spPr>
          <a:xfrm>
            <a:off x="502920" y="4800600"/>
            <a:ext cx="1097280" cy="59436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8006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120640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864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74755"/>
                </a:solidFill>
                <a:latin typeface="Microsoft JhengHei"/>
              </a:rPr>
              <a:t>一次性
廠 master</a:t>
            </a:r>
          </a:p>
        </p:txBody>
      </p:sp>
      <p:sp>
        <p:nvSpPr>
          <p:cNvPr id="49" name="Chevron 48"/>
          <p:cNvSpPr/>
          <p:nvPr/>
        </p:nvSpPr>
        <p:spPr>
          <a:xfrm>
            <a:off x="1645920" y="4800600"/>
            <a:ext cx="1097280" cy="594360"/>
          </a:xfrm>
          <a:prstGeom prst="chevron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45920" y="48006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5120640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月維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54864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74755"/>
                </a:solidFill>
                <a:latin typeface="Microsoft JhengHei"/>
              </a:rPr>
              <a:t>月度
baseline</a:t>
            </a:r>
          </a:p>
        </p:txBody>
      </p:sp>
      <p:sp>
        <p:nvSpPr>
          <p:cNvPr id="53" name="Chevron 52"/>
          <p:cNvSpPr/>
          <p:nvPr/>
        </p:nvSpPr>
        <p:spPr>
          <a:xfrm>
            <a:off x="2788920" y="4800600"/>
            <a:ext cx="1097280" cy="594360"/>
          </a:xfrm>
          <a:prstGeom prst="chevron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88920" y="48006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88920" y="5120640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開案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4864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74755"/>
                </a:solidFill>
                <a:latin typeface="Microsoft JhengHei"/>
              </a:rPr>
              <a:t>選模板
設 qty/pkg</a:t>
            </a:r>
          </a:p>
        </p:txBody>
      </p:sp>
      <p:sp>
        <p:nvSpPr>
          <p:cNvPr id="57" name="Chevron 56"/>
          <p:cNvSpPr/>
          <p:nvPr/>
        </p:nvSpPr>
        <p:spPr>
          <a:xfrm>
            <a:off x="3931920" y="4800600"/>
            <a:ext cx="1097280" cy="594360"/>
          </a:xfrm>
          <a:prstGeom prst="chevron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48006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5120640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配置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54864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74755"/>
                </a:solidFill>
                <a:latin typeface="Microsoft JhengHei"/>
              </a:rPr>
              <a:t>案級
9×17 matrix</a:t>
            </a:r>
          </a:p>
        </p:txBody>
      </p:sp>
      <p:sp>
        <p:nvSpPr>
          <p:cNvPr id="61" name="Chevron 60"/>
          <p:cNvSpPr/>
          <p:nvPr/>
        </p:nvSpPr>
        <p:spPr>
          <a:xfrm>
            <a:off x="5074920" y="4800600"/>
            <a:ext cx="1097280" cy="594360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20" y="48006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5120640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54864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74755"/>
                </a:solidFill>
                <a:latin typeface="Microsoft JhengHei"/>
              </a:rPr>
              <a:t>30 秒
compute</a:t>
            </a:r>
          </a:p>
        </p:txBody>
      </p:sp>
      <p:sp>
        <p:nvSpPr>
          <p:cNvPr id="65" name="Chevron 64"/>
          <p:cNvSpPr/>
          <p:nvPr/>
        </p:nvSpPr>
        <p:spPr>
          <a:xfrm>
            <a:off x="6217920" y="4800600"/>
            <a:ext cx="1097280" cy="59436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48006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120640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54864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74755"/>
                </a:solidFill>
                <a:latin typeface="Microsoft JhengHei"/>
              </a:rPr>
              <a:t>DPM lock
propagate</a:t>
            </a:r>
          </a:p>
        </p:txBody>
      </p:sp>
      <p:sp>
        <p:nvSpPr>
          <p:cNvPr id="69" name="Chevron 68"/>
          <p:cNvSpPr/>
          <p:nvPr/>
        </p:nvSpPr>
        <p:spPr>
          <a:xfrm>
            <a:off x="7360920" y="4800600"/>
            <a:ext cx="1097280" cy="594360"/>
          </a:xfrm>
          <a:prstGeom prst="chevron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60920" y="480060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5120640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54864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74755"/>
                </a:solidFill>
                <a:latin typeface="Microsoft JhengHei"/>
              </a:rPr>
              <a:t>Margin
+ 業務 gate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5778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Microsoft JhengHei"/>
              </a:rPr>
              <a:t>⇨ 廠級 SCD Type 2 baseline ‧ 案級 24 cells fact table ‧ Excel→DB 結構化(100+ 條公式對應 · ε&lt;0.01)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5989320"/>
            <a:ext cx="4297680" cy="6858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27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60350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✓ 已用兩案範本驗證可行性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30935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🖱️ SteelSeries Rival 3+ Wired (MOUSE_STD · 9 製程) ‧ ⌚ WHOOP Gen4 MP (WEARABLE · 8 sub-BOM)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617720" y="5989320"/>
            <a:ext cx="4251960" cy="685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00600" y="6035040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A8A04"/>
                </a:solidFill>
                <a:latin typeface="Microsoft JhengHei"/>
              </a:rPr>
              <a:t>📅 開發排程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6309359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6.5 sprint ≈ 5-6 週 / 1 人 · Phase 1-4 核心 (基礎+引擎+UI+propagate) · Phase 5-6 跨廠擴充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6729984"/>
            <a:ext cx="859536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7665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Cortex BOM × MVA 模組 · v0.9 demo · 對應 cleansheet-mva-sd v0.3 + bom-collection-sd v0.4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0" y="676656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Microsoft JhengHei"/>
              </a:rPr>
              <a:t>2026-06 · 內部呈核版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