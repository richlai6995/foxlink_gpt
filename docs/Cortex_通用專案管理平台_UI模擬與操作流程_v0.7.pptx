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5" r:id="rId36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7"/>
    <p:sldId id="287" r:id="rId38"/>
    <p:sldId id="288" r:id="rId39"/>
    <p:sldId id="289" r:id="rId40"/>
  </p:sldIdLst>
  <p:notesMasterIdLst>
    <p:notesMasterId r:id="rId3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slide" Target="slides/slide15.xml"/><Relationship Id="rId16" Type="http://schemas.openxmlformats.org/officeDocument/2006/relationships/slide" Target="slides/slide16.xml"/><Relationship Id="rId17" Type="http://schemas.openxmlformats.org/officeDocument/2006/relationships/slide" Target="slides/slide17.xml"/><Relationship Id="rId18" Type="http://schemas.openxmlformats.org/officeDocument/2006/relationships/slide" Target="slides/slide18.xml"/><Relationship Id="rId19" Type="http://schemas.openxmlformats.org/officeDocument/2006/relationships/slide" Target="slides/slide19.xml"/><Relationship Id="rId20" Type="http://schemas.openxmlformats.org/officeDocument/2006/relationships/slide" Target="slides/slide20.xml"/><Relationship Id="rId21" Type="http://schemas.openxmlformats.org/officeDocument/2006/relationships/slide" Target="slides/slide21.xml"/><Relationship Id="rId22" Type="http://schemas.openxmlformats.org/officeDocument/2006/relationships/slide" Target="slides/slide22.xml"/><Relationship Id="rId23" Type="http://schemas.openxmlformats.org/officeDocument/2006/relationships/slide" Target="slides/slide23.xml"/><Relationship Id="rId24" Type="http://schemas.openxmlformats.org/officeDocument/2006/relationships/slide" Target="slides/slide24.xml"/><Relationship Id="rId25" Type="http://schemas.openxmlformats.org/officeDocument/2006/relationships/slide" Target="slides/slide25.xml"/><Relationship Id="rId26" Type="http://schemas.openxmlformats.org/officeDocument/2006/relationships/slide" Target="slides/slide26.xml"/><Relationship Id="rId27" Type="http://schemas.openxmlformats.org/officeDocument/2006/relationships/slide" Target="slides/slide27.xml"/><Relationship Id="rId28" Type="http://schemas.openxmlformats.org/officeDocument/2006/relationships/slide" Target="slides/slide28.xml"/><Relationship Id="rId29" Type="http://schemas.openxmlformats.org/officeDocument/2006/relationships/slide" Target="slides/slide29.xml"/><Relationship Id="rId30" Type="http://schemas.openxmlformats.org/officeDocument/2006/relationships/slide" Target="slides/slide30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openxmlformats.org/officeDocument/2006/relationships/slide" Target="slides/slide12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280160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3657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v0.7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616952" y="420624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OIBG-aligned · 2026-06-08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65760" y="1463040"/>
            <a:ext cx="114574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365760" y="2606040"/>
            <a:ext cx="11457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Universal Project Management 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3291840"/>
            <a:ext cx="2743200" cy="0"/>
          </a:xfrm>
          <a:prstGeom prst="line">
            <a:avLst/>
          </a:prstGeom>
          <a:noFill/>
          <a:ln w="381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65760" y="3474720"/>
            <a:ext cx="11457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CFFAF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讓接單更快 · 知識會累積 · 主管看得見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65760" y="3931920"/>
            <a:ext cx="11457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對齊 OIBG RFQ Flow · ⭐ Wizard · AI 加速 · Multi-PM · RACI · Stage Gate · v0.7 補 Variant/NRE/PKG/三廠矩陣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5212080"/>
            <a:ext cx="2658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開案 Wizard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65760" y="5715000"/>
            <a:ext cx="2658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FAF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 步驟 · 30min → 5min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298698" y="5212080"/>
            <a:ext cx="2658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加速 10 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298698" y="5715000"/>
            <a:ext cx="2658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FAF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狀態 SUMMARY 三處顯示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231636" y="5212080"/>
            <a:ext cx="2658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Multi-PM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231636" y="5715000"/>
            <a:ext cx="2658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FAF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DPM/BPM/MPM/EPM 各帶 team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64574" y="5212080"/>
            <a:ext cx="26586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RACI + Gate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64574" y="5715000"/>
            <a:ext cx="26586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CFFAF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A/R 雙角色 · 業務確認制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6576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規劃小組 · 內部簡報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§A 開場 · 一頁懂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TL;DR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一句話懂 Cortex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集中平台 · AI 加速 · 知識累積 — 三件事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3636264" cy="3840480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" y="1783080"/>
            <a:ext cx="3636264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" y="2423160"/>
            <a:ext cx="3636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🏢</a:t>
            </a:r>
            <a:endParaRPr lang="en-US" sz="6400" dirty="0"/>
          </a:p>
        </p:txBody>
      </p:sp>
      <p:sp>
        <p:nvSpPr>
          <p:cNvPr id="12" name="Text 10"/>
          <p:cNvSpPr/>
          <p:nvPr/>
        </p:nvSpPr>
        <p:spPr>
          <a:xfrm>
            <a:off x="365760" y="3474720"/>
            <a:ext cx="3636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集中平台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1280160" y="4160520"/>
            <a:ext cx="1807464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65760" y="4297680"/>
            <a:ext cx="3636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資訊不散落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" y="4709160"/>
            <a:ext cx="3636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進度透明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276344" y="1783080"/>
            <a:ext cx="3636264" cy="3840480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1905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4276344" y="1783080"/>
            <a:ext cx="3636264" cy="4572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4276344" y="2423160"/>
            <a:ext cx="3636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🤖</a:t>
            </a:r>
            <a:endParaRPr lang="en-US" sz="6400" dirty="0"/>
          </a:p>
        </p:txBody>
      </p:sp>
      <p:sp>
        <p:nvSpPr>
          <p:cNvPr id="19" name="Text 17"/>
          <p:cNvSpPr/>
          <p:nvPr/>
        </p:nvSpPr>
        <p:spPr>
          <a:xfrm>
            <a:off x="4276344" y="3474720"/>
            <a:ext cx="3636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加速</a:t>
            </a:r>
            <a:endParaRPr lang="en-US" sz="3000" dirty="0"/>
          </a:p>
        </p:txBody>
      </p:sp>
      <p:sp>
        <p:nvSpPr>
          <p:cNvPr id="20" name="Shape 18"/>
          <p:cNvSpPr/>
          <p:nvPr/>
        </p:nvSpPr>
        <p:spPr>
          <a:xfrm>
            <a:off x="5190744" y="4160520"/>
            <a:ext cx="1807464" cy="0"/>
          </a:xfrm>
          <a:prstGeom prst="line">
            <a:avLst/>
          </a:prstGeom>
          <a:noFill/>
          <a:ln w="1905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276344" y="4297680"/>
            <a:ext cx="3636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開案 5 分鐘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276344" y="4709160"/>
            <a:ext cx="3636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狀態秒看清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8186928" y="1783080"/>
            <a:ext cx="3636264" cy="3840480"/>
          </a:xfrm>
          <a:prstGeom prst="roundRect">
            <a:avLst>
              <a:gd name="adj" fmla="val 3018"/>
            </a:avLst>
          </a:prstGeom>
          <a:solidFill>
            <a:srgbClr val="FFFFFF"/>
          </a:solidFill>
          <a:ln w="1905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8186928" y="1783080"/>
            <a:ext cx="3636264" cy="457200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186928" y="2423160"/>
            <a:ext cx="3636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📚</a:t>
            </a:r>
            <a:endParaRPr lang="en-US" sz="6400" dirty="0"/>
          </a:p>
        </p:txBody>
      </p:sp>
      <p:sp>
        <p:nvSpPr>
          <p:cNvPr id="26" name="Text 24"/>
          <p:cNvSpPr/>
          <p:nvPr/>
        </p:nvSpPr>
        <p:spPr>
          <a:xfrm>
            <a:off x="8186928" y="3474720"/>
            <a:ext cx="363626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知識累積</a:t>
            </a:r>
            <a:endParaRPr lang="en-US" sz="3000" dirty="0"/>
          </a:p>
        </p:txBody>
      </p:sp>
      <p:sp>
        <p:nvSpPr>
          <p:cNvPr id="27" name="Shape 25"/>
          <p:cNvSpPr/>
          <p:nvPr/>
        </p:nvSpPr>
        <p:spPr>
          <a:xfrm>
            <a:off x="9101328" y="4160520"/>
            <a:ext cx="1807464" cy="0"/>
          </a:xfrm>
          <a:prstGeom prst="line">
            <a:avLst/>
          </a:prstGeom>
          <a:noFill/>
          <a:ln w="1905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186928" y="4297680"/>
            <a:ext cx="3636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結案進 KB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186928" y="4709160"/>
            <a:ext cx="3636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全員學習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365760" y="5943600"/>
            <a:ext cx="11457432" cy="502920"/>
          </a:xfrm>
          <a:prstGeom prst="roundRect">
            <a:avLst>
              <a:gd name="adj" fmla="val 10909"/>
            </a:avLst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65760" y="594360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不是另起新系統,是 Cortex 加一個 menu 入口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§A 開場 · 業務 5 痛點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PAIN POINTS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業務報價的 5 個痛點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這個平台一次解決這 5 件事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11457432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" y="1691640"/>
            <a:ext cx="640080" cy="64008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" y="16916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143000" y="16916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24h SLA 但資訊散落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766560" y="1691640"/>
            <a:ext cx="5056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Email / Webex / Excel / 個人電腦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11457432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65760" y="2423160"/>
            <a:ext cx="640080" cy="64008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65760" y="2423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1143000" y="242316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歷史案沒沉澱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2423160"/>
            <a:ext cx="5056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類似案來了還是要重跑一次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11457432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5760" y="3154680"/>
            <a:ext cx="640080" cy="64008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6576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143000" y="3154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主管看不到整體進度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66560" y="3154680"/>
            <a:ext cx="5056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哪個專案卡住要一個個問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886200"/>
            <a:ext cx="11457432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65760" y="3886200"/>
            <a:ext cx="640080" cy="64008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65760" y="3886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143000" y="388620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跨部門協作 15+ 角色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3886200"/>
            <a:ext cx="5056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訊息散落不同 channel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617720"/>
            <a:ext cx="11457432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65760" y="4617720"/>
            <a:ext cx="640080" cy="64008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365760" y="46177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❓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1143000" y="461772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Schedule 是 dependency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66560" y="4617720"/>
            <a:ext cx="50566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「QA+1day」Excel 算不準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5989320"/>
            <a:ext cx="11457432" cy="502920"/>
          </a:xfrm>
          <a:prstGeom prst="roundRect">
            <a:avLst>
              <a:gd name="adj" fmla="val 10909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365760" y="5989320"/>
            <a:ext cx="73152" cy="50292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36" name="Text 34"/>
          <p:cNvSpPr/>
          <p:nvPr/>
        </p:nvSpPr>
        <p:spPr>
          <a:xfrm>
            <a:off x="548640" y="606247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➡  這個平台一次解決這 5 件事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355080"/>
            <a:ext cx="11183112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開案 Wizard 解 #1 + AI 加速 10 項解 #2/#3/#4 + Dependency Gantt 解 #5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§A 開場 · 系統架構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系統架構鳥瞰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主入口 → 通用 API 層 → 5 個底層服務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737360" y="1691640"/>
            <a:ext cx="8714232" cy="594360"/>
          </a:xfrm>
          <a:prstGeom prst="roundRect">
            <a:avLst>
              <a:gd name="adj" fmla="val 12308"/>
            </a:avLst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737360" y="1691640"/>
            <a:ext cx="8714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主入口  cortex.foxlink.com.tw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37360" y="1984248"/>
            <a:ext cx="8714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FFAF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Sidebar:對話 / 技能 / 知識庫 / AI 戰情 / [專案管理] ★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4476" y="228600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65760" y="2606040"/>
            <a:ext cx="11457432" cy="1691640"/>
          </a:xfrm>
          <a:prstGeom prst="roundRect">
            <a:avLst>
              <a:gd name="adj" fmla="val 4324"/>
            </a:avLst>
          </a:prstGeom>
          <a:solidFill>
            <a:srgbClr val="CFFAF1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48640" y="2679192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1C729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通用專案 API 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18211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60120" y="30632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機密欄位處理(集中 middleware)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60236" y="318211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6688836" y="306324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流程引擎(stage + Stage Gate + SLA + dependency)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54787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60120" y="3429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 channel 戰情會議室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60236" y="354787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688836" y="342900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資料整合層(ERP / SFC / BI 視覺化 mapping)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31520" y="3913632"/>
            <a:ext cx="146304" cy="146304"/>
          </a:xfrm>
          <a:prstGeom prst="ellipse">
            <a:avLst/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960120" y="3794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AI 加速 10 項 + 開案 Wizard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60236" y="3913632"/>
            <a:ext cx="146304" cy="146304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688836" y="379476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Plugin(QUOTE / GENERAL / IT / TRAINING)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094476" y="429768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65760" y="4572000"/>
            <a:ext cx="218175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365760" y="4572000"/>
            <a:ext cx="2181758" cy="4572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365760" y="4709160"/>
            <a:ext cx="21817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65760" y="5166360"/>
            <a:ext cx="2181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projects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411480" y="5486400"/>
            <a:ext cx="20903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lifecycle + Stage Gate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684678" y="4572000"/>
            <a:ext cx="218175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2684678" y="4572000"/>
            <a:ext cx="2181758" cy="4572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2684678" y="4709160"/>
            <a:ext cx="21817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🔄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2684678" y="5166360"/>
            <a:ext cx="2181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workflow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2730398" y="5486400"/>
            <a:ext cx="20903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templates + tasks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003597" y="4572000"/>
            <a:ext cx="218175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5003597" y="4572000"/>
            <a:ext cx="2181758" cy="45720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40" name="Text 38"/>
          <p:cNvSpPr/>
          <p:nvPr/>
        </p:nvSpPr>
        <p:spPr>
          <a:xfrm>
            <a:off x="5003597" y="4709160"/>
            <a:ext cx="21817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41" name="Text 39"/>
          <p:cNvSpPr/>
          <p:nvPr/>
        </p:nvSpPr>
        <p:spPr>
          <a:xfrm>
            <a:off x="5003597" y="5166360"/>
            <a:ext cx="2181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KB 雙層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049317" y="5486400"/>
            <a:ext cx="20903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Live + 沉澱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22515" y="4572000"/>
            <a:ext cx="218175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7322515" y="4572000"/>
            <a:ext cx="2181758" cy="457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7322515" y="4709160"/>
            <a:ext cx="21817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46" name="Text 44"/>
          <p:cNvSpPr/>
          <p:nvPr/>
        </p:nvSpPr>
        <p:spPr>
          <a:xfrm>
            <a:off x="7322515" y="5166360"/>
            <a:ext cx="2181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成員/角色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7368235" y="5486400"/>
            <a:ext cx="20903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 + 4 PM · RACI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9641434" y="4572000"/>
            <a:ext cx="2181758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0284C7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9641434" y="4572000"/>
            <a:ext cx="2181758" cy="457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9641434" y="4709160"/>
            <a:ext cx="218175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🔗</a:t>
            </a:r>
            <a:endParaRPr lang="en-US" sz="2400" dirty="0"/>
          </a:p>
        </p:txBody>
      </p:sp>
      <p:sp>
        <p:nvSpPr>
          <p:cNvPr id="51" name="Text 49"/>
          <p:cNvSpPr/>
          <p:nvPr/>
        </p:nvSpPr>
        <p:spPr>
          <a:xfrm>
            <a:off x="9641434" y="5166360"/>
            <a:ext cx="21817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284C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ERP/SFC/BI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687154" y="5486400"/>
            <a:ext cx="209031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snapshot 連線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365760" y="603504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原則:90% 通用層 + 10% Plugin 特化 · 機密處理集中,不分散到各模組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§B 主畫面 · ⭐ Wizard 7 步驟概覽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開案 WIZARD · v3 NEW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 步驟 Wizard · 30min → 5min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 AI #1 / #2 / #32 / #37 · 大量 AI 預填,業務只要 confirm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71500" y="1897380"/>
            <a:ext cx="11045952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" y="1691640"/>
            <a:ext cx="411480" cy="41148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2880" y="21488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客戶來信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206752" y="1691640"/>
            <a:ext cx="411480" cy="41148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206752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23872" y="21488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歷史參考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047744" y="1691640"/>
            <a:ext cx="411480" cy="41148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047744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864864" y="21488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機密設定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888736" y="1691640"/>
            <a:ext cx="411480" cy="41148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888736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705856" y="21488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PM/Team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729728" y="1691640"/>
            <a:ext cx="411480" cy="41148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729728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46848" y="21488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流程模板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570720" y="1691640"/>
            <a:ext cx="411480" cy="41148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9570720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387840" y="21488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重要緊急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11411712" y="1691640"/>
            <a:ext cx="411480" cy="411480"/>
          </a:xfrm>
          <a:prstGeom prst="ellipse">
            <a:avLst/>
          </a:prstGeom>
          <a:solidFill>
            <a:srgbClr val="02C39A"/>
          </a:solidFill>
          <a:ln w="1905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11411712" y="1691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1228832" y="2148840"/>
            <a:ext cx="777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確認啟動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2606040"/>
            <a:ext cx="372770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502920" y="2743200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02920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2721864" y="2743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 RFQ 解析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02920" y="3108960"/>
            <a:ext cx="345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客戶來信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02920" y="3474720"/>
            <a:ext cx="3453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拖 RFQ PDF · AI 解析填表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4230624" y="2606040"/>
            <a:ext cx="372770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4367784" y="2743200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367784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586728" y="2743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 / #32 / #37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367784" y="3108960"/>
            <a:ext cx="345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歷史參考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4367784" y="3474720"/>
            <a:ext cx="3453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推薦 5 案 + PM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095488" y="2606040"/>
            <a:ext cx="372770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8232648" y="2743200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8232648" y="27432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10451592" y="274320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(rule)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8232648" y="3108960"/>
            <a:ext cx="345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機密設定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232648" y="3474720"/>
            <a:ext cx="3453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預判機密欄位並預勾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365760" y="3858768"/>
            <a:ext cx="372770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502920" y="3995928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1" name="Text 49"/>
          <p:cNvSpPr/>
          <p:nvPr/>
        </p:nvSpPr>
        <p:spPr>
          <a:xfrm>
            <a:off x="502920" y="3995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721864" y="39959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(#2 延伸)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02920" y="4361688"/>
            <a:ext cx="345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PM/Team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502920" y="4727448"/>
            <a:ext cx="3453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業務指派 DPM 主 PM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230624" y="3858768"/>
            <a:ext cx="372770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4367784" y="3995928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367784" y="3995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586728" y="39959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(template)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367784" y="4361688"/>
            <a:ext cx="345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流程模板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4367784" y="4727448"/>
            <a:ext cx="3453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套 8-stage + AI 算 dependency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8095488" y="3858768"/>
            <a:ext cx="3727704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8232648" y="3995928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63" name="Text 61"/>
          <p:cNvSpPr/>
          <p:nvPr/>
        </p:nvSpPr>
        <p:spPr>
          <a:xfrm>
            <a:off x="8232648" y="399592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451592" y="3995928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(rule)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8232648" y="4361688"/>
            <a:ext cx="345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重要緊急</a:t>
            </a:r>
            <a:endParaRPr lang="en-US" sz="1400" dirty="0"/>
          </a:p>
        </p:txBody>
      </p:sp>
      <p:sp>
        <p:nvSpPr>
          <p:cNvPr id="66" name="Text 64"/>
          <p:cNvSpPr/>
          <p:nvPr/>
        </p:nvSpPr>
        <p:spPr>
          <a:xfrm>
            <a:off x="8232648" y="4727448"/>
            <a:ext cx="3453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priority_score 矩陣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230624" y="5111496"/>
            <a:ext cx="3727704" cy="1143000"/>
          </a:xfrm>
          <a:prstGeom prst="roundRect">
            <a:avLst>
              <a:gd name="adj" fmla="val 6400"/>
            </a:avLst>
          </a:prstGeom>
          <a:solidFill>
            <a:srgbClr val="FEF3C7"/>
          </a:solidFill>
          <a:ln w="1905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4367784" y="5248656"/>
            <a:ext cx="365760" cy="274320"/>
          </a:xfrm>
          <a:prstGeom prst="roundRect">
            <a:avLst>
              <a:gd name="adj" fmla="val 13333"/>
            </a:avLst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4367784" y="5248656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6586728" y="524865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4367784" y="5614416"/>
            <a:ext cx="3453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確認啟動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4367784" y="5980176"/>
            <a:ext cx="34533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一頁預覽 + 系統自動執行</a:t>
            </a:r>
            <a:endParaRPr lang="en-US" sz="1050" dirty="0"/>
          </a:p>
        </p:txBody>
      </p:sp>
      <p:sp>
        <p:nvSpPr>
          <p:cNvPr id="73" name="Shape 71"/>
          <p:cNvSpPr/>
          <p:nvPr/>
        </p:nvSpPr>
        <p:spPr>
          <a:xfrm>
            <a:off x="365760" y="6446520"/>
            <a:ext cx="11457432" cy="365760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365760" y="6446520"/>
            <a:ext cx="11457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業務體感:30 分鐘 → 5 分鐘 · 7 步驟引導 · 新人也不會漏項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§B Wizard Step 1 · 整合 AI #1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STEP 1 /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客戶來信 · RFQ 自動解析</a:t>
            </a:r>
            <a:endParaRPr lang="en-US" sz="2400" dirty="0"/>
          </a:p>
        </p:txBody>
      </p:sp>
      <p:pic>
        <p:nvPicPr>
          <p:cNvPr id="8" name="Image 0" descr="/home/claude/screenshots/w_step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6949440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155448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1828800"/>
            <a:ext cx="4233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業務拖 PDF 進系統(左下角拖檔區)· AI 0.8 秒解析,自動填客戶/料號/數量/交期 · 右側 AI 助手 panel 顯示 #1 RFQ 解析 + 信心度 92%、抓出 5 個規格不清(電壓 / RoHS)· 業務 confirm 即可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4297680"/>
            <a:ext cx="4233672" cy="1371600"/>
          </a:xfrm>
          <a:prstGeom prst="roundRect">
            <a:avLst>
              <a:gd name="adj" fmla="val 4000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589520" y="429768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0" y="43708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 重點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4663440"/>
            <a:ext cx="3959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原業務需 34 分鐘讀 PDF 抓欄位 + 寫表單 → AI 0.8 秒抓 + 預填 70%,業務只看 + confirm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§B Wizard Step 2 · 整合 AI #2 #32 #37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STEP 2 /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歷史參考 · 推薦 PM + 交期合理性</a:t>
            </a:r>
            <a:endParaRPr lang="en-US" sz="2400" dirty="0"/>
          </a:p>
        </p:txBody>
      </p:sp>
      <p:pic>
        <p:nvPicPr>
          <p:cNvPr id="8" name="Image 0" descr="/home/claude/screenshots/w_step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6949440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155448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1828800"/>
            <a:ext cx="4233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推薦 5 個相似案(Apple USB-C 同類)· 顯示歷史結果(WIN/LOSS)· 毛利 / 廠區 / 週期 / 主 PM · 右側 AI 觀察 panel 推薦主 PM(Mike Wang 處理過 3 個 Apple USB-C)+ 預估 21 天 + 交期合理性綠燈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4297680"/>
            <a:ext cx="4233672" cy="1371600"/>
          </a:xfrm>
          <a:prstGeom prst="roundRect">
            <a:avLst>
              <a:gd name="adj" fmla="val 4000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589520" y="429768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0" y="43708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 重點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4663440"/>
            <a:ext cx="3959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 #2 歷史相似 + #32 交期合理性 + #37 主動推薦 — 開案立刻知道「有沒有歷史可參考、誰最適合接、多久會做完、客戶要的時間做不做得到」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§B Wizard Step 7 · 確認啟動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STEP 7 /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確認 + 啟動 · 系統自動建一切</a:t>
            </a:r>
            <a:endParaRPr lang="en-US" sz="2400" dirty="0"/>
          </a:p>
        </p:txBody>
      </p:sp>
      <p:pic>
        <p:nvPicPr>
          <p:cNvPr id="8" name="Image 0" descr="/home/claude/screenshots/w_step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6949440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155448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1828800"/>
            <a:ext cx="4233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一頁預覽全設定:客戶/料號/PM 三劍客/Workflow/機密旗標 · 點啟動後系統自動執行 5 件事(建 7 channels / 8 stages 任務 / 通知 / Pin 啟動公告 / 啟動 SLA 倒數)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4297680"/>
            <a:ext cx="4233672" cy="1371600"/>
          </a:xfrm>
          <a:prstGeom prst="roundRect">
            <a:avLst>
              <a:gd name="adj" fmla="val 4000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589520" y="429768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0" y="43708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 重點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4663440"/>
            <a:ext cx="3959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 confirm 後 0 動作 — 系統包辦所有 setup;從拖 RFQ 到此 step 共 5 分鐘(原本 34 分鐘)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§B 戰情會議室 · 整合 AI #21 #23 #24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WAR ROOM · MULTI-CHANNEL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戰情會議室 · Slack-like 三欄 + AI 整合</a:t>
            </a:r>
            <a:endParaRPr lang="en-US" sz="2400" dirty="0"/>
          </a:p>
        </p:txBody>
      </p:sp>
      <p:pic>
        <p:nvPicPr>
          <p:cNvPr id="8" name="Image 0" descr="/home/claude/screenshots/w_warroom_annou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6949440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155448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1828800"/>
            <a:ext cx="4233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頂部 8-stage Ribbon · 中間 3 欄(channel sidebar / 訊息流 / 任務+成員)· #announcement 頂部 Pin ⭐ AI 狀態 SUMMARY(漸層大卡 · 三段式 進度/風險/待辦)· 右欄成員依 PM Team 分組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4297680"/>
            <a:ext cx="4233672" cy="1371600"/>
          </a:xfrm>
          <a:prstGeom prst="roundRect">
            <a:avLst>
              <a:gd name="adj" fmla="val 4000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589520" y="429768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0" y="43708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 重點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4663440"/>
            <a:ext cx="3959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 AI #21 狀態 SUMMARY (核心) + #23 自動寫決策紀錄 + #24 訊息智慧排序;⭐ Pin 是 #21 狀態 SUMMARY 三處顯示之一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§B Channel 內 AI · 整合 AI #5 #26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IN-CHANNEL 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Channel 內 AI · Q&amp;A 草稿 + Bot 主動提醒</a:t>
            </a:r>
            <a:endParaRPr lang="en-US" sz="2400" dirty="0"/>
          </a:p>
        </p:txBody>
      </p:sp>
      <p:pic>
        <p:nvPicPr>
          <p:cNvPr id="8" name="Image 0" descr="/home/claude/screenshots/w_qa_a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6949440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155448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1828800"/>
            <a:ext cx="4233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#qa-customer 進入後 AI 自動產 5 個問題草稿(分析 RFQ + PRD 抓規格不清)· Q1 影響 BOM、Q3 影響 NRE 標註 · 業務點 [全選送出 → BPM] 即送客戶 · 不用 DPM 自己想要問什麼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4297680"/>
            <a:ext cx="4233672" cy="1371600"/>
          </a:xfrm>
          <a:prstGeom prst="roundRect">
            <a:avLst>
              <a:gd name="adj" fmla="val 4000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589520" y="429768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0" y="43708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 重點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4663440"/>
            <a:ext cx="3959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#5 Q&amp;A 草稿:DPM 從零想 34 分鐘 → AI 列好 5 分鐘編輯;AI #26 Bot 主動提醒:SLA 接近 + 上下文判斷,@對應 owner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§B Form · RACI + AI 建議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 · RACI + AI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 填寫 · 9 sections (v0.7 補 4 段) · RACI A/R + 每欄位 AI 建議</a:t>
            </a:r>
            <a:endParaRPr lang="en-US" sz="2400" dirty="0"/>
          </a:p>
        </p:txBody>
      </p:sp>
      <p:pic>
        <p:nvPicPr>
          <p:cNvPr id="8" name="Image 0" descr="/home/claude/screenshots/w_for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6949440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155448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1828800"/>
            <a:ext cx="4233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左欄 9 sections(客戶資料 / CMF 變體 v0.7 / BOM / 包裝 BOM v0.7 / 詢價 / NRE 成本 v0.7 / 成本核算+多廠矩陣 v0.7 / 議價 / 法務)· 版本鏈 v1→v3→v4 draft → FINAL · 機密欄位 🔒 · AI 建議按鈕在每欄位旁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4297680"/>
            <a:ext cx="4233672" cy="1371600"/>
          </a:xfrm>
          <a:prstGeom prst="roundRect">
            <a:avLst>
              <a:gd name="adj" fmla="val 4000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589520" y="429768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0" y="43708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 重點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4663440"/>
            <a:ext cx="3959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每張 form 欄位有 R / A 雙角色標記 · AI 建議 &lt; 2s · v0.7 補 4 段對齊真實案(SteelSeries Rival 3 校驗):Variant 軸 / NRE 11 項 / PKG 16 項 / CN-VN-TW 三廠矩陣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/>
      <p:sp>
        <p:nvSpPr>
          <p:cNvPr id="2" name="Text 0"/>
          <p:cNvSpPr/>
          <p:nvPr/>
        </p:nvSpPr>
        <p:spPr>
          <a:xfrm>
            <a:off x="365760" y="164592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§B Form v0.7 新能力 · 真實案校驗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0515600" y="164592"/>
            <a:ext cx="1280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34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6565392"/>
            <a:ext cx="11430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Cortex 通用專案管理平台 · v0.7 (2026-06-08) · OIBG-aligned · ⭐ Wizard + AI 加速 + v0.7 BOM 升級 + v0.7 Form 補強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365760" y="420624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v0.7 · 真實案校驗 SteelSeries Rival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713232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Form 引擎補 6 段(v0.7 加 Cleansheet + Margin) · 對齊真實 RFQ 需求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Variant 維度 · NRE 11 項 · PKG 16 項 · CN/VN/TW 三廠矩陣 — spec §11.3.5–11.3.8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149840" y="713232"/>
            <a:ext cx="1645920" cy="457200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149840" y="713232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v0.7 · 4 段新規格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755648"/>
            <a:ext cx="5532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365760" y="1755648"/>
            <a:ext cx="73152" cy="1600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48640" y="1874520"/>
            <a:ext cx="502920" cy="50292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CMF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43000" y="18745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CMF 變體 (Variant Dimension)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56632" y="1901952"/>
            <a:ext cx="713232" cy="219456"/>
          </a:xfrm>
          <a:prstGeom prst="round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56632" y="1901952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§11.3.5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43000" y="2167128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同案管理多 SKU(黑/白)— Phase 1 單軸 ≤ 5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2414016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axis_key: cmf_color → values: [Black, White]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per_variant: ME BOM / qty / material cost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shared: EE BOM / PKG / 客戶資料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UI: Variant Tab Switcher + Roll-up widget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0352" y="3044952"/>
            <a:ext cx="5202936" cy="256032"/>
          </a:xfrm>
          <a:prstGeom prst="roundRect">
            <a:avLst/>
          </a:prstGeom>
          <a:solidFill>
            <a:srgbClr val="CFFAF1"/>
          </a:solidFill>
          <a:ln w="12700">
            <a:solidFill>
              <a:srgbClr val="CFFAF1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66928" y="3044952"/>
            <a:ext cx="5129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真實案校驗 · </a:t>
            </a:r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Rival 3 · Black 80% (334K) + White 20% (84K)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63640" y="1755648"/>
            <a:ext cx="5532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6263640" y="1755648"/>
            <a:ext cx="73152" cy="1600200"/>
          </a:xfrm>
          <a:prstGeom prst="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446520" y="1874520"/>
            <a:ext cx="502920" cy="502920"/>
          </a:xfrm>
          <a:prstGeom prst="ellipse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4652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040880" y="18745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NRE Costs Section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954512" y="1901952"/>
            <a:ext cx="713232" cy="219456"/>
          </a:xfrm>
          <a:prstGeom prst="roundRect">
            <a:avLst/>
          </a:prstGeom>
          <a:solidFill>
            <a:srgbClr val="F5A524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10954512" y="1901952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§11.3.6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040880" y="2167128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QUOTE_STANDARD 預設 11 項 + 自訂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46520" y="2414016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Build / EMC / DVE / Travel / Dev+NPI / Reliability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Pkg RET / ORT / MTE Fixture / Tooling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雙欄 Original vs Negotiated · Δ% 顯示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攤提到單價(附註,不加進 unit cost)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428232" y="3044952"/>
            <a:ext cx="5202936" cy="256032"/>
          </a:xfrm>
          <a:prstGeom prst="roundRect">
            <a:avLst/>
          </a:prstGeom>
          <a:solidFill>
            <a:srgbClr val="CFFAF1"/>
          </a:solidFill>
          <a:ln w="12700">
            <a:solidFill>
              <a:srgbClr val="CFFAF1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6464808" y="3044952"/>
            <a:ext cx="5129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真實案校驗 · </a:t>
            </a:r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Rival 3 · $218.9K → $37.9K · ↓ 82.7% 議價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65760" y="3584448"/>
            <a:ext cx="5532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365760" y="3584448"/>
            <a:ext cx="73152" cy="1600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548640" y="3703320"/>
            <a:ext cx="502920" cy="50292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4864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PKG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1143000" y="37033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Packaging Sub-form (child-table)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5056632" y="3730752"/>
            <a:ext cx="713232" cy="219456"/>
          </a:xfrm>
          <a:prstGeom prst="round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5056632" y="3730752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§11.3.7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143000" y="3995928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16-項 child-table · 3 預設範本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4242816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Gift Box / Inner Pad / Seal / PE Bag / Labels / Pallet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範本:Mouse · Headset · Connector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pallet_compliance:EU EPAL / US GMA / APAC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vendor 走 §inquiry 同 master · cross-ref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30352" y="4873752"/>
            <a:ext cx="5202936" cy="256032"/>
          </a:xfrm>
          <a:prstGeom prst="roundRect">
            <a:avLst/>
          </a:prstGeom>
          <a:solidFill>
            <a:srgbClr val="CFFAF1"/>
          </a:solidFill>
          <a:ln w="12700">
            <a:solidFill>
              <a:srgbClr val="CFFAF1"/>
            </a:solidFill>
            <a:prstDash val="solid"/>
          </a:ln>
        </p:spPr>
        <p:txBody>
          <a:bodyPr/>
          <a:p/>
        </p:txBody>
      </p:sp>
      <p:sp>
        <p:nvSpPr>
          <p:cNvPr id="42" name="Text 40"/>
          <p:cNvSpPr/>
          <p:nvPr/>
        </p:nvSpPr>
        <p:spPr>
          <a:xfrm>
            <a:off x="566928" y="4873752"/>
            <a:ext cx="5129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真實案校驗 · </a:t>
            </a:r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Rival 3 · 16 項 PKG · 4 廠商 · V20 三規 pallet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63640" y="3584448"/>
            <a:ext cx="5532120" cy="1600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6263640" y="3584448"/>
            <a:ext cx="73152" cy="1600200"/>
          </a:xfrm>
          <a:prstGeom prst="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p/>
        </p:txBody>
      </p:sp>
      <p:sp>
        <p:nvSpPr>
          <p:cNvPr id="45" name="Shape 43"/>
          <p:cNvSpPr/>
          <p:nvPr/>
        </p:nvSpPr>
        <p:spPr>
          <a:xfrm>
            <a:off x="6446520" y="3703320"/>
            <a:ext cx="502920" cy="502920"/>
          </a:xfrm>
          <a:prstGeom prst="ellipse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p/>
        </p:txBody>
      </p:sp>
      <p:sp>
        <p:nvSpPr>
          <p:cNvPr id="46" name="Text 44"/>
          <p:cNvSpPr/>
          <p:nvPr/>
        </p:nvSpPr>
        <p:spPr>
          <a:xfrm>
            <a:off x="6446520" y="37033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5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MTX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7040880" y="37033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254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Multi-Factory Cost Matrix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10954512" y="3730752"/>
            <a:ext cx="713232" cy="219456"/>
          </a:xfrm>
          <a:prstGeom prst="roundRect">
            <a:avLst/>
          </a:prstGeom>
          <a:solidFill>
            <a:srgbClr val="E5484D"/>
          </a:solidFill>
          <a:ln w="12700">
            <a:solidFill>
              <a:srgbClr val="E5484D"/>
            </a:solidFill>
            <a:prstDash val="solid"/>
          </a:ln>
        </p:spPr>
        <p:txBody>
          <a:bodyPr/>
          <a:p/>
        </p:txBody>
      </p:sp>
      <p:sp>
        <p:nvSpPr>
          <p:cNvPr id="49" name="Text 47"/>
          <p:cNvSpPr/>
          <p:nvPr/>
        </p:nvSpPr>
        <p:spPr>
          <a:xfrm>
            <a:off x="10954512" y="3730752"/>
            <a:ext cx="713232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50" kern="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§11.3.8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7040880" y="3995928"/>
            <a:ext cx="4617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修正 04-29 決議:資料 P1 · AI 解讀 P2+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46520" y="4242816"/>
            <a:ext cx="5166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data_type=matrix · 廠 × PKG option 二維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預設 axes:CN / VN / TW × OptA / B / C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cells:material / prime / total_cost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33415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· AI 解讀(#14 deepening)留 Phase 2+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428232" y="4873752"/>
            <a:ext cx="5202936" cy="256032"/>
          </a:xfrm>
          <a:prstGeom prst="roundRect">
            <a:avLst/>
          </a:prstGeom>
          <a:solidFill>
            <a:srgbClr val="CFFAF1"/>
          </a:solidFill>
          <a:ln w="12700">
            <a:solidFill>
              <a:srgbClr val="CFFAF1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464808" y="4873752"/>
            <a:ext cx="512978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5A8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真實案校驗 · </a:t>
            </a:r>
            <a:pPr indent="0" marL="0">
              <a:buNone/>
            </a:pPr>
            <a:r>
              <a:rPr lang="en-US" sz="900" dirty="0">
                <a:solidFill>
                  <a:srgbClr val="1C729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Rival 3 · 9-cell heat-map · spread $1.58 · $660K/yr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65760" y="5285232"/>
            <a:ext cx="11475720" cy="1143000"/>
          </a:xfrm>
          <a:prstGeom prst="round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  <p:txBody>
          <a:bodyPr/>
          <a:p/>
        </p:txBody>
      </p:sp>
      <p:sp>
        <p:nvSpPr>
          <p:cNvPr id="55" name="Text 53"/>
          <p:cNvSpPr/>
          <p:nvPr/>
        </p:nvSpPr>
        <p:spPr>
          <a:xfrm>
            <a:off x="548640" y="5358384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80" kern="0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真實案 (SteelSeries Rival 3+ ELM5 Gen2) 校驗結論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48640" y="5650992"/>
            <a:ext cx="11155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段補強同步 spec / HTML demo / pptx · </a:t>
            </a:r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9-section form ·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15 成員 + 7 channels + 8 stages · </a:t>
            </a:r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matrix heat-map ·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NRE 議價 -82.7%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548640" y="5943600"/>
            <a:ext cx="11155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A52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 #14「三廠對比 AI 解讀」決議修正:資料矩陣 → Phase 1 必要(客戶交付物)· AI 解讀仍留 Phase 2+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548640" y="6163056"/>
            <a:ext cx="111556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FFAF1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不影響 Phase 1 預算 · 4 段補強只是把 spec 對齊真實案,Form Builder 架構 (§11.1) 已支援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§B 任務 · Dependency Gantt + AI #29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TASKS · GANTT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任務看板 + Dependency Gantt</a:t>
            </a:r>
            <a:endParaRPr lang="en-US" sz="2400" dirty="0"/>
          </a:p>
        </p:txBody>
      </p:sp>
      <p:pic>
        <p:nvPicPr>
          <p:cNvPr id="8" name="Image 0" descr="/home/claude/screenshots/w_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6949440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155448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1828800"/>
            <a:ext cx="4233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頂部 [Kanban / Gantt / EPIC 樹] toggle · Gantt 視圖顯示 dependency-based 排程(QA+1d / EE BOM+3d / EE BOM Cost+1d)· 客戶晚回 3 天 → 後續自動推遲 · 右下 AI #29 任務拆解 panel(一句話「跑越南成本」→ 4 子項)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4297680"/>
            <a:ext cx="4233672" cy="1371600"/>
          </a:xfrm>
          <a:prstGeom prst="roundRect">
            <a:avLst>
              <a:gd name="adj" fmla="val 4000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589520" y="429768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0" y="43708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 重點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4663440"/>
            <a:ext cx="3959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Dependency-based Deadline 是 OIBG flow 核心特色 · 對應 Schedule example 寫的「Schedule update (DPM, QA response+1day)」 — 系統自動算 + 連動更新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§B 儀表板 · 整合 ⭐ AI #21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CROSS-PROJECT DASHBOARD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跨專案儀表板 · 列表帶 ⭐ Status SUMMARY</a:t>
            </a:r>
            <a:endParaRPr lang="en-US" sz="2400" dirty="0"/>
          </a:p>
        </p:txBody>
      </p:sp>
      <p:pic>
        <p:nvPicPr>
          <p:cNvPr id="8" name="Image 0" descr="/home/claude/screenshots/w_proje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554480"/>
            <a:ext cx="6949440" cy="44805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89520" y="1554480"/>
            <a:ext cx="4233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說明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589520" y="1828800"/>
            <a:ext cx="42336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進系統第一眼:8 張專案卡 · 5 種 lifecycle 狀態(ACTIVE/DRAFT/PAUSED/CLOSED/REOPENED)· 機密案琥珀邊條 · 每張活躍卡帶一行 ⭐ AI 狀態 SUMMARY(cache 34 min)· 主管不點進專案就知進度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7589520" y="4297680"/>
            <a:ext cx="4233672" cy="1371600"/>
          </a:xfrm>
          <a:prstGeom prst="roundRect">
            <a:avLst>
              <a:gd name="adj" fmla="val 4000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7589520" y="4297680"/>
            <a:ext cx="73152" cy="137160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7772400" y="437083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 重點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772400" y="4663440"/>
            <a:ext cx="39593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#21 狀態 SUMMARY 三處顯示之一(此處是「專案列表行下」)· 其他兩處:#announcement Pin / Watchlist hover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§B 核心特色 · ⭐ Status SUMMARY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CORE FEATURE · #21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Status SUMMARY · 三處顯示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自動產出 + 三處同步顯示 · 主管 34 秒看完所有專案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3666744" cy="3108960"/>
          </a:xfrm>
          <a:prstGeom prst="roundRect">
            <a:avLst>
              <a:gd name="adj" fmla="val 2941"/>
            </a:avLst>
          </a:prstGeom>
          <a:solidFill>
            <a:srgbClr val="CFFAF1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" y="1691640"/>
            <a:ext cx="3666744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02920" y="1691640"/>
            <a:ext cx="3392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📢  1. #announcement Pinned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" y="246888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每天 09:00 自動 / Stage 切換 / @bot summary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3017520"/>
            <a:ext cx="3392424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94360" y="3108960"/>
            <a:ext cx="32095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"等客戶 Q&amp;A 回覆,後段 BOM 提供已 ready"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🔵 進度: Stage 3, BOM 預先做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🟡 風險: 客戶 5 天沒回, SLA 80%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🟢 待辦: BPM 主動 follow up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261104" y="1691640"/>
            <a:ext cx="3666744" cy="3108960"/>
          </a:xfrm>
          <a:prstGeom prst="roundRect">
            <a:avLst>
              <a:gd name="adj" fmla="val 2941"/>
            </a:avLst>
          </a:prstGeom>
          <a:solidFill>
            <a:srgbClr val="CFFAF1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261104" y="1691640"/>
            <a:ext cx="3666744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398264" y="1691640"/>
            <a:ext cx="3392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📋  2. 專案列表行下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98264" y="246888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每行專案下方一行灰字摘要 (cache 34 min)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98264" y="3017520"/>
            <a:ext cx="3392424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489704" y="3108960"/>
            <a:ext cx="32095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🔴 QT-2026-0143 / Apple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ⓘ 等客戶 Q&amp;A 5 天,後段 BOM 已 ready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🟡 QT-2026-0145 / Sony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ⓘ 核算階段 80%,只剩工時待填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56448" y="1691640"/>
            <a:ext cx="3666744" cy="3108960"/>
          </a:xfrm>
          <a:prstGeom prst="roundRect">
            <a:avLst>
              <a:gd name="adj" fmla="val 2941"/>
            </a:avLst>
          </a:prstGeom>
          <a:solidFill>
            <a:srgbClr val="CFFAF1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8156448" y="1691640"/>
            <a:ext cx="3666744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293608" y="1691640"/>
            <a:ext cx="33924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📊  3. 主管 Watchlist Hover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93608" y="2468880"/>
            <a:ext cx="33924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1C729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priority_score≥6 自動訂閱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8293608" y="3017520"/>
            <a:ext cx="3392424" cy="16459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8385048" y="3108960"/>
            <a:ext cx="3209544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hover QT-2026-0143: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tooltip 完整摘要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"等客戶 Q&amp;A 回覆..."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進度 / 風險 / 待辦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4983480"/>
            <a:ext cx="11457432" cy="54864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5074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觸發時機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20240" y="5074920"/>
            <a:ext cx="9720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FFAF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🕘 每天 09:00 自動產出      🔄 Stage 切換時自動更新      💬 任意 channel 手動 @bot summary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5715000"/>
            <a:ext cx="11457432" cy="777240"/>
          </a:xfrm>
          <a:prstGeom prst="roundRect">
            <a:avLst>
              <a:gd name="adj" fmla="val 7059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365760" y="5715000"/>
            <a:ext cx="73152" cy="7772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548640" y="57881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🎯  業務最有感的 AI 功能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48640" y="6080760"/>
            <a:ext cx="11183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主管 34 秒掃完所有專案 · 業務不用爬 channel 翻訊息 · 7 channel + form + tasks 全部 AI 跨來源摘要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§C 概念 · Multi-PM + RACI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CONCEPT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Multi-PM + RACI + PM Team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業務(主+助理) HOST · 4 種 PM 各帶自己 team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65676" y="169164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 w="19050">
            <a:solidFill>
              <a:srgbClr val="DC262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265676" y="1691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 Amy(主)+ Lisa(助)= HOST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94476" y="2194560"/>
            <a:ext cx="0" cy="27432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391156" y="2377440"/>
            <a:ext cx="7406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2391156" y="237744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1293876" y="251460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293876" y="2514600"/>
            <a:ext cx="2194560" cy="27432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1293876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DPM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93876" y="28072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Mike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93876" y="301752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EE/ME/RD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60036" y="237744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762756" y="251460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0284C7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762756" y="2514600"/>
            <a:ext cx="2194560" cy="274320"/>
          </a:xfrm>
          <a:prstGeom prst="rect">
            <a:avLst/>
          </a:prstGeom>
          <a:solidFill>
            <a:srgbClr val="0284C7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3762756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762756" y="28072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Tony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762756" y="301752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SMT/EPM/採購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28916" y="237744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6231636" y="251460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231636" y="2514600"/>
            <a:ext cx="2194560" cy="27432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231636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BPM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1636" y="28072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Lisa-B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31636" y="301752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客戶窗口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797796" y="2377440"/>
            <a:ext cx="0" cy="13716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8700516" y="2514600"/>
            <a:ext cx="21945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EA580C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8700516" y="2514600"/>
            <a:ext cx="2194560" cy="274320"/>
          </a:xfrm>
          <a:prstGeom prst="rect">
            <a:avLst/>
          </a:prstGeom>
          <a:solidFill>
            <a:srgbClr val="EA580C"/>
          </a:solidFill>
          <a:ln/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8700516" y="251460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EPM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8700516" y="2807208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A580C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Wei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700516" y="3017520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NPI 工程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65760" y="36576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RACI 範例(對齊 OIBG flow)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365760" y="4023360"/>
            <a:ext cx="11457432" cy="36576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438912" y="4023360"/>
            <a:ext cx="3672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項目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258056" y="4023360"/>
            <a:ext cx="224066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 · 背鍋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645021" y="4023360"/>
            <a:ext cx="510501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 · 實作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365760" y="4389120"/>
            <a:ext cx="11457432" cy="38404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365760" y="4773168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38912" y="4389120"/>
            <a:ext cx="367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BOM cost - EE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258056" y="4389120"/>
            <a:ext cx="22406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DPM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645021" y="4389120"/>
            <a:ext cx="51050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台北採購 / 工廠採購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365760" y="5157216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438912" y="4773168"/>
            <a:ext cx="367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BOM cost - PKG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258056" y="4773168"/>
            <a:ext cx="22406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84C7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MPM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645021" y="4773168"/>
            <a:ext cx="51050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工廠採購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365760" y="5157216"/>
            <a:ext cx="11457432" cy="384048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365760" y="5541264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438912" y="5157216"/>
            <a:ext cx="367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Cleansheet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258056" y="5157216"/>
            <a:ext cx="22406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DPM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645021" y="5157216"/>
            <a:ext cx="51050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SMT team / NPI EPM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65760" y="5925312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438912" y="5541264"/>
            <a:ext cx="3672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NRE - ME Tooling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258056" y="5541264"/>
            <a:ext cx="2240661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DPM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645021" y="5541264"/>
            <a:ext cx="510501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廠商 / 塑件 PM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§C 概念 · Stage Gate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17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CONCEPT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Stage Gate · 業務確認制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stage 不自動跳 · 全 task 完成 → 業務點「進入下一 stage」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53796" y="16916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53796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076956" y="1828800"/>
            <a:ext cx="365760" cy="274320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488436" y="16916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488436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ACTIVE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911596" y="1828800"/>
            <a:ext cx="365760" cy="274320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23076" y="16916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23076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READY_FOR_GATE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746236" y="1828800"/>
            <a:ext cx="365760" cy="274320"/>
          </a:xfrm>
          <a:prstGeom prst="rightArrow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157716" y="1691640"/>
            <a:ext cx="2377440" cy="548640"/>
          </a:xfrm>
          <a:prstGeom prst="roundRect">
            <a:avLst>
              <a:gd name="adj" fmla="val 10000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9157716" y="169164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1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DONE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746236" y="22860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業務點「進入下一 stage」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365760" y="260604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#announcement channel 範例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2971800"/>
            <a:ext cx="11457432" cy="2286000"/>
          </a:xfrm>
          <a:prstGeom prst="roundRect">
            <a:avLst>
              <a:gd name="adj" fmla="val 2400"/>
            </a:avLst>
          </a:prstGeom>
          <a:solidFill>
            <a:srgbClr val="FEF3C7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548640" y="3108960"/>
            <a:ext cx="11091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📌  [系統訊息]  Stage 4(BOM 提供)全部 task 完成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22960" y="3474720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 EE BOM 完成 by Lin(EE)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37673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 ME BOM 完成 by Wang(ME)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22960" y="4059936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 Tooling cost 完成 by PE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548640" y="443484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請業務或業務助理確認進入 Stage 5(並行 Collect)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4800600"/>
            <a:ext cx="3200400" cy="365760"/>
          </a:xfrm>
          <a:prstGeom prst="roundRect">
            <a:avLst>
              <a:gd name="adj" fmla="val 125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731520" y="4800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✓ 進入 Stage 5(並行)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114800" y="4800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限業務 Amy / 助理 Lisa 點擊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5852160"/>
            <a:ext cx="11457432" cy="64008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365760" y="5852160"/>
            <a:ext cx="73152" cy="640080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48640" y="592531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⚖  Stage 6 / 7 / 8 都走 gate 確認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48640" y="6217920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對齊 OIBG flow「集合會議」概念 — 業務開會確認可以進下一步;業務不在線時業務助理可代行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§C 概念 · 機密保護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CONFIDENTIALITY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機密保護 · 欄位級 + 4 種顯示策略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建立時勾欄位 · 邀請成員時個別授權 · 不同人看到不同畫面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5591556" cy="4572000"/>
          </a:xfrm>
          <a:prstGeom prst="roundRect">
            <a:avLst>
              <a:gd name="adj" fmla="val 1600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1828800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建立專案時: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148840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☑ 標記為機密專案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2468880"/>
            <a:ext cx="50429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↓ 勾選哪些欄位機密: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31520" y="28346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☑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51560" y="2834640"/>
            <a:ext cx="3305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報價金額 (amount)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85716" y="288036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635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585716" y="28803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策略: TIER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31520" y="32918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51560" y="3291840"/>
            <a:ext cx="3305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毛利率 (margin)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85716" y="333756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635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585716" y="33375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策略: TIER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7490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☑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749040"/>
            <a:ext cx="3305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成本明細 (cost_breakdown)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85716" y="379476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EF3C7"/>
          </a:solidFill>
          <a:ln w="635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585716" y="37947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策略: TIER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1520" y="4206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051560" y="4206240"/>
            <a:ext cx="3305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客戶名稱 (customer_name)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85716" y="425196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585716" y="42519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策略: ALIAS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46634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51560" y="4663440"/>
            <a:ext cx="33055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數量 (quantity)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85716" y="4709160"/>
            <a:ext cx="1188720" cy="292608"/>
          </a:xfrm>
          <a:prstGeom prst="roundRect">
            <a:avLst>
              <a:gd name="adj" fmla="val 12500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4585716" y="470916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策略: RANGE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31636" y="1691640"/>
            <a:ext cx="5591556" cy="4572000"/>
          </a:xfrm>
          <a:prstGeom prst="roundRect">
            <a:avLst>
              <a:gd name="adj" fmla="val 1600"/>
            </a:avLst>
          </a:prstGeom>
          <a:solidFill>
            <a:srgbClr val="FFFFFF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6414516" y="1828800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不同人看到不同畫面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14516" y="2194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 Amy: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14716" y="21945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報價: $ 2.143 / pcs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268712" y="21945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毛利: 16.6%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414516" y="26060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PM Mike: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14716" y="26060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報價: $ 2.143 / pcs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10268712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毛利: 16.6%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6414516" y="30175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EE John (已授權):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014716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報價: $ 2.143 / pcs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268712" y="30175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毛利: 16.6%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414516" y="3474720"/>
            <a:ext cx="5225796" cy="0"/>
          </a:xfrm>
          <a:prstGeom prst="line">
            <a:avLst/>
          </a:prstGeom>
          <a:noFill/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6414516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484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EE Lin (未授權):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014716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報價: Tier-A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9994392" y="3657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毛利: Tier-M(中)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414516" y="40690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5484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Observer: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8014716" y="4069080"/>
            <a:ext cx="37627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客戶: A001 · 數量: 100~500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414516" y="4617720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← 走 ALIAS / RANGE / TIER / MASK 4 種策略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14516" y="5074920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150" kern="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 種顯示策略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414516" y="5394960"/>
            <a:ext cx="1272159" cy="594360"/>
          </a:xfrm>
          <a:prstGeom prst="roundRect">
            <a:avLst>
              <a:gd name="adj" fmla="val 6154"/>
            </a:avLst>
          </a:prstGeom>
          <a:solidFill>
            <a:srgbClr val="CFFAF1"/>
          </a:solidFill>
          <a:ln w="635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6414516" y="5440680"/>
            <a:ext cx="1272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TIER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460236" y="5715000"/>
            <a:ext cx="11807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分級(Tier-A)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32395" y="5394960"/>
            <a:ext cx="1272159" cy="594360"/>
          </a:xfrm>
          <a:prstGeom prst="roundRect">
            <a:avLst>
              <a:gd name="adj" fmla="val 6154"/>
            </a:avLst>
          </a:prstGeom>
          <a:solidFill>
            <a:srgbClr val="CFFAF1"/>
          </a:solidFill>
          <a:ln w="635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7732395" y="5440680"/>
            <a:ext cx="1272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ALIAS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778115" y="5715000"/>
            <a:ext cx="11807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代號(A001)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9050274" y="5394960"/>
            <a:ext cx="1272159" cy="594360"/>
          </a:xfrm>
          <a:prstGeom prst="roundRect">
            <a:avLst>
              <a:gd name="adj" fmla="val 6154"/>
            </a:avLst>
          </a:prstGeom>
          <a:solidFill>
            <a:srgbClr val="CFFAF1"/>
          </a:solidFill>
          <a:ln w="635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9050274" y="5440680"/>
            <a:ext cx="1272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MASK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9095994" y="5715000"/>
            <a:ext cx="11807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打星(蘋果****)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10368153" y="5394960"/>
            <a:ext cx="1272159" cy="594360"/>
          </a:xfrm>
          <a:prstGeom prst="roundRect">
            <a:avLst>
              <a:gd name="adj" fmla="val 6154"/>
            </a:avLst>
          </a:prstGeom>
          <a:solidFill>
            <a:srgbClr val="CFFAF1"/>
          </a:solidFill>
          <a:ln w="635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10368153" y="5440680"/>
            <a:ext cx="12721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RANGE</a:t>
            </a:r>
            <a:endParaRPr lang="en-US" sz="1100" dirty="0"/>
          </a:p>
        </p:txBody>
      </p:sp>
      <p:sp>
        <p:nvSpPr>
          <p:cNvPr id="63" name="Text 61"/>
          <p:cNvSpPr/>
          <p:nvPr/>
        </p:nvSpPr>
        <p:spPr>
          <a:xfrm>
            <a:off x="10413873" y="5715000"/>
            <a:ext cx="118071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區間(100~500)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§C 概念 · 知識沉澱 + ERP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KNOWLEDGE PIPELINE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知識沉澱:Live KB + 沉澱 KB(雙層)+ ERP 整合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進行中 Live KB 即時可查 · 結案 AI 摘要 + 脫敏 → 沉澱 KB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51276" y="1691640"/>
            <a:ext cx="548640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351276" y="169164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Inbound: ERP / SFC / BI(custom_sql + 視覺化 mapping UI)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094476" y="2194560"/>
            <a:ext cx="0" cy="228600"/>
          </a:xfrm>
          <a:prstGeom prst="line">
            <a:avLst/>
          </a:prstGeom>
          <a:noFill/>
          <a:ln w="1905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80076" y="21031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↓ 拉值 + snapshot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94076" y="2468880"/>
            <a:ext cx="6400800" cy="640080"/>
          </a:xfrm>
          <a:prstGeom prst="roundRect">
            <a:avLst>
              <a:gd name="adj" fmla="val 11429"/>
            </a:avLst>
          </a:prstGeom>
          <a:solidFill>
            <a:srgbClr val="CFFAF1"/>
          </a:solidFill>
          <a:ln w="1905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894076" y="246888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Live KB (per-project) · 進行中即時可查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894076" y="276148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跨 channel 訊息 / 檔案 / 任務 / ERP 快照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57316" y="3154680"/>
            <a:ext cx="274320" cy="365760"/>
          </a:xfrm>
          <a:prstGeom prst="downArrow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277356" y="324612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結案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894076" y="3611880"/>
            <a:ext cx="6400800" cy="594360"/>
          </a:xfrm>
          <a:prstGeom prst="roundRect">
            <a:avLst>
              <a:gd name="adj" fmla="val 9231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2894076" y="3611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摘要 + 脫敏(關鍵決策 / 卡關原因 / 解法 · 客戶名→A001 金額→Tier-A)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162556" y="452628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2162556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完整版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2162556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該事業處可查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68796" y="4526280"/>
            <a:ext cx="3657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368796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脫敏版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368796" y="4937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全公司可學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5897880"/>
            <a:ext cx="11457432" cy="594360"/>
          </a:xfrm>
          <a:prstGeom prst="roundRect">
            <a:avLst>
              <a:gd name="adj" fmla="val 9231"/>
            </a:avLst>
          </a:prstGeom>
          <a:solidFill>
            <a:srgbClr val="DCFCE7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65760" y="5897880"/>
            <a:ext cx="73152" cy="59436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597103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🔍  範例 RAG 查詢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6263640"/>
            <a:ext cx="11183112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👤「USB-C 給車用客戶過去策略?」  →  🤖 找到 3 案 → 2 Win / 1 Loss,平均毛利 Tier-M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§C 概念 · 13 角色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ROLES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13 角色身份(全 admin 手動授,一人多身份)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專案身份 6 + 系統 / 工作流身份 7 = 13 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5591556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" y="1691640"/>
            <a:ext cx="5591556" cy="4572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" y="1691640"/>
            <a:ext cx="5591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專案身份(6)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project.sales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2514600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業務(發起人 + Stage Gate)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283464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project.bu_director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3063240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BU 主管(處級,multi-BU 授權)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38328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project.top_director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611880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最高層主管(全公司)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93192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project.bu_super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48640" y="4160520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BU 經管(主動 self-join)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48640" y="448056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project.hq_super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709160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HQ 經管(主動 self-join 全公司)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502920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project.pm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52257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PM(sub_role: DPM/BPM/MPM/EPM)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31636" y="1691640"/>
            <a:ext cx="5591556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6231636" y="1691640"/>
            <a:ext cx="5591556" cy="45720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6231636" y="1691640"/>
            <a:ext cx="55915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 / 工作流身份(7)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14516" y="228600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workflow.admin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14516" y="2487168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編 SYSTEM 流程模板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14516" y="2761488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workflow.bu_editor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14516" y="2962656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編 BU 流程模板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14516" y="3236976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data.connection_manager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14516" y="3438144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ERP / SFC 連線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414516" y="3712464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notification.editor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14516" y="3913632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編通知規則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414516" y="4187952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confidential.policy_editor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14516" y="438912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編機密策略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414516" y="4663440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414516" y="4864608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系統管理員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414516" y="5138928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admin.testing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414516" y="5340096"/>
            <a:ext cx="52257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測試模式 toggle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65760" y="5852160"/>
            <a:ext cx="11457432" cy="640080"/>
          </a:xfrm>
          <a:prstGeom prst="roundRect">
            <a:avLst>
              <a:gd name="adj" fmla="val 8571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365760" y="5852160"/>
            <a:ext cx="73152" cy="6400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548640" y="592531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📐  原則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48640" y="6217920"/>
            <a:ext cx="11183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 admin 手動授;一人多身份(union 權限);一般專案參與者不需預授(可跨組織邀)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§C 概念 · 整合 Cortex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21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INTEGRATION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 Cortex 既有模組(混合策略)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重做 / 保留 / 共用 / 抽出 — 4 種處理方式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783080"/>
            <a:ext cx="11457432" cy="36576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38912" y="1783080"/>
            <a:ext cx="46276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既有模組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212842" y="1783080"/>
            <a:ext cx="65371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處理方式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148840"/>
            <a:ext cx="11457432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365760" y="265176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438912" y="2148840"/>
            <a:ext cx="4627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戰情會議室 / 任務看板 / Form 引擎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212842" y="2148840"/>
            <a:ext cx="65371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✅ 重做(專案脈絡耦合強)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65760" y="315468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38912" y="2651760"/>
            <a:ext cx="4627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戰情(BI)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12842" y="2651760"/>
            <a:ext cx="65371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保留 + 可嵌入專案頁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65760" y="3154680"/>
            <a:ext cx="11457432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5760" y="365760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438912" y="3154680"/>
            <a:ext cx="4627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知識庫市集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212842" y="3154680"/>
            <a:ext cx="65371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✅ 共用,新增 projects-* 命名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65760" y="416052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438912" y="3657600"/>
            <a:ext cx="4627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技能 / ERP / MCP / 文件範本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212842" y="3657600"/>
            <a:ext cx="65371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✅ 完全共用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65760" y="4160520"/>
            <a:ext cx="11457432" cy="50292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365760" y="466344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38912" y="4160520"/>
            <a:ext cx="4627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聊天底層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12842" y="4160520"/>
            <a:ext cx="65371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✅ Phase 2 抽出 = 域內通訊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516636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438912" y="4663440"/>
            <a:ext cx="462762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教育訓練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212842" y="4663440"/>
            <a:ext cx="653719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完全獨立(P4 看雙向)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365760" y="5486400"/>
            <a:ext cx="11457432" cy="1005840"/>
          </a:xfrm>
          <a:prstGeom prst="roundRect">
            <a:avLst>
              <a:gd name="adj" fmla="val 5455"/>
            </a:avLst>
          </a:prstGeom>
          <a:solidFill>
            <a:srgbClr val="FEF3C7"/>
          </a:solidFill>
          <a:ln/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365760" y="5486400"/>
            <a:ext cx="73152" cy="1005840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548640" y="555955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🎯  機密處理集中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5852160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機密處理集中在平台層 confidentialityMiddleware · 各模組統一消費,不分散邏輯 · 因此無論哪個模組存取機密欄位,都走同一份策略表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§D ⭐ AI 加速能力一頁懂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7C3A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ACCELERATION · v0.7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加速 10 項 + ⭐ 開案 Wizard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Phase 1 末上線 · Gemini Flash 預估 USD $150-250 / 月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11457432" cy="868680"/>
          </a:xfrm>
          <a:prstGeom prst="roundRect">
            <a:avLst>
              <a:gd name="adj" fmla="val 8421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1764792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spc="150" kern="0" dirty="0">
                <a:solidFill>
                  <a:srgbClr val="FBBF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開案 7 步驟 Wizard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057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CFFAF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 #1 RFQ 解析 + #2 歷史相似 + #32 交期合理 + #37 主動推薦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286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業務拖 RFQ → AI 自動填 → 推薦 PM → 7 步驟到啟動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988552" y="1856232"/>
            <a:ext cx="2743200" cy="548640"/>
          </a:xfrm>
          <a:prstGeom prst="roundRect">
            <a:avLst>
              <a:gd name="adj" fmla="val 8333"/>
            </a:avLst>
          </a:prstGeom>
          <a:solidFill>
            <a:srgbClr val="FBBF24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88552" y="185623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30 分鐘 → 5 分鐘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203704" cy="1280160"/>
          </a:xfrm>
          <a:prstGeom prst="roundRect">
            <a:avLst>
              <a:gd name="adj" fmla="val 4286"/>
            </a:avLst>
          </a:prstGeom>
          <a:solidFill>
            <a:srgbClr val="CFFAF1"/>
          </a:solidFill>
          <a:ln w="1905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57200" y="283464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7200" y="2834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#21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57984" y="283464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⭐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2004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狀態 SUMMARY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361188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三處顯示(核心)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679192" y="2743200"/>
            <a:ext cx="220370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762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770632" y="283464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2770632" y="2834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#1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70632" y="32004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RFQ 自動解析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2770632" y="361188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拖檔填表 70%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92624" y="2743200"/>
            <a:ext cx="220370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762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5084064" y="283464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084064" y="2834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84064" y="32004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歷史相似案推薦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5084064" y="361188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推薦 PM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306056" y="2743200"/>
            <a:ext cx="220370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762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7397496" y="283464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7397496" y="2834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#5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397496" y="32004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Q&amp;A 問題草稿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7397496" y="361188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列 5-10 問題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619488" y="2743200"/>
            <a:ext cx="220370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762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9710928" y="283464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9710928" y="283464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9710928" y="32004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決策紀錄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710928" y="361188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自動 Pin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65760" y="4160520"/>
            <a:ext cx="220370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7620">
            <a:solidFill>
              <a:srgbClr val="0284C7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457200" y="425196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0284C7"/>
          </a:solidFill>
          <a:ln/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457200" y="4251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#24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461772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訊息智慧排序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457200" y="50292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@我/Decision/Blocker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2679192" y="4160520"/>
            <a:ext cx="220370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762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2770632" y="425196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48" name="Text 46"/>
          <p:cNvSpPr/>
          <p:nvPr/>
        </p:nvSpPr>
        <p:spPr>
          <a:xfrm>
            <a:off x="2770632" y="4251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#26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2770632" y="461772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Bot 主動提醒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2770632" y="50292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SLA 接近自動催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4992624" y="4160520"/>
            <a:ext cx="2203704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762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5084064" y="425196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5084064" y="4251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#29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5084064" y="461772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任務自動拆解</a:t>
            </a:r>
            <a:endParaRPr lang="en-US" sz="1150" dirty="0"/>
          </a:p>
        </p:txBody>
      </p:sp>
      <p:sp>
        <p:nvSpPr>
          <p:cNvPr id="55" name="Text 53"/>
          <p:cNvSpPr/>
          <p:nvPr/>
        </p:nvSpPr>
        <p:spPr>
          <a:xfrm>
            <a:off x="5084064" y="50292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PM 一句話 → N 子項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7306056" y="4160520"/>
            <a:ext cx="2203704" cy="1280160"/>
          </a:xfrm>
          <a:prstGeom prst="roundRect">
            <a:avLst>
              <a:gd name="adj" fmla="val 4286"/>
            </a:avLst>
          </a:prstGeom>
          <a:solidFill>
            <a:srgbClr val="FEF3C7"/>
          </a:solidFill>
          <a:ln w="762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7397496" y="425196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58" name="Text 56"/>
          <p:cNvSpPr/>
          <p:nvPr/>
        </p:nvSpPr>
        <p:spPr>
          <a:xfrm>
            <a:off x="7397496" y="4251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#32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8961120" y="4279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加分</a:t>
            </a:r>
            <a:endParaRPr lang="en-US" sz="800" dirty="0"/>
          </a:p>
        </p:txBody>
      </p:sp>
      <p:sp>
        <p:nvSpPr>
          <p:cNvPr id="60" name="Text 58"/>
          <p:cNvSpPr/>
          <p:nvPr/>
        </p:nvSpPr>
        <p:spPr>
          <a:xfrm>
            <a:off x="7397496" y="461772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交期合理性</a:t>
            </a:r>
            <a:endParaRPr lang="en-US" sz="1150" dirty="0"/>
          </a:p>
        </p:txBody>
      </p:sp>
      <p:sp>
        <p:nvSpPr>
          <p:cNvPr id="61" name="Text 59"/>
          <p:cNvSpPr/>
          <p:nvPr/>
        </p:nvSpPr>
        <p:spPr>
          <a:xfrm>
            <a:off x="7397496" y="50292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最早 / 推薦 deadline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9619488" y="4160520"/>
            <a:ext cx="2203704" cy="1280160"/>
          </a:xfrm>
          <a:prstGeom prst="roundRect">
            <a:avLst>
              <a:gd name="adj" fmla="val 4286"/>
            </a:avLst>
          </a:prstGeom>
          <a:solidFill>
            <a:srgbClr val="FEF3C7"/>
          </a:solidFill>
          <a:ln w="762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9710928" y="4251960"/>
            <a:ext cx="411480" cy="274320"/>
          </a:xfrm>
          <a:prstGeom prst="roundRect">
            <a:avLst>
              <a:gd name="adj" fmla="val 10000"/>
            </a:avLst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64" name="Text 62"/>
          <p:cNvSpPr/>
          <p:nvPr/>
        </p:nvSpPr>
        <p:spPr>
          <a:xfrm>
            <a:off x="9710928" y="4251960"/>
            <a:ext cx="411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#37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11274552" y="427939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加分</a:t>
            </a:r>
            <a:endParaRPr lang="en-US" sz="800" dirty="0"/>
          </a:p>
        </p:txBody>
      </p:sp>
      <p:sp>
        <p:nvSpPr>
          <p:cNvPr id="66" name="Text 64"/>
          <p:cNvSpPr/>
          <p:nvPr/>
        </p:nvSpPr>
        <p:spPr>
          <a:xfrm>
            <a:off x="9710928" y="461772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歷史案主動推薦</a:t>
            </a:r>
            <a:endParaRPr lang="en-US" sz="1150" dirty="0"/>
          </a:p>
        </p:txBody>
      </p:sp>
      <p:sp>
        <p:nvSpPr>
          <p:cNvPr id="67" name="Text 65"/>
          <p:cNvSpPr/>
          <p:nvPr/>
        </p:nvSpPr>
        <p:spPr>
          <a:xfrm>
            <a:off x="9710928" y="5029200"/>
            <a:ext cx="20208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機會偵測 surface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365760" y="5532120"/>
            <a:ext cx="11457432" cy="457200"/>
          </a:xfrm>
          <a:prstGeom prst="roundRect">
            <a:avLst>
              <a:gd name="adj" fmla="val 12000"/>
            </a:avLst>
          </a:prstGeom>
          <a:solidFill>
            <a:srgbClr val="FEE2E2"/>
          </a:solidFill>
          <a:ln w="6350">
            <a:solidFill>
              <a:srgbClr val="E5484D"/>
            </a:solidFill>
            <a:prstDash val="solid"/>
          </a:ln>
        </p:spPr>
        <p:txBody>
          <a:bodyPr/>
          <a:p/>
        </p:txBody>
      </p:sp>
      <p:sp>
        <p:nvSpPr>
          <p:cNvPr id="69" name="Text 67"/>
          <p:cNvSpPr/>
          <p:nvPr/>
        </p:nvSpPr>
        <p:spPr>
          <a:xfrm>
            <a:off x="548640" y="55321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E5484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已移除(12→10):</a:t>
            </a:r>
            <a:endParaRPr lang="en-US" sz="1000" dirty="0"/>
          </a:p>
        </p:txBody>
      </p:sp>
      <p:sp>
        <p:nvSpPr>
          <p:cNvPr id="70" name="Text 68"/>
          <p:cNvSpPr/>
          <p:nvPr/>
        </p:nvSpPr>
        <p:spPr>
          <a:xfrm>
            <a:off x="2377440" y="5532120"/>
            <a:ext cx="9262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E5484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#14 三廠對比 AI 解讀(僅解讀延 P2+ · 資料已補 §11.3.8)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365760" y="6080760"/>
            <a:ext cx="11457432" cy="411480"/>
          </a:xfrm>
          <a:prstGeom prst="roundRect">
            <a:avLst>
              <a:gd name="adj" fmla="val 13333"/>
            </a:avLst>
          </a:prstGeom>
          <a:solidFill>
            <a:srgbClr val="CFFAF1"/>
          </a:solidFill>
          <a:ln/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365760" y="6080760"/>
            <a:ext cx="73152" cy="41148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73" name="Text 71"/>
          <p:cNvSpPr/>
          <p:nvPr/>
        </p:nvSpPr>
        <p:spPr>
          <a:xfrm>
            <a:off x="548640" y="6153912"/>
            <a:ext cx="11183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💡  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548640" y="6446520"/>
            <a:ext cx="11183112" cy="-45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走 Gemini Flash 預估 USD $150-250 / 月 · Phase 2 / 3 已規劃 13 項深化(Cleansheet / 智慧定價 / ML 預測)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§E 對外系統交付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23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CUSTOMER INTEGRATION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對外系統交付:不直接對客戶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透過下游「客戶報價系統」· Phase 1-3 純人工傳 Excel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94276" y="178308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0A2540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494276" y="182880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本平台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94276" y="212140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FFAF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57316" y="2468880"/>
            <a:ext cx="274320" cy="320040"/>
          </a:xfrm>
          <a:prstGeom prst="downArrow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7877556" y="2514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完成單價 / Excel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94276" y="283464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CFFAF1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494276" y="288036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PM 在平台下載 Excel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494276" y="31729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完成單價 / 報價 Excel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57316" y="3520440"/>
            <a:ext cx="274320" cy="320040"/>
          </a:xfrm>
          <a:prstGeom prst="downArrow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7877556" y="35661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人工傳遞 (Phase 1-3)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494276" y="388620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FEF3C7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494276" y="393192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客戶報價系統(下游)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494276" y="42245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與客戶互動(他們做)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957316" y="4572000"/>
            <a:ext cx="274320" cy="320040"/>
          </a:xfrm>
          <a:prstGeom prst="downArrow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7877556" y="46177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客戶報價系統與客戶互動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94276" y="4937760"/>
            <a:ext cx="3200400" cy="640080"/>
          </a:xfrm>
          <a:prstGeom prst="roundRect">
            <a:avLst>
              <a:gd name="adj" fmla="val 11429"/>
            </a:avLst>
          </a:prstGeom>
          <a:solidFill>
            <a:srgbClr val="DCFCE7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4494276" y="4983480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494276" y="527608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收到報價單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5852160"/>
            <a:ext cx="11457432" cy="640080"/>
          </a:xfrm>
          <a:prstGeom prst="roundRect">
            <a:avLst>
              <a:gd name="adj" fmla="val 857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548640" y="5897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Phase 1-3: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20240" y="5897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純人工傳遞 Excel (PM 下載後手動傳)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48640" y="6126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Future: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920240" y="6126480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雙向 API 串接(待客戶報價系統提供 API)·  ❌ 不做:Email gateway / 客戶 portal / 電子簽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§E 安全分層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24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 LAYERS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安全分層 · 4 層防護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身份驗證 / ACL / 加密 / 浮水印+稽核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11457432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065A82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" y="169164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" y="169164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4200" dirty="0"/>
          </a:p>
        </p:txBody>
      </p:sp>
      <p:sp>
        <p:nvSpPr>
          <p:cNvPr id="12" name="Text 10"/>
          <p:cNvSpPr/>
          <p:nvPr/>
        </p:nvSpPr>
        <p:spPr>
          <a:xfrm>
            <a:off x="1645920" y="1828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身份驗證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2194560"/>
            <a:ext cx="9994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SSO 登入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645920" y="2441448"/>
            <a:ext cx="9994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離職自動撤權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2788920"/>
            <a:ext cx="11457432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1C7293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65760" y="278892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65760" y="278892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1645920" y="29260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權限控管 ACL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45920" y="3291840"/>
            <a:ext cx="9994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沒被邀請完全看不到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1645920" y="3538728"/>
            <a:ext cx="9994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金額欄位個別授權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65760" y="3886200"/>
            <a:ext cx="11457432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365760" y="388620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65760" y="388620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1645920" y="40233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資料加密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645920" y="4389120"/>
            <a:ext cx="9994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機密欄位 AES-256(連 DBA 看不到明文)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1645920" y="4636008"/>
            <a:ext cx="9994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Oracle TDE 表空間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4983480"/>
            <a:ext cx="11457432" cy="1005840"/>
          </a:xfrm>
          <a:prstGeom prst="round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65760" y="4983480"/>
            <a:ext cx="1097280" cy="1005840"/>
          </a:xfrm>
          <a:prstGeom prst="roundRect">
            <a:avLst>
              <a:gd name="adj" fmla="val 7273"/>
            </a:avLst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65760" y="498348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4200" dirty="0"/>
          </a:p>
        </p:txBody>
      </p:sp>
      <p:sp>
        <p:nvSpPr>
          <p:cNvPr id="30" name="Text 28"/>
          <p:cNvSpPr/>
          <p:nvPr/>
        </p:nvSpPr>
        <p:spPr>
          <a:xfrm>
            <a:off x="1645920" y="51206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浮水印 + 稽核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45920" y="5486400"/>
            <a:ext cx="9994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匯出檔案自動蓋浮水印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645920" y="5733288"/>
            <a:ext cx="999439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操作紀錄永久保留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612648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沒做:獨立網址 / 強制 2FA(內部使用,合規不要求物理隔離)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§E 上線時程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PHASING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上線時程 · 4 Phase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Phase 1 ~6 週(2-4 + AI 加速 1.5-2)· Phase 2 4-8 週 · Phase 3 8-12 週 · Phase 4 持續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11457432" cy="1097280"/>
          </a:xfrm>
          <a:prstGeom prst="roundRect">
            <a:avLst>
              <a:gd name="adj" fmla="val 6667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" y="1691640"/>
            <a:ext cx="91440" cy="1097280"/>
          </a:xfrm>
          <a:prstGeom prst="rect">
            <a:avLst/>
          </a:prstGeom>
          <a:solidFill>
            <a:srgbClr val="16A34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17830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Phase 1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~6 週(2-4 + AI 1.5-2)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178308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通用 schema + project_types  ·  Form 引擎 GUI Builder  ·  大項/小項 task + RACI + Multi-PM + Stage Gate  ·  Dependency-based deadlines  ·  多 channel 戰情會議室(含 DM)  ·  跨專案儀表板  ·  Inbound 資料整合層  ·  ⭐ 開案 7 步驟 Wizard + AI 加速 10 項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2880360"/>
            <a:ext cx="11457432" cy="1097280"/>
          </a:xfrm>
          <a:prstGeom prst="roundRect">
            <a:avLst>
              <a:gd name="adj" fmla="val 6667"/>
            </a:avLst>
          </a:prstGeom>
          <a:solidFill>
            <a:srgbClr val="FEF3C7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65760" y="2880360"/>
            <a:ext cx="91440" cy="1097280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48640" y="29718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Phase 2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3291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4-8 週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297180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super_user / Bot 整合  ·  結案 fork + KB sediment  ·  域內通訊(跨專案 channel)  ·  AI 戰情 embed  ·  AI 13 項深化(智慧定價 / Cleansheet / 主管日報)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65760" y="4069080"/>
            <a:ext cx="11457432" cy="1097280"/>
          </a:xfrm>
          <a:prstGeom prst="roundRect">
            <a:avLst>
              <a:gd name="adj" fmla="val 6667"/>
            </a:avLst>
          </a:prstGeom>
          <a:solidFill>
            <a:srgbClr val="EDE9FE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365760" y="4069080"/>
            <a:ext cx="91440" cy="109728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8640" y="4160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Phase 3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448056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8-12 週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416052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What-if / 贏單預測 / 多級簽核  ·  ML 預測警示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5257800"/>
            <a:ext cx="11457432" cy="109728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64748B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365760" y="5257800"/>
            <a:ext cx="91440" cy="1097280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48640" y="534924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Phase 4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548640" y="56692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持續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94560" y="5349240"/>
            <a:ext cx="94457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TRAINING / IT plugin  ·  客戶報價系統 API 對接  ·  長料件預警(試產轉量產)  ·  三廠成本對比 AI 解讀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§E 預期效益(量化)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26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EXPECTED IMPACT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預期效益 · 量化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143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業務效率 / 主管效率 / 知識資產 — 三類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1691640"/>
            <a:ext cx="3666744" cy="4389120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365760" y="1691640"/>
            <a:ext cx="3666744" cy="548640"/>
          </a:xfrm>
          <a:prstGeom prst="rect">
            <a:avLst/>
          </a:prstGeom>
          <a:solidFill>
            <a:srgbClr val="02C39A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65760" y="1691640"/>
            <a:ext cx="3666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業務效率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02920" y="242316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開案時間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6974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分鐘 → 5 分鐘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(Wizard)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02920" y="31546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RFQ 解析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4290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分鐘 → 5 分鐘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3657600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(#1 AI)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" y="38862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Q&amp;A 整理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41605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人想 34 分鐘 → 5 分鐘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389120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(#5 AI)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02920" y="46177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任務拆解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2920" y="48920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 分鐘 → 5 分鐘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2920" y="5120640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(#29 AI)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02920" y="534924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24h SLA 達標率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2920" y="562356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?% → 90%+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261104" y="1691640"/>
            <a:ext cx="3666744" cy="4389120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12700">
            <a:solidFill>
              <a:srgbClr val="7C3AED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4261104" y="1691640"/>
            <a:ext cx="3666744" cy="548640"/>
          </a:xfrm>
          <a:prstGeom prst="rect">
            <a:avLst/>
          </a:prstGeom>
          <a:solidFill>
            <a:srgbClr val="7C3AED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4261104" y="1691640"/>
            <a:ext cx="3666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主管效率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398264" y="242316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專案狀態檢視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398264" y="26974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不爬 channel → 34 秒看完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398264" y="2926080"/>
            <a:ext cx="33924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(SUMMARY)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398264" y="31546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跨案進度掌握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398264" y="34290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一個個問 → 燈號儀表板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398264" y="38862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異常專案發現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398264" y="41605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事後知道 → Bot 主動提醒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156448" y="1691640"/>
            <a:ext cx="3666744" cy="4389120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8156448" y="1691640"/>
            <a:ext cx="3666744" cy="548640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8156448" y="1691640"/>
            <a:ext cx="36667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知識資產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8293608" y="242316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知識保留率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293608" y="26974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靠個人 Excel → 100% 結案沉澱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293608" y="315468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新人 ramp-up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8293608" y="34290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? 個月 → 縮短 50%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293608" y="388620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跨組找回訊息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293608" y="4160520"/>
            <a:ext cx="3392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A5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翻 chat → 多 channel 直接找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§E 風險與緩解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27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RISKS &amp; MITIGATIONS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風險與緩解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783080"/>
            <a:ext cx="11457432" cy="365760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38912" y="1783080"/>
            <a:ext cx="462762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風險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212842" y="1783080"/>
            <a:ext cx="65371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15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緩解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48840"/>
            <a:ext cx="11457432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365760" y="260604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38912" y="2148840"/>
            <a:ext cx="4627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通用化稀釋報價特色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842" y="2148840"/>
            <a:ext cx="653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UI 顯著差異化(QUOTE 主題色 + 戰情會議室 + SLA banner)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06324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438912" y="2606040"/>
            <a:ext cx="4627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主入口失去 hostname 隔離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842" y="2606040"/>
            <a:ext cx="653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ACL + 加密 + 稽核補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11457432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65760" y="352044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438912" y="3063240"/>
            <a:ext cx="4627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訊息永久保留 → storage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842" y="3063240"/>
            <a:ext cx="653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Hybrid Partition + Compress Archive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438912" y="3520440"/>
            <a:ext cx="4627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 channel 一開始上手曲線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212842" y="3520440"/>
            <a:ext cx="653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QUOTE 預設 7 channels 已建好,業務不用自建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65760" y="3977640"/>
            <a:ext cx="11457432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65760" y="443484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438912" y="3977640"/>
            <a:ext cx="4627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Multi-PM + RACI 概念複雜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212842" y="3977640"/>
            <a:ext cx="653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對齊 OIBG 既有邏輯,業務本來就用這邏輯只是沒系統支援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89204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438912" y="4434840"/>
            <a:ext cx="4627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Stage Gate 阻塞流程?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12842" y="4434840"/>
            <a:ext cx="653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 + 助理一定有人在線 · admin testing 可繞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892040"/>
            <a:ext cx="11457432" cy="4572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365760" y="534924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34" name="Text 32"/>
          <p:cNvSpPr/>
          <p:nvPr/>
        </p:nvSpPr>
        <p:spPr>
          <a:xfrm>
            <a:off x="438912" y="4892040"/>
            <a:ext cx="4627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過早 ML 過擬合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12842" y="4892040"/>
            <a:ext cx="653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拆 3 層,P3 才上 ML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5806440"/>
            <a:ext cx="11457432" cy="0"/>
          </a:xfrm>
          <a:prstGeom prst="line">
            <a:avLst/>
          </a:prstGeom>
          <a:noFill/>
          <a:ln w="3175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438912" y="5349240"/>
            <a:ext cx="462762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AI Wizard 預填錯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212842" y="5349240"/>
            <a:ext cx="65371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16A34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業務 confirm 機制 + audit log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§E Phase 1 啟動 Checklist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KICKOFF CHECKLIST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Phase 1 啟動 Checklist · 主管要協助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5591556" cy="4023360"/>
          </a:xfrm>
          <a:prstGeom prst="roundRect">
            <a:avLst>
              <a:gd name="adj" fmla="val 1818"/>
            </a:avLst>
          </a:prstGeom>
          <a:solidFill>
            <a:srgbClr val="FEE2E2"/>
          </a:solidFill>
          <a:ln w="12700">
            <a:solidFill>
              <a:srgbClr val="E5484D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365760" y="1691640"/>
            <a:ext cx="5591556" cy="457200"/>
          </a:xfrm>
          <a:prstGeom prst="rect">
            <a:avLst/>
          </a:prstGeom>
          <a:solidFill>
            <a:srgbClr val="E5484D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548640" y="1691640"/>
            <a:ext cx="5225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🔴 開工前必補(主管授權)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23317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admin / top_director / bu_director 名單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業務部 / PM 部 LDAP group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組織層級(BG / BU / sub-BU)結構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48640" y="37033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Tier 邊界確認(金額 USD / 毛利率)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48640" y="41605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Pilot 候選 RFQ 案 1-2 個 + PM 陪跑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DPM/BPM/MPM/EPM 名單(對應 Multi-PM)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50749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QUOTE form 16 項 deliverable RACI 表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31636" y="1691640"/>
            <a:ext cx="5591556" cy="4023360"/>
          </a:xfrm>
          <a:prstGeom prst="roundRect">
            <a:avLst>
              <a:gd name="adj" fmla="val 1818"/>
            </a:avLst>
          </a:prstGeom>
          <a:solidFill>
            <a:srgbClr val="FEF3C7"/>
          </a:solidFill>
          <a:ln w="12700">
            <a:solidFill>
              <a:srgbClr val="F5A524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6231636" y="1691640"/>
            <a:ext cx="5591556" cy="457200"/>
          </a:xfrm>
          <a:prstGeom prst="rect">
            <a:avLst/>
          </a:prstGeom>
          <a:solidFill>
            <a:srgbClr val="F5A524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4516" y="1691640"/>
            <a:ext cx="522579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🟡 開發中補(業務 / 財務)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14516" y="23317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QUOTE form 完整欄位清單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6414516" y="27889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Tier USD 邊界(財務確認)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14516" y="32461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Notification 規則初始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14516" y="3703320"/>
            <a:ext cx="52257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☐  Dependency Schedule 範本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5760" y="5897880"/>
            <a:ext cx="11457432" cy="54864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548640" y="59893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時程: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59893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FFA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W0 收 checklist  →  W1-3 收資料  →  W4 Kickoff  →  W6 內部測試  →  W9-12 Pilot  →  W13 正式發布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A2540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65760" y="128016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§E 待主管決議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11274552" y="12801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 / 34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6583680"/>
            <a:ext cx="11457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通用專案管理平台 · v0.7 (2026-06-08) · OIBG-aligned · ⭐ Wizard + AI 加速 + v0.7 BOM 升級 + v0.7 Form 補強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65760" y="384048"/>
            <a:ext cx="11457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EXEC DECISIONS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640080"/>
            <a:ext cx="114574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待主管決議的事項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365760" y="1691640"/>
            <a:ext cx="11457432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48640" y="169164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  1.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173736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通用平台方向(取代 v0.3.5 報價特化)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80160" y="198424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一個底層服務多種專案類型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65760" y="2359152"/>
            <a:ext cx="11457432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8640" y="235915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  2.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280160" y="240487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整合到 Cortex 主入口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265176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放棄獨立 hostname / 2FA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5760" y="3026664"/>
            <a:ext cx="11457432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548640" y="3026664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  3.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80160" y="307238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全平台訊息 / 檔案 / KB 永久保留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80160" y="3319272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Storage 成本以 Hybrid Partition 控制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65760" y="3694176"/>
            <a:ext cx="11457432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48640" y="3694176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  4.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280160" y="3739896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對外不直接面向客戶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80160" y="3986784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透過客戶報價系統 · Phase 1-3 人工傳 Excel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65760" y="4361688"/>
            <a:ext cx="11457432" cy="594360"/>
          </a:xfrm>
          <a:prstGeom prst="roundRect">
            <a:avLst>
              <a:gd name="adj" fmla="val 9231"/>
            </a:avLst>
          </a:prstGeom>
          <a:solidFill>
            <a:srgbClr val="F8FAFC"/>
          </a:solidFill>
          <a:ln w="6350">
            <a:solidFill>
              <a:srgbClr val="D4DBE3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48640" y="4361688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  5.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80160" y="4407408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Phase 1 上線時程 ~6 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80160" y="4654296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開工前 1-2 週主管協助提供資料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65760" y="5029200"/>
            <a:ext cx="11457432" cy="594360"/>
          </a:xfrm>
          <a:prstGeom prst="roundRect">
            <a:avLst>
              <a:gd name="adj" fmla="val 9231"/>
            </a:avLst>
          </a:prstGeom>
          <a:solidFill>
            <a:srgbClr val="CFFAF1"/>
          </a:solidFill>
          <a:ln w="635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548640" y="5029200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  6.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280160" y="507492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對齊 OIBG RFQ flow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280160" y="5321808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Multi-PM + RACI + Stage Gate + Dependency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5696712"/>
            <a:ext cx="11457432" cy="594360"/>
          </a:xfrm>
          <a:prstGeom prst="roundRect">
            <a:avLst>
              <a:gd name="adj" fmla="val 9231"/>
            </a:avLst>
          </a:prstGeom>
          <a:solidFill>
            <a:srgbClr val="CFFAF1"/>
          </a:solidFill>
          <a:ln w="635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548640" y="5696712"/>
            <a:ext cx="640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☐  7.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280160" y="5742432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AI 加速 10 項 + 開案 Wizard 必上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80160" y="5989320"/>
            <a:ext cx="10360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業務開案 30min → 5min · 狀態檢視不爬 channel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280160"/>
            <a:ext cx="114574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感謝聆聽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365760" y="2468880"/>
            <a:ext cx="11457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2C39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722876" y="3200400"/>
            <a:ext cx="2743200" cy="0"/>
          </a:xfrm>
          <a:prstGeom prst="line">
            <a:avLst/>
          </a:prstGeom>
          <a:noFill/>
          <a:ln w="25400">
            <a:solidFill>
              <a:srgbClr val="02C39A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365760" y="3566160"/>
            <a:ext cx="11457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FFAF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⭐ Wizard 30→5min · AI 加速 10 項 · 狀態 SUMMARY · v0.7 補:Variant / NRE / PKG / 三廠矩陣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65760" y="45720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FA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docs/projects-platform-spec.md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4864608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FA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docs/oibg-rfq-flow-explained.md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5157216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FA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docs/projects-platform-slides.md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5449824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FFAF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📄  docs/projects-platform-launch-checklist.md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6400800"/>
            <a:ext cx="114574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2C39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Cortex 規劃小組 · v0.7 · 2026-06-08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§F v0.7 新能力 · Form 升級總覽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31 /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通用專案管理平台 · v0.7 (2026-06-08) · OIBG-aligned · ⭐ Wizard + AI 加速 + v0.7 BOM/Cleansheet/Margin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⭐ FORM v0.7 · 升級總覽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A2540"/>
                </a:solidFill>
                <a:latin typeface="Microsoft JhengHei"/>
              </a:rPr>
              <a:t>Form 引擎補 6 段 · v0.7 升級 vs v0.5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</a:rPr>
              <a:t>v0.5 補 4 段(Variant / NRE / PKG / 三廠矩陣)→ v0.7 加 2 段 + 3 新維度跨切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286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A34A"/>
                </a:solidFill>
                <a:latin typeface="Microsoft JhengHei"/>
              </a:rPr>
              <a:t>📋 v0.5 補的 4 段(已 ship)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97480"/>
            <a:ext cx="54864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76148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A34A"/>
                </a:solidFill>
                <a:latin typeface="Consolas"/>
              </a:rPr>
              <a:t>§11.3.5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27614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CMF 變體 (Variant)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7614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單軸 ≤ 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17296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A34A"/>
                </a:solidFill>
                <a:latin typeface="Consolas"/>
              </a:rPr>
              <a:t>§11.3.6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31729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NRE Costs (11 項)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1729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Original vs Negotiated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520440"/>
            <a:ext cx="54864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358444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A34A"/>
                </a:solidFill>
                <a:latin typeface="Consolas"/>
              </a:rPr>
              <a:t>§11.3.7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45920" y="35844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Packaging Sub-form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5844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16 items child-table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31920"/>
            <a:ext cx="5486400" cy="36576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3995928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16A34A"/>
                </a:solidFill>
                <a:latin typeface="Consolas"/>
              </a:rPr>
              <a:t>§11.3.8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20" y="39959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Multi-Factory Cost Matrix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99592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3×3=9 cells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228600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D28D9"/>
                </a:solidFill>
                <a:latin typeface="Microsoft JhengHei"/>
              </a:rPr>
              <a:t>🆕 v0.7 新增的 2 段 + 3 維度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2697480"/>
            <a:ext cx="5349240" cy="365760"/>
          </a:xfrm>
          <a:prstGeom prst="rect">
            <a:avLst/>
          </a:prstGeom>
          <a:solidFill>
            <a:srgbClr val="E0E7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27614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D28D9"/>
                </a:solidFill>
                <a:latin typeface="Microsoft JhengHei"/>
              </a:rPr>
              <a:t>NEW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60920" y="27614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🧮 Cleansheet (MVA)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92640" y="27614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9×9 matrix · per factory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3108960"/>
            <a:ext cx="5349240" cy="365760"/>
          </a:xfrm>
          <a:prstGeom prst="rect">
            <a:avLst/>
          </a:prstGeom>
          <a:solidFill>
            <a:srgbClr val="E0E7FF"/>
          </a:solidFill>
          <a:ln w="127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37960" y="317296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6D28D9"/>
                </a:solidFill>
                <a:latin typeface="Microsoft JhengHei"/>
              </a:rPr>
              <a:t>NEW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60920" y="31729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💰 Margin Analysis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92640" y="31729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24 cells heatmap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00800" y="3520440"/>
            <a:ext cx="534924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37960" y="358444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6B6D4"/>
                </a:solidFill>
                <a:latin typeface="Microsoft JhengHei"/>
              </a:rPr>
              <a:t>UPGRADE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60920" y="358444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🏭 多廠矩陣 §11.3.8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692640" y="358444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9 cells → 24 cells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00800" y="3931920"/>
            <a:ext cx="534924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37960" y="399592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6B6D4"/>
                </a:solidFill>
                <a:latin typeface="Microsoft JhengHei"/>
              </a:rPr>
              <a:t>UPGRADE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60920" y="399592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📮 Packaging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92640" y="399592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單版 → 多版本 (商包/工包)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343400"/>
            <a:ext cx="534924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537960" y="440740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B45309"/>
                </a:solidFill>
                <a:latin typeface="Microsoft JhengHei"/>
              </a:rPr>
              <a:t>CROSSCUT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60920" y="440740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🔒 True/Quote Markup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92640" y="440740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每料件雙價 + markup auto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0" y="4754880"/>
            <a:ext cx="534924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537960" y="481888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B45309"/>
                </a:solidFill>
                <a:latin typeface="Microsoft JhengHei"/>
              </a:rPr>
              <a:t>CROSSCUT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60920" y="481888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📊 Qty Scenarios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692640" y="481888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Low/High 並存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400800" y="5166360"/>
            <a:ext cx="5349240" cy="36576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537960" y="5230368"/>
            <a:ext cx="777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B91C1C"/>
                </a:solidFill>
                <a:latin typeface="Microsoft JhengHei"/>
              </a:rPr>
              <a:t>PERMIS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60920" y="5230368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Microsoft JhengHei"/>
              </a:rPr>
              <a:t>🔒🔒 VIEW_TRUE_COST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692640" y="5230368"/>
            <a:ext cx="2011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新權限 layer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48640" y="5577840"/>
            <a:ext cx="11155680" cy="82296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3152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📐 Form section nav 從 9 段(v0.5) → 11 段(v0.7)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FFFFFF"/>
                </a:solidFill>
                <a:latin typeface="Microsoft JhengHei"/>
              </a:rPr>
              <a:t>客戶資料 → CMF變體 → BOM結構 → 包裝BOM → 詢價彙總 → NRE → 多廠矩陣 → 🆕 Cleansheet → 🆕 Margin → 成本核算 → 議價 → 法務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640080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💡 對齊真實 SteelSeries Rival 3 Gen2 BOM xlsx 結構 · 5 個 quote 版本 + 6 個 PKG sheet 散落 / Unit Cost 左右雙價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§F v0.7 · Cleansheet (MVA) 新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32 /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通用專案管理平台 · v0.7 (2026-06-08) · OIBG-aligned · ⭐ Wizard + AI 加速 + v0.7 BOM/Cleansheet/Margin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FORM v0.7 · CLEANSHEET (MVA) NEW SECTION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A2540"/>
                </a:solidFill>
                <a:latin typeface="Microsoft JhengHei"/>
              </a:rPr>
              <a:t>新 section · Cleansheet · MVA 計算明細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</a:rPr>
              <a:t>對應 spec cleansheet-mva-sd v0.3 · 9 製程 × 9 cost component · per factory · qty-aware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4F72"/>
                </a:solidFill>
                <a:latin typeface="Microsoft JhengHei"/>
              </a:rPr>
              <a:t>📊 主畫面 · Process × Cost Component Matrix(CN baseline 對齊 Excel)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91440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6B6D4"/>
                </a:solidFill>
                <a:latin typeface="Consolas"/>
              </a:rPr>
              <a:t>Component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2606040"/>
            <a:ext cx="100584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651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6B6D4"/>
                </a:solidFill>
                <a:latin typeface="Consolas"/>
              </a:rPr>
              <a:t>Common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80" y="2606040"/>
            <a:ext cx="100584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68880" y="2651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6B6D4"/>
                </a:solidFill>
                <a:latin typeface="Consolas"/>
              </a:rPr>
              <a:t>SMT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0" y="2606040"/>
            <a:ext cx="100584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651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6B6D4"/>
                </a:solidFill>
                <a:latin typeface="Consolas"/>
              </a:rPr>
              <a:t>Wave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80560" y="2606040"/>
            <a:ext cx="100584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2651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6B6D4"/>
                </a:solidFill>
                <a:latin typeface="Consolas"/>
              </a:rPr>
              <a:t>Router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0" y="2606040"/>
            <a:ext cx="100584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0" y="2651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6B6D4"/>
                </a:solidFill>
                <a:latin typeface="Consolas"/>
              </a:rPr>
              <a:t>Laser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2606040"/>
            <a:ext cx="100584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2651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6B6D4"/>
                </a:solidFill>
                <a:latin typeface="Consolas"/>
              </a:rPr>
              <a:t>BB_Assy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80" y="2606040"/>
            <a:ext cx="100584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0" y="2651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6B6D4"/>
                </a:solidFill>
                <a:latin typeface="Consolas"/>
              </a:rPr>
              <a:t>BB_Test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503920" y="2606040"/>
            <a:ext cx="100584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503920" y="2651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6B6D4"/>
                </a:solidFill>
                <a:latin typeface="Consolas"/>
              </a:rPr>
              <a:t>Mat_Mgmt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9760" y="2606040"/>
            <a:ext cx="100584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0" y="2651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6B6D4"/>
                </a:solidFill>
                <a:latin typeface="Consolas"/>
              </a:rPr>
              <a:t>Q-SMT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15600" y="2606040"/>
            <a:ext cx="1005840" cy="320040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0" y="2651760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06B6D4"/>
                </a:solidFill>
                <a:latin typeface="Consolas"/>
              </a:rPr>
              <a:t>Q-BB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2926080"/>
            <a:ext cx="914400" cy="27432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29718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Consolas"/>
              </a:rPr>
              <a:t>DL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63040" y="292608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463040" y="29718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468880" y="2926080"/>
            <a:ext cx="1005840" cy="274320"/>
          </a:xfrm>
          <a:prstGeom prst="rect">
            <a:avLst/>
          </a:prstGeom>
          <a:solidFill>
            <a:srgbClr val="FEE2E2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68880" y="29718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0.148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74720" y="2926080"/>
            <a:ext cx="1005840" cy="274320"/>
          </a:xfrm>
          <a:prstGeom prst="rect">
            <a:avLst/>
          </a:prstGeom>
          <a:solidFill>
            <a:srgbClr val="FEE2E2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0" y="29718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0.349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80560" y="2926080"/>
            <a:ext cx="1005840" cy="274320"/>
          </a:xfrm>
          <a:prstGeom prst="rect">
            <a:avLst/>
          </a:prstGeom>
          <a:solidFill>
            <a:srgbClr val="FEE2E2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80560" y="29718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0.131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2926080"/>
            <a:ext cx="1005840" cy="274320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0" y="29718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0.016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2926080"/>
            <a:ext cx="1005840" cy="274320"/>
          </a:xfrm>
          <a:prstGeom prst="rect">
            <a:avLst/>
          </a:prstGeom>
          <a:solidFill>
            <a:srgbClr val="FEE2E2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29718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0.362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498080" y="2926080"/>
            <a:ext cx="1005840" cy="274320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0" y="29718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0.091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03920" y="2926080"/>
            <a:ext cx="1005840" cy="274320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03920" y="29718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0.007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509760" y="2926080"/>
            <a:ext cx="1005840" cy="274320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509760" y="29718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0.007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515600" y="2926080"/>
            <a:ext cx="1005840" cy="274320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515600" y="29718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0.017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3200400"/>
            <a:ext cx="914400" cy="27432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324612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Consolas"/>
              </a:rPr>
              <a:t>IDL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463040" y="3200400"/>
            <a:ext cx="1005840" cy="274320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463040" y="324612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0.031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68880" y="3200400"/>
            <a:ext cx="1005840" cy="274320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468880" y="324612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0.044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474720" y="320040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474720" y="324612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480560" y="320040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80560" y="324612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0" y="320040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486400" y="324612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492240" y="3200400"/>
            <a:ext cx="1005840" cy="274320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492240" y="324612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0.028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98080" y="320040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98080" y="324612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03920" y="3200400"/>
            <a:ext cx="1005840" cy="274320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03920" y="324612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0.018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509760" y="3200400"/>
            <a:ext cx="1005840" cy="274320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509760" y="324612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0.001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515600" y="320040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515600" y="324612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48640" y="3474720"/>
            <a:ext cx="914400" cy="27432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8640" y="352044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Consolas"/>
              </a:rPr>
              <a:t>Depr</a:t>
            </a:r>
          </a:p>
        </p:txBody>
      </p:sp>
      <p:sp>
        <p:nvSpPr>
          <p:cNvPr id="77" name="Rectangle 76"/>
          <p:cNvSpPr/>
          <p:nvPr/>
        </p:nvSpPr>
        <p:spPr>
          <a:xfrm>
            <a:off x="1463040" y="347472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1463040" y="352044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468880" y="3474720"/>
            <a:ext cx="1005840" cy="274320"/>
          </a:xfrm>
          <a:prstGeom prst="rect">
            <a:avLst/>
          </a:prstGeom>
          <a:solidFill>
            <a:srgbClr val="FEE2E2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468880" y="352044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0.136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474720" y="347472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474720" y="352044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480560" y="347472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480560" y="352044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86400" y="347472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486400" y="352044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92240" y="3474720"/>
            <a:ext cx="1005840" cy="274320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92240" y="352044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0.005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7498080" y="3474720"/>
            <a:ext cx="1005840" cy="274320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7498080" y="352044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0.017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503920" y="347472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503920" y="352044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509760" y="347472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509760" y="352044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515600" y="347472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515600" y="352044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48640" y="3749040"/>
            <a:ext cx="914400" cy="27432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48640" y="379476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Consolas"/>
              </a:rPr>
              <a:t>Mat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463040" y="374904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463040" y="379476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468880" y="3749040"/>
            <a:ext cx="1005840" cy="274320"/>
          </a:xfrm>
          <a:prstGeom prst="rect">
            <a:avLst/>
          </a:prstGeom>
          <a:solidFill>
            <a:srgbClr val="FEE2E2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468880" y="379476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0.363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3474720" y="374904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3474720" y="379476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4480560" y="374904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480560" y="379476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486400" y="374904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486400" y="379476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6492240" y="3749040"/>
            <a:ext cx="1005840" cy="274320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6492240" y="379476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0.008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498080" y="374904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498080" y="379476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8503920" y="374904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8503920" y="379476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9509760" y="374904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509760" y="379476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515600" y="374904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515600" y="379476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48640" y="4023360"/>
            <a:ext cx="914400" cy="27432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48640" y="406908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Consolas"/>
              </a:rPr>
              <a:t>Freight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463040" y="4023360"/>
            <a:ext cx="1005840" cy="274320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463040" y="406908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0F172A"/>
                </a:solidFill>
                <a:latin typeface="Consolas"/>
              </a:rPr>
              <a:t>0.006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2468880" y="402336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2468880" y="406908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474720" y="402336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474720" y="406908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480560" y="402336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480560" y="406908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486400" y="402336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486400" y="406908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492240" y="402336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492240" y="406908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498080" y="402336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498080" y="406908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503920" y="402336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503920" y="406908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9509760" y="402336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9509760" y="406908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0515600" y="4023360"/>
            <a:ext cx="1005840" cy="2743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0515600" y="406908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CBD5E1"/>
                </a:solidFill>
                <a:latin typeface="Consolas"/>
              </a:rPr>
              <a:t>—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548640" y="4297680"/>
            <a:ext cx="914400" cy="274320"/>
          </a:xfrm>
          <a:prstGeom prst="rect">
            <a:avLst/>
          </a:prstGeom>
          <a:solidFill>
            <a:srgbClr val="1B4F72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548640" y="434340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6B6D4"/>
                </a:solidFill>
                <a:latin typeface="Consolas"/>
              </a:rPr>
              <a:t>MVA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1463040" y="4297680"/>
            <a:ext cx="1005840" cy="274320"/>
          </a:xfrm>
          <a:prstGeom prst="rect">
            <a:avLst/>
          </a:prstGeom>
          <a:solidFill>
            <a:srgbClr val="06B6D4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1463040" y="43434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onsolas"/>
              </a:rPr>
              <a:t>0.044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2468880" y="4297680"/>
            <a:ext cx="1005840" cy="274320"/>
          </a:xfrm>
          <a:prstGeom prst="rect">
            <a:avLst/>
          </a:prstGeom>
          <a:solidFill>
            <a:srgbClr val="06B6D4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2468880" y="43434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onsolas"/>
              </a:rPr>
              <a:t>0.704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3474720" y="4297680"/>
            <a:ext cx="1005840" cy="274320"/>
          </a:xfrm>
          <a:prstGeom prst="rect">
            <a:avLst/>
          </a:prstGeom>
          <a:solidFill>
            <a:srgbClr val="06B6D4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3474720" y="43434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onsolas"/>
              </a:rPr>
              <a:t>0.349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4480560" y="4297680"/>
            <a:ext cx="1005840" cy="274320"/>
          </a:xfrm>
          <a:prstGeom prst="rect">
            <a:avLst/>
          </a:prstGeom>
          <a:solidFill>
            <a:srgbClr val="06B6D4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4480560" y="43434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onsolas"/>
              </a:rPr>
              <a:t>0.131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5486400" y="4297680"/>
            <a:ext cx="1005840" cy="274320"/>
          </a:xfrm>
          <a:prstGeom prst="rect">
            <a:avLst/>
          </a:prstGeom>
          <a:solidFill>
            <a:srgbClr val="06B6D4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5486400" y="43434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onsolas"/>
              </a:rPr>
              <a:t>0.016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6492240" y="4297680"/>
            <a:ext cx="1005840" cy="274320"/>
          </a:xfrm>
          <a:prstGeom prst="rect">
            <a:avLst/>
          </a:prstGeom>
          <a:solidFill>
            <a:srgbClr val="06B6D4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6492240" y="43434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onsolas"/>
              </a:rPr>
              <a:t>0.436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7498080" y="4297680"/>
            <a:ext cx="1005840" cy="274320"/>
          </a:xfrm>
          <a:prstGeom prst="rect">
            <a:avLst/>
          </a:prstGeom>
          <a:solidFill>
            <a:srgbClr val="06B6D4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7498080" y="43434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onsolas"/>
              </a:rPr>
              <a:t>0.111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8503920" y="4297680"/>
            <a:ext cx="1005840" cy="274320"/>
          </a:xfrm>
          <a:prstGeom prst="rect">
            <a:avLst/>
          </a:prstGeom>
          <a:solidFill>
            <a:srgbClr val="06B6D4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8503920" y="43434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onsolas"/>
              </a:rPr>
              <a:t>0.029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9509760" y="4297680"/>
            <a:ext cx="1005840" cy="274320"/>
          </a:xfrm>
          <a:prstGeom prst="rect">
            <a:avLst/>
          </a:prstGeom>
          <a:solidFill>
            <a:srgbClr val="06B6D4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9509760" y="43434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onsolas"/>
              </a:rPr>
              <a:t>0.008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10515600" y="4297680"/>
            <a:ext cx="1005840" cy="274320"/>
          </a:xfrm>
          <a:prstGeom prst="rect">
            <a:avLst/>
          </a:prstGeom>
          <a:solidFill>
            <a:srgbClr val="06B6D4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10515600" y="4343400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800" b="1">
                <a:solidFill>
                  <a:srgbClr val="FFFFFF"/>
                </a:solidFill>
                <a:latin typeface="Consolas"/>
              </a:rPr>
              <a:t>0.023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6D28D9"/>
                </a:solidFill>
                <a:latin typeface="Microsoft JhengHei"/>
              </a:rPr>
              <a:t>📊 KPI 卡 · v0.7 加 qty-aware selector</a:t>
            </a:r>
          </a:p>
        </p:txBody>
      </p:sp>
      <p:sp>
        <p:nvSpPr>
          <p:cNvPr id="164" name="Rectangle 163"/>
          <p:cNvSpPr/>
          <p:nvPr/>
        </p:nvSpPr>
        <p:spPr>
          <a:xfrm>
            <a:off x="548640" y="5349240"/>
            <a:ext cx="2697480" cy="868680"/>
          </a:xfrm>
          <a:prstGeom prst="rect">
            <a:avLst/>
          </a:prstGeom>
          <a:solidFill>
            <a:srgbClr val="FAFBFC"/>
          </a:solidFill>
          <a:ln w="1905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TextBox 164"/>
          <p:cNvSpPr txBox="1"/>
          <p:nvPr/>
        </p:nvSpPr>
        <p:spPr>
          <a:xfrm>
            <a:off x="685800" y="54132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MVA Total</a:t>
            </a:r>
          </a:p>
        </p:txBody>
      </p:sp>
      <p:sp>
        <p:nvSpPr>
          <p:cNvPr id="166" name="TextBox 165"/>
          <p:cNvSpPr txBox="1"/>
          <p:nvPr/>
        </p:nvSpPr>
        <p:spPr>
          <a:xfrm>
            <a:off x="685800" y="56692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Consolas"/>
              </a:rPr>
              <a:t>$1.8522</a:t>
            </a:r>
          </a:p>
        </p:txBody>
      </p:sp>
      <p:sp>
        <p:nvSpPr>
          <p:cNvPr id="167" name="TextBox 166"/>
          <p:cNvSpPr txBox="1"/>
          <p:nvPr/>
        </p:nvSpPr>
        <p:spPr>
          <a:xfrm>
            <a:off x="685800" y="598932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9 製程合計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3383280" y="5349240"/>
            <a:ext cx="2697480" cy="868680"/>
          </a:xfrm>
          <a:prstGeom prst="rect">
            <a:avLst/>
          </a:prstGeom>
          <a:solidFill>
            <a:srgbClr val="FAFBFC"/>
          </a:solidFill>
          <a:ln w="19050">
            <a:solidFill>
              <a:srgbClr val="06B6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TextBox 168"/>
          <p:cNvSpPr txBox="1"/>
          <p:nvPr/>
        </p:nvSpPr>
        <p:spPr>
          <a:xfrm>
            <a:off x="3520440" y="54132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6B6D4"/>
                </a:solidFill>
                <a:latin typeface="Microsoft JhengHei"/>
              </a:rPr>
              <a:t>SGA+Profit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3520440" y="56692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Consolas"/>
              </a:rPr>
              <a:t>$1.6860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3520440" y="598932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0.02 + 0.14</a:t>
            </a:r>
          </a:p>
        </p:txBody>
      </p:sp>
      <p:sp>
        <p:nvSpPr>
          <p:cNvPr id="172" name="Rectangle 171"/>
          <p:cNvSpPr/>
          <p:nvPr/>
        </p:nvSpPr>
        <p:spPr>
          <a:xfrm>
            <a:off x="6217920" y="5349240"/>
            <a:ext cx="2697480" cy="868680"/>
          </a:xfrm>
          <a:prstGeom prst="rect">
            <a:avLst/>
          </a:prstGeom>
          <a:solidFill>
            <a:srgbClr val="FAFBFC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TextBox 172"/>
          <p:cNvSpPr txBox="1"/>
          <p:nvPr/>
        </p:nvSpPr>
        <p:spPr>
          <a:xfrm>
            <a:off x="6355080" y="54132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EA5E9"/>
                </a:solidFill>
                <a:latin typeface="Microsoft JhengHei"/>
              </a:rPr>
              <a:t>SMT MVA</a:t>
            </a:r>
          </a:p>
        </p:txBody>
      </p:sp>
      <p:sp>
        <p:nvSpPr>
          <p:cNvPr id="174" name="TextBox 173"/>
          <p:cNvSpPr txBox="1"/>
          <p:nvPr/>
        </p:nvSpPr>
        <p:spPr>
          <a:xfrm>
            <a:off x="6355080" y="56692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Consolas"/>
              </a:rPr>
              <a:t>$1.2076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6355080" y="598932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SMT+Wave+Router+Laser+Q-SMT</a:t>
            </a:r>
          </a:p>
        </p:txBody>
      </p:sp>
      <p:sp>
        <p:nvSpPr>
          <p:cNvPr id="176" name="Rectangle 175"/>
          <p:cNvSpPr/>
          <p:nvPr/>
        </p:nvSpPr>
        <p:spPr>
          <a:xfrm>
            <a:off x="9052560" y="5349240"/>
            <a:ext cx="2697480" cy="868680"/>
          </a:xfrm>
          <a:prstGeom prst="rect">
            <a:avLst/>
          </a:prstGeom>
          <a:solidFill>
            <a:srgbClr val="FAFBFC"/>
          </a:solidFill>
          <a:ln w="1905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TextBox 176"/>
          <p:cNvSpPr txBox="1"/>
          <p:nvPr/>
        </p:nvSpPr>
        <p:spPr>
          <a:xfrm>
            <a:off x="9189720" y="54132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6A34A"/>
                </a:solidFill>
                <a:latin typeface="Microsoft JhengHei"/>
              </a:rPr>
              <a:t>Assy MVA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9189720" y="5669280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600" b="1">
                <a:solidFill>
                  <a:srgbClr val="0F172A"/>
                </a:solidFill>
                <a:latin typeface="Consolas"/>
              </a:rPr>
              <a:t>$0.6446</a:t>
            </a:r>
          </a:p>
        </p:txBody>
      </p:sp>
      <p:sp>
        <p:nvSpPr>
          <p:cNvPr id="179" name="TextBox 178"/>
          <p:cNvSpPr txBox="1"/>
          <p:nvPr/>
        </p:nvSpPr>
        <p:spPr>
          <a:xfrm>
            <a:off x="9189720" y="5989320"/>
            <a:ext cx="24688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Common+BB+Mat+Q-BB</a:t>
            </a:r>
          </a:p>
        </p:txBody>
      </p:sp>
      <p:sp>
        <p:nvSpPr>
          <p:cNvPr id="180" name="TextBox 179"/>
          <p:cNvSpPr txBox="1"/>
          <p:nvPr/>
        </p:nvSpPr>
        <p:spPr>
          <a:xfrm>
            <a:off x="548640" y="635508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6B6D4"/>
                </a:solidFill>
                <a:latin typeface="Microsoft JhengHei"/>
              </a:rPr>
              <a:t>💡 v0.7 加 Qty Scenario selector(Low/High)· 低量時 MVA × 1.41(lines util 下降)· 自動 highlight 警示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§F v0.7 · 多廠矩陣 24 cells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33 /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通用專案管理平台 · v0.7 (2026-06-08) · OIBG-aligned · ⭐ Wizard + AI 加速 + v0.7 BOM/Cleansheet/Margin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FORM v0.7 · MULTI-FACTORY MATRIX · 24 CELLS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A2540"/>
                </a:solidFill>
                <a:latin typeface="Microsoft JhengHei"/>
              </a:rPr>
              <a:t>多廠矩陣升級 · 9 cells (v0.5) → 24 cells (v0.7)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</a:rPr>
              <a:t>對齊 Excel Unit Cost 真實架構 · Qty + PKG + Variant 三維度交叉 + Quote/True 切換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5577840" cy="137160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16A34A"/>
                </a:solidFill>
                <a:latin typeface="Microsoft JhengHei"/>
              </a:rPr>
              <a:t>✅ v0.5 矩陣(原)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517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0F172A"/>
                </a:solidFill>
                <a:latin typeface="Microsoft JhengHei"/>
              </a:rPr>
              <a:t>3 廠 × 3 PKG 選項 = 9 cells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7180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· 單 variant 視角 (跨 Black/White 不分)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· 單一 quote 數字 / cell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· 無 margin 透露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2194560"/>
            <a:ext cx="5577840" cy="1371600"/>
          </a:xfrm>
          <a:prstGeom prst="rect">
            <a:avLst/>
          </a:prstGeom>
          <a:solidFill>
            <a:srgbClr val="E0E7FF"/>
          </a:solidFill>
          <a:ln w="25400">
            <a:solidFill>
              <a:srgbClr val="6D28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22860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400" b="1">
                <a:solidFill>
                  <a:srgbClr val="6D28D9"/>
                </a:solidFill>
                <a:latin typeface="Microsoft JhengHei"/>
              </a:rPr>
              <a:t>🆕 v0.7 矩陣(升級)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517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0F172A"/>
                </a:solidFill>
                <a:latin typeface="Microsoft JhengHei"/>
              </a:rPr>
              <a:t>3 廠 × 2 variants × 2 qty × 2 pkg = 24 cells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2971800"/>
            <a:ext cx="5394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· 同畫面看 24 個 Total · 任意 pivot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· True / Quote 雙價可切換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· Margin % 自動計算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657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1B4F72"/>
                </a:solidFill>
                <a:latin typeface="Microsoft JhengHei"/>
              </a:rPr>
              <a:t>📊 24 cells 拆解:4 個 (Qty × PKG) Scenario × 6 cells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160520"/>
            <a:ext cx="5577840" cy="1051560"/>
          </a:xfrm>
          <a:prstGeom prst="rect">
            <a:avLst/>
          </a:prstGeom>
          <a:solidFill>
            <a:srgbClr val="FAFB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D28D9"/>
                </a:solidFill>
                <a:latin typeface="Microsoft JhengHei"/>
              </a:rPr>
              <a:t>HIGH × RETAIL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49040" y="4206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418K + 商包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4526280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5537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CN-B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45537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$11.12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" y="4855464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8828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CN-W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488289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$11.34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68880" y="4526280"/>
            <a:ext cx="1737360" cy="301752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514600" y="45537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VN-B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5537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91C1C"/>
                </a:solidFill>
                <a:latin typeface="Consolas"/>
              </a:rPr>
              <a:t>$11.11⭐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68880" y="4855464"/>
            <a:ext cx="1737360" cy="301752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514600" y="48828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VN-W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88289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91C1C"/>
                </a:solidFill>
                <a:latin typeface="Consolas"/>
              </a:rPr>
              <a:t>$11.33⭐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251960" y="4526280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297680" y="45537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TW-B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00600" y="45537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$12.59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51960" y="4855464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48828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TW-W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00600" y="488289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$12.75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09360" y="4160520"/>
            <a:ext cx="5577840" cy="1051560"/>
          </a:xfrm>
          <a:prstGeom prst="rect">
            <a:avLst/>
          </a:prstGeom>
          <a:solidFill>
            <a:srgbClr val="FAFB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46520" y="4206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D28D9"/>
                </a:solidFill>
                <a:latin typeface="Microsoft JhengHei"/>
              </a:rPr>
              <a:t>HIGH × BULK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09760" y="4206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418K + 工包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46520" y="4526280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92240" y="45537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CN-B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45537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$10.57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46520" y="4855464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48828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CN-W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95160" y="488289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$10.78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229600" y="4526280"/>
            <a:ext cx="1737360" cy="301752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275320" y="45537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VN-B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78240" y="45537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91C1C"/>
                </a:solidFill>
                <a:latin typeface="Consolas"/>
              </a:rPr>
              <a:t>$10.56⭐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4855464"/>
            <a:ext cx="1737360" cy="301752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75320" y="48828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VN-W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78240" y="488289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91C1C"/>
                </a:solidFill>
                <a:latin typeface="Consolas"/>
              </a:rPr>
              <a:t>$10.78⭐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0012680" y="4526280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058400" y="45537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TW-B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561320" y="45537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$12.04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12680" y="4855464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058400" y="48828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TW-W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61320" y="488289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$12.19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5303520"/>
            <a:ext cx="5577840" cy="1051560"/>
          </a:xfrm>
          <a:prstGeom prst="rect">
            <a:avLst/>
          </a:prstGeom>
          <a:solidFill>
            <a:srgbClr val="FAFB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5800" y="5349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D28D9"/>
                </a:solidFill>
                <a:latin typeface="Microsoft JhengHei"/>
              </a:rPr>
              <a:t>LOW × RETAIL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749040" y="5349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100K + 商包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5800" y="5669280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1520" y="56967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CN-B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234440" y="56967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$13.40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5800" y="5998464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31520" y="60258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CN-W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234440" y="602589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$13.63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468880" y="5669280"/>
            <a:ext cx="1737360" cy="301752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14600" y="56967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VN-B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017520" y="56967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91C1C"/>
                </a:solidFill>
                <a:latin typeface="Consolas"/>
              </a:rPr>
              <a:t>$13.13⭐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468880" y="5998464"/>
            <a:ext cx="1737360" cy="301752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2514600" y="60258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VN-W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3017520" y="602589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91C1C"/>
                </a:solidFill>
                <a:latin typeface="Consolas"/>
              </a:rPr>
              <a:t>$13.37⭐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251960" y="5669280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297680" y="56967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TW-B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800600" y="56967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$14.83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51960" y="5998464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97680" y="60258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TW-W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800600" y="602589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$15.06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09360" y="5303520"/>
            <a:ext cx="5577840" cy="1051560"/>
          </a:xfrm>
          <a:prstGeom prst="rect">
            <a:avLst/>
          </a:prstGeom>
          <a:solidFill>
            <a:srgbClr val="FAFB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446520" y="5349240"/>
            <a:ext cx="2926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6D28D9"/>
                </a:solidFill>
                <a:latin typeface="Microsoft JhengHei"/>
              </a:rPr>
              <a:t>LOW × BULK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509760" y="5349240"/>
            <a:ext cx="2286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100K + 工包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446520" y="5669280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492240" y="56967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CN-B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6995160" y="56967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$12.85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446520" y="5998464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492240" y="60258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CN-W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6995160" y="602589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$13.07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8229600" y="5669280"/>
            <a:ext cx="1737360" cy="301752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8275320" y="56967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VN-B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778240" y="56967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91C1C"/>
                </a:solidFill>
                <a:latin typeface="Consolas"/>
              </a:rPr>
              <a:t>$12.58⭐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229600" y="5998464"/>
            <a:ext cx="1737360" cy="301752"/>
          </a:xfrm>
          <a:prstGeom prst="rect">
            <a:avLst/>
          </a:prstGeom>
          <a:solidFill>
            <a:srgbClr val="DCFCE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275320" y="60258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VN-W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778240" y="602589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B91C1C"/>
                </a:solidFill>
                <a:latin typeface="Consolas"/>
              </a:rPr>
              <a:t>$12.82⭐</a:t>
            </a:r>
          </a:p>
        </p:txBody>
      </p:sp>
      <p:sp>
        <p:nvSpPr>
          <p:cNvPr id="95" name="Rectangle 94"/>
          <p:cNvSpPr/>
          <p:nvPr/>
        </p:nvSpPr>
        <p:spPr>
          <a:xfrm>
            <a:off x="10012680" y="5669280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10058400" y="5696712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TW-B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561320" y="5696712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$14.27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012680" y="5998464"/>
            <a:ext cx="1737360" cy="3017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058400" y="6025896"/>
            <a:ext cx="548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Consolas"/>
              </a:rPr>
              <a:t>TW-W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561320" y="6025896"/>
            <a:ext cx="11430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$14.50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48640" y="644652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0">
                <a:solidFill>
                  <a:srgbClr val="06B6D4"/>
                </a:solidFill>
                <a:latin typeface="Microsoft JhengHei"/>
              </a:rPr>
              <a:t>💡 UI toggle bar:Qty [Low/High] · PKG [商包/工包] · [🔒 Show True Cost] · [🔒🔒 Show Margin %] → 矩陣即時切換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1B4F72"/>
                </a:solidFill>
                <a:latin typeface="Microsoft JhengHei"/>
              </a:rPr>
              <a:t>§F v0.7 · Margin Analysis 新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15600" y="16459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64748B"/>
                </a:solidFill>
                <a:latin typeface="Microsoft JhengHei"/>
              </a:rPr>
              <a:t>34 / 34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800" b="0">
                <a:solidFill>
                  <a:srgbClr val="64748B"/>
                </a:solidFill>
                <a:latin typeface="Microsoft JhengHei"/>
              </a:rPr>
              <a:t>Cortex 通用專案管理平台 · v0.7 (2026-06-08) · OIBG-aligned · ⭐ Wizard + AI 加速 + v0.7 BOM/Cleansheet/Margin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06B6D4"/>
                </a:solidFill>
                <a:latin typeface="Microsoft JhengHei"/>
              </a:rPr>
              <a:t>FORM v0.7 · TRUE COST vs QUOTE · MARGIN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00584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2600" b="1">
                <a:solidFill>
                  <a:srgbClr val="0A2540"/>
                </a:solidFill>
                <a:latin typeface="Microsoft JhengHei"/>
              </a:rPr>
              <a:t>新 section · Margin Analysis · 揭露 markup 商業邏輯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0">
                <a:solidFill>
                  <a:srgbClr val="64748B"/>
                </a:solidFill>
                <a:latin typeface="Microsoft JhengHei"/>
              </a:rPr>
              <a:t>對應 spec bom-collection-sd v0.4 §19-20 · 需 VIEW_TRUE_COST 權限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94560"/>
            <a:ext cx="11155680" cy="1463040"/>
          </a:xfrm>
          <a:prstGeom prst="rect">
            <a:avLst/>
          </a:prstGeom>
          <a:solidFill>
            <a:srgbClr val="F1F5F9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B91C1C"/>
                </a:solidFill>
                <a:latin typeface="Microsoft JhengHei"/>
              </a:rPr>
              <a:t>🔒🔒 Margin 揭露 · 每料件 True Cost vs Quote Price + 自動 markup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43200"/>
            <a:ext cx="5349240" cy="868680"/>
          </a:xfrm>
          <a:prstGeom prst="rect">
            <a:avLst/>
          </a:prstGeom>
          <a:solidFill>
            <a:srgbClr val="FEE2E2"/>
          </a:solidFill>
          <a:ln w="1270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1C1C"/>
                </a:solidFill>
                <a:latin typeface="Microsoft JhengHei"/>
              </a:rPr>
              <a:t>🔒 True Cost(右半 Excel Z~AK)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0896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內部真實成本 · CN-Black: $9.58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採購喬到的真價 · RMB → USD 換算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4 個歷史版本 snapshot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743200"/>
            <a:ext cx="5349240" cy="868680"/>
          </a:xfrm>
          <a:prstGeom prst="rect">
            <a:avLst/>
          </a:prstGeom>
          <a:solidFill>
            <a:srgbClr val="DCFCE7"/>
          </a:solidFill>
          <a:ln w="12700">
            <a:solidFill>
              <a:srgbClr val="16A3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2834640"/>
            <a:ext cx="5029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16A34A"/>
                </a:solidFill>
                <a:latin typeface="Microsoft JhengHei"/>
              </a:rPr>
              <a:t>🟢 Quote Price(左半 Excel D~R)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108960"/>
            <a:ext cx="50292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給客戶的報價 · CN-Black: $11.12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含 markup ($1.54 / unit)</a:t>
            </a:r>
          </a:p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· 5 個議價版本(2024-02 ~ 2024-11)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8404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300" b="1">
                <a:solidFill>
                  <a:srgbClr val="6D28D9"/>
                </a:solidFill>
                <a:latin typeface="Microsoft JhengHei"/>
              </a:rPr>
              <a:t>🔥 24-Cell Margin Heatmap · 跨 4 scenario × 6 cell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251960"/>
            <a:ext cx="2194560" cy="29260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6B6D4"/>
                </a:solidFill>
                <a:latin typeface="Microsoft JhengHei"/>
              </a:rPr>
              <a:t>Scenario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0" y="4251960"/>
            <a:ext cx="1463040" cy="29260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43200" y="429768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6B6D4"/>
                </a:solidFill>
                <a:latin typeface="Consolas"/>
              </a:rPr>
              <a:t>CN-B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4251960"/>
            <a:ext cx="1463040" cy="29260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429768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6B6D4"/>
                </a:solidFill>
                <a:latin typeface="Consolas"/>
              </a:rPr>
              <a:t>CN-W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0" y="4251960"/>
            <a:ext cx="1463040" cy="29260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69280" y="429768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6B6D4"/>
                </a:solidFill>
                <a:latin typeface="Consolas"/>
              </a:rPr>
              <a:t>VN-B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4251960"/>
            <a:ext cx="1463040" cy="29260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429768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6B6D4"/>
                </a:solidFill>
                <a:latin typeface="Consolas"/>
              </a:rPr>
              <a:t>VN-W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95360" y="4251960"/>
            <a:ext cx="1463040" cy="29260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95360" y="429768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6B6D4"/>
                </a:solidFill>
                <a:latin typeface="Consolas"/>
              </a:rPr>
              <a:t>TW-B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58400" y="4251960"/>
            <a:ext cx="1463040" cy="292608"/>
          </a:xfrm>
          <a:prstGeom prst="rect">
            <a:avLst/>
          </a:prstGeom>
          <a:solidFill>
            <a:srgbClr val="1B4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58400" y="4297680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6B6D4"/>
                </a:solidFill>
                <a:latin typeface="Consolas"/>
              </a:rPr>
              <a:t>TW-W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48640" y="4544568"/>
            <a:ext cx="219456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59028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Microsoft JhengHei"/>
              </a:rPr>
              <a:t>HIGH × RETAIL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4544568"/>
            <a:ext cx="1463040" cy="320040"/>
          </a:xfrm>
          <a:prstGeom prst="rect">
            <a:avLst/>
          </a:prstGeom>
          <a:solidFill>
            <a:srgbClr val="A8C7AE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0" y="459028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13.9%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206240" y="4544568"/>
            <a:ext cx="1463040" cy="320040"/>
          </a:xfrm>
          <a:prstGeom prst="rect">
            <a:avLst/>
          </a:prstGeom>
          <a:solidFill>
            <a:srgbClr val="9DC4A6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459028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14.3%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69280" y="4544568"/>
            <a:ext cx="1463040" cy="320040"/>
          </a:xfrm>
          <a:prstGeom prst="rect">
            <a:avLst/>
          </a:prstGeom>
          <a:solidFill>
            <a:srgbClr val="8EC09C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0" y="459028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14.8%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132320" y="4544568"/>
            <a:ext cx="1463040" cy="320040"/>
          </a:xfrm>
          <a:prstGeom prst="rect">
            <a:avLst/>
          </a:prstGeom>
          <a:solidFill>
            <a:srgbClr val="83BE94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32320" y="459028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15.2%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595360" y="4544568"/>
            <a:ext cx="1463040" cy="320040"/>
          </a:xfrm>
          <a:prstGeom prst="rect">
            <a:avLst/>
          </a:prstGeom>
          <a:solidFill>
            <a:srgbClr val="80BD92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595360" y="459028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15.3%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0058400" y="4544568"/>
            <a:ext cx="1463040" cy="320040"/>
          </a:xfrm>
          <a:prstGeom prst="rect">
            <a:avLst/>
          </a:prstGeom>
          <a:solidFill>
            <a:srgbClr val="71B988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058400" y="459028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15.8%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" y="4864608"/>
            <a:ext cx="219456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" y="491032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Microsoft JhengHei"/>
              </a:rPr>
              <a:t>HIGH × BULK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0" y="4864608"/>
            <a:ext cx="1463040" cy="320040"/>
          </a:xfrm>
          <a:prstGeom prst="rect">
            <a:avLst/>
          </a:prstGeom>
          <a:solidFill>
            <a:srgbClr val="5DB47B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743200" y="491032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16.5%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206240" y="4864608"/>
            <a:ext cx="1463040" cy="320040"/>
          </a:xfrm>
          <a:prstGeom prst="rect">
            <a:avLst/>
          </a:prstGeom>
          <a:solidFill>
            <a:srgbClr val="4FB171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206240" y="491032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17.0%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669280" y="4864608"/>
            <a:ext cx="1463040" cy="320040"/>
          </a:xfrm>
          <a:prstGeom prst="rect">
            <a:avLst/>
          </a:prstGeom>
          <a:solidFill>
            <a:srgbClr val="49AF6D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669280" y="491032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17.2%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132320" y="4864608"/>
            <a:ext cx="1463040" cy="320040"/>
          </a:xfrm>
          <a:prstGeom prst="rect">
            <a:avLst/>
          </a:prstGeom>
          <a:solidFill>
            <a:srgbClr val="41AD6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132320" y="491032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17.5%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95360" y="4864608"/>
            <a:ext cx="1463040" cy="320040"/>
          </a:xfrm>
          <a:prstGeom prst="rect">
            <a:avLst/>
          </a:prstGeom>
          <a:solidFill>
            <a:srgbClr val="38AB61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5360" y="491032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17.8%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058400" y="4864608"/>
            <a:ext cx="1463040" cy="320040"/>
          </a:xfrm>
          <a:prstGeom prst="rect">
            <a:avLst/>
          </a:prstGeom>
          <a:solidFill>
            <a:srgbClr val="2DA85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058400" y="491032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18.2%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48640" y="5184648"/>
            <a:ext cx="219456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40080" y="523036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Microsoft JhengHei"/>
              </a:rPr>
              <a:t>LOW × RETAIL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0" y="5184648"/>
            <a:ext cx="1463040" cy="320040"/>
          </a:xfrm>
          <a:prstGeom prst="rect">
            <a:avLst/>
          </a:prstGeom>
          <a:solidFill>
            <a:srgbClr val="CED0C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2743200" y="52303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12.1%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5184648"/>
            <a:ext cx="1463040" cy="320040"/>
          </a:xfrm>
          <a:prstGeom prst="rect">
            <a:avLst/>
          </a:prstGeom>
          <a:solidFill>
            <a:srgbClr val="CED0C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06240" y="52303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12.4%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80" y="5184648"/>
            <a:ext cx="1463040" cy="320040"/>
          </a:xfrm>
          <a:prstGeom prst="rect">
            <a:avLst/>
          </a:prstGeom>
          <a:solidFill>
            <a:srgbClr val="C2CDBF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669280" y="52303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13.0%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132320" y="5184648"/>
            <a:ext cx="1463040" cy="320040"/>
          </a:xfrm>
          <a:prstGeom prst="rect">
            <a:avLst/>
          </a:prstGeom>
          <a:solidFill>
            <a:srgbClr val="B4CAB5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132320" y="52303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13.5%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8595360" y="5184648"/>
            <a:ext cx="1463040" cy="320040"/>
          </a:xfrm>
          <a:prstGeom prst="rect">
            <a:avLst/>
          </a:prstGeom>
          <a:solidFill>
            <a:srgbClr val="CED0C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595360" y="52303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11.8%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10058400" y="5184648"/>
            <a:ext cx="1463040" cy="320040"/>
          </a:xfrm>
          <a:prstGeom prst="rect">
            <a:avLst/>
          </a:prstGeom>
          <a:solidFill>
            <a:srgbClr val="CED0C7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058400" y="523036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12.2%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548640" y="5504688"/>
            <a:ext cx="2194560" cy="320040"/>
          </a:xfrm>
          <a:prstGeom prst="rect">
            <a:avLst/>
          </a:prstGeom>
          <a:solidFill>
            <a:srgbClr val="F1F5F9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55040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1">
                <a:solidFill>
                  <a:srgbClr val="0F172A"/>
                </a:solidFill>
                <a:latin typeface="Microsoft JhengHei"/>
              </a:rPr>
              <a:t>LOW × BULK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743200" y="5504688"/>
            <a:ext cx="1463040" cy="320040"/>
          </a:xfrm>
          <a:prstGeom prst="rect">
            <a:avLst/>
          </a:prstGeom>
          <a:solidFill>
            <a:srgbClr val="94C2A0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743200" y="555040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14.6%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206240" y="5504688"/>
            <a:ext cx="1463040" cy="320040"/>
          </a:xfrm>
          <a:prstGeom prst="rect">
            <a:avLst/>
          </a:prstGeom>
          <a:solidFill>
            <a:srgbClr val="89BF98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206240" y="555040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15.0%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5669280" y="5504688"/>
            <a:ext cx="1463040" cy="320040"/>
          </a:xfrm>
          <a:prstGeom prst="rect">
            <a:avLst/>
          </a:prstGeom>
          <a:solidFill>
            <a:srgbClr val="7ABB8E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69280" y="555040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15.5%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132320" y="5504688"/>
            <a:ext cx="1463040" cy="320040"/>
          </a:xfrm>
          <a:prstGeom prst="rect">
            <a:avLst/>
          </a:prstGeom>
          <a:solidFill>
            <a:srgbClr val="6FB986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7132320" y="555040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FFFFFF"/>
                </a:solidFill>
                <a:latin typeface="Consolas"/>
              </a:rPr>
              <a:t>15.9%</a:t>
            </a:r>
          </a:p>
        </p:txBody>
      </p:sp>
      <p:sp>
        <p:nvSpPr>
          <p:cNvPr id="83" name="Rectangle 82"/>
          <p:cNvSpPr/>
          <p:nvPr/>
        </p:nvSpPr>
        <p:spPr>
          <a:xfrm>
            <a:off x="8595360" y="5504688"/>
            <a:ext cx="1463040" cy="320040"/>
          </a:xfrm>
          <a:prstGeom prst="rect">
            <a:avLst/>
          </a:prstGeom>
          <a:solidFill>
            <a:srgbClr val="A0C5A8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8595360" y="555040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14.2%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10058400" y="5504688"/>
            <a:ext cx="1463040" cy="320040"/>
          </a:xfrm>
          <a:prstGeom prst="rect">
            <a:avLst/>
          </a:prstGeom>
          <a:solidFill>
            <a:srgbClr val="94C2A0"/>
          </a:solidFill>
          <a:ln w="381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058400" y="5550408"/>
            <a:ext cx="146304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00" b="1">
                <a:solidFill>
                  <a:srgbClr val="0F172A"/>
                </a:solidFill>
                <a:latin typeface="Consolas"/>
              </a:rPr>
              <a:t>14.6%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48640" y="5943600"/>
            <a:ext cx="11155680" cy="502920"/>
          </a:xfrm>
          <a:prstGeom prst="rect">
            <a:avLst/>
          </a:prstGeom>
          <a:solidFill>
            <a:srgbClr val="FEE2E2"/>
          </a:solidFill>
          <a:ln w="19050">
            <a:solidFill>
              <a:srgbClr val="B91C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31520" y="59893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1100" b="1">
                <a:solidFill>
                  <a:srgbClr val="B91C1C"/>
                </a:solidFill>
                <a:latin typeface="Microsoft JhengHei"/>
              </a:rPr>
              <a:t>🚨 Critical Permission · 此 section 涉及 markup 商業核心邏輯 · 僅限 admin / CFO / 採購主管 / DPM / 資深業務(自己案)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1520" y="6263640"/>
            <a:ext cx="109728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F172A"/>
                </a:solidFill>
                <a:latin typeface="Microsoft JhengHei"/>
              </a:rPr>
              <a:t>業務助理 / 一般 member / 工程 / Observer 看到 ▒▒▒ 黑屏 · 所有觀看記錄入 audit_log · 不可截圖外傳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48640" y="6492240"/>
            <a:ext cx="111556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900" b="0">
                <a:solidFill>
                  <a:srgbClr val="06B6D4"/>
                </a:solidFill>
                <a:latin typeface="Microsoft JhengHei"/>
              </a:rPr>
              <a:t>💡 v0.7 完整 demo · docs/Cortex_互動Demo_v0.7.html · 點 [§Margin Analysis] section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Cortex 通用專案管理平台 — 主管簡報 v3</dc:title>
  <dc:subject>PptxGenJS Presentation</dc:subject>
  <dc:creator>Cortex 規劃小組</dc:creator>
  <cp:lastModifiedBy>Cortex 規劃小組</cp:lastModifiedBy>
  <cp:revision>1</cp:revision>
  <dcterms:created xsi:type="dcterms:W3CDTF">2026-05-04T05:26:02Z</dcterms:created>
  <dcterms:modified xsi:type="dcterms:W3CDTF">2026-05-04T05:26:02Z</dcterms:modified>
</cp:coreProperties>
</file>