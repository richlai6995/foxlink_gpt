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3657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6B6D4"/>
                </a:solidFill>
                <a:latin typeface="Microsoft JhengHei"/>
              </a:rPr>
              <a:t>ARCHITECTURE REPORT · v3 加 Qty / Multi-PKG / True-Quote Markup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Microsoft JhengHei"/>
              </a:rPr>
              <a:t>BOM 資料收集模組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4800" b="1">
                <a:solidFill>
                  <a:srgbClr val="FFFFFF"/>
                </a:solidFill>
                <a:latin typeface="Microsoft JhengHei"/>
              </a:rPr>
              <a:t>架構報告 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F1F5F9"/>
                </a:solidFill>
                <a:latin typeface="Microsoft JhengHei"/>
              </a:rPr>
              <a:t>From Excel 痛點 → 結構化 / ERP 對齊 / 版本鎖定 / 跨案重用 / Markup 揭露 的 BOM</a:t>
            </a:r>
          </a:p>
        </p:txBody>
      </p:sp>
      <p:sp>
        <p:nvSpPr>
          <p:cNvPr id="8" name="Rectangle 7"/>
          <p:cNvSpPr/>
          <p:nvPr/>
        </p:nvSpPr>
        <p:spPr>
          <a:xfrm>
            <a:off x="563727" y="5120640"/>
            <a:ext cx="2103120" cy="7772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3727" y="516636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6B6D4"/>
                </a:solidFill>
                <a:latin typeface="Microsoft JhengHei"/>
              </a:rPr>
              <a:t>業務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3727" y="55321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Microsoft JhengHei"/>
              </a:rPr>
              <a:t>幾乎沒變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04007" y="5120640"/>
            <a:ext cx="2103120" cy="7772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4007" y="516636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6B6D4"/>
                </a:solidFill>
                <a:latin typeface="Microsoft JhengHei"/>
              </a:rPr>
              <a:t>DPM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4007" y="55321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Microsoft JhengHei"/>
              </a:rPr>
              <a:t>+ Lock 動作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44287" y="5120640"/>
            <a:ext cx="2103120" cy="7772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4287" y="516636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6B6D4"/>
                </a:solidFill>
                <a:latin typeface="Microsoft JhengHei"/>
              </a:rPr>
              <a:t>採購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4287" y="55321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Microsoft JhengHei"/>
              </a:rPr>
              <a:t>+ ERP 上次價 + Markup 填法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84567" y="5120640"/>
            <a:ext cx="2103120" cy="7772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84567" y="516636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6B6D4"/>
                </a:solidFill>
                <a:latin typeface="Microsoft JhengHei"/>
              </a:rPr>
              <a:t>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4567" y="55321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Microsoft JhengHei"/>
              </a:rPr>
              <a:t>+ AI 助手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24847" y="5120640"/>
            <a:ext cx="2103120" cy="7772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24847" y="516636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6B6D4"/>
                </a:solidFill>
                <a:latin typeface="Microsoft JhengHei"/>
              </a:rPr>
              <a:t>EPM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4847" y="553212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Microsoft JhengHei"/>
              </a:rPr>
              <a:t>Cleansheet → 矩陣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126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6B6D4"/>
                </a:solidFill>
                <a:latin typeface="Microsoft JhengHei"/>
              </a:rPr>
              <a:t>💡 一份結構化 · 跟 ERP 對齊 · 版本鎖定 · 可跨案重用 · True/Quote 雙價 · Markup 揭露 的 BOM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基於 SD bom-collection-sd v0.4 + cleansheet-mva-sd v0.3 · 對齊 spec v0.5 + USER 三新需求(2026-06-06)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4F72"/>
                </a:solidFill>
                <a:latin typeface="Microsoft JhengHei"/>
              </a:rPr>
              <a:t>§A 開場 · 一頁懂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2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BOM 資料收集模組架構報告 · v3.0 · 2026-06-06 · Cortex 規劃小組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6B6D4"/>
                </a:solidFill>
                <a:latin typeface="Microsoft JhengHei"/>
              </a:rPr>
              <a:t>TL;DR · 一頁懂(v3 升級版)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0A2540"/>
                </a:solidFill>
                <a:latin typeface="Microsoft JhengHei"/>
              </a:rPr>
              <a:t>一頁懂 · 從 Excel 痛點到結構化 BOM(v3 加 3 新維度)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Microsoft JhengHei"/>
              </a:rPr>
              <a:t>30 秒總覽 · v2 三概念 + v3 新增 Qty / Multi-PKG / True-Quote Markup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127" y="2377440"/>
            <a:ext cx="2194560" cy="2194560"/>
          </a:xfrm>
          <a:prstGeom prst="rect">
            <a:avLst/>
          </a:prstGeom>
          <a:solidFill>
            <a:srgbClr val="FAFBFC"/>
          </a:solidFill>
          <a:ln w="1905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127" y="24688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06B6D4"/>
                </a:solidFill>
                <a:latin typeface="Microsoft JhengHei"/>
              </a:rP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127" y="29718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6B6D4"/>
                </a:solidFill>
                <a:latin typeface="Microsoft JhengHei"/>
              </a:rPr>
              <a:t>核心承諾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567" y="3383280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結構化 · ERP 對齊 · 版本鎖定 · 跨案重用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66847" y="2377440"/>
            <a:ext cx="2194560" cy="2194560"/>
          </a:xfrm>
          <a:prstGeom prst="rect">
            <a:avLst/>
          </a:prstGeom>
          <a:solidFill>
            <a:srgbClr val="FAFBFC"/>
          </a:solidFill>
          <a:ln w="1905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66847" y="24688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0EA5E9"/>
                </a:solidFill>
                <a:latin typeface="Microsoft JhengHei"/>
              </a:rPr>
              <a:t>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66847" y="29718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EA5E9"/>
                </a:solidFill>
                <a:latin typeface="Microsoft JhengHei"/>
              </a:rPr>
              <a:t>四件具體事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8287" y="3383280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① 層級化 BOM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② ERP 連動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③ AI 輔助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④ Lock propagate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98567" y="2377440"/>
            <a:ext cx="2194560" cy="2194560"/>
          </a:xfrm>
          <a:prstGeom prst="rect">
            <a:avLst/>
          </a:prstGeom>
          <a:solidFill>
            <a:srgbClr val="FAFBFC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98567" y="24688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16A34A"/>
                </a:solidFill>
                <a:latin typeface="Microsoft JhengHei"/>
              </a:rPr>
              <a:t>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8567" y="29718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6A34A"/>
                </a:solidFill>
                <a:latin typeface="Microsoft JhengHei"/>
              </a:rPr>
              <a:t>三個原概念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0007" y="3383280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① Variant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② Multi-Factory Matrix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③ MVA ✅ 已拍板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30287" y="2377440"/>
            <a:ext cx="2194560" cy="2194560"/>
          </a:xfrm>
          <a:prstGeom prst="rect">
            <a:avLst/>
          </a:prstGeom>
          <a:solidFill>
            <a:srgbClr val="FAFBFC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30287" y="24688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6D28D9"/>
                </a:solidFill>
                <a:latin typeface="Microsoft JhengHei"/>
              </a:rPr>
              <a:t>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0287" y="29718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6D28D9"/>
                </a:solidFill>
                <a:latin typeface="Microsoft JhengHei"/>
              </a:rPr>
              <a:t>v3 新增 2 維度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1727" y="3383280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④ Multi-PKG(商包/工包)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⑤ Qty Scenario(Low/High)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62007" y="2377440"/>
            <a:ext cx="2194560" cy="2194560"/>
          </a:xfrm>
          <a:prstGeom prst="rect">
            <a:avLst/>
          </a:prstGeom>
          <a:solidFill>
            <a:srgbClr val="FAFBFC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62007" y="24688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B91C1C"/>
                </a:solidFill>
                <a:latin typeface="Microsoft JhengHei"/>
              </a:rPr>
              <a:t>🔒🔒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62007" y="29718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B91C1C"/>
                </a:solidFill>
                <a:latin typeface="Microsoft JhengHei"/>
              </a:rPr>
              <a:t>v3 揭露 markup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53447" y="3383280"/>
            <a:ext cx="2011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True Cost vs Quote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每料件 markup 計算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VIEW_TRUE_COST 權限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937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B4F72"/>
                </a:solidFill>
                <a:latin typeface="Microsoft JhengHei"/>
              </a:rPr>
              <a:t>💬 心智模型 · 各角色的工作分工 (v3 升級)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3163" y="5349240"/>
            <a:ext cx="2057400" cy="9144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3163" y="5422392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6B6D4"/>
                </a:solidFill>
                <a:latin typeface="Microsoft JhengHei"/>
              </a:rPr>
              <a:t>RD · 出結構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163" y="580644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Microsoft JhengHei"/>
              </a:rPr>
              <a:t>這台機器需要哪些零件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45155" y="5349240"/>
            <a:ext cx="2057400" cy="9144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45155" y="5422392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6B6D4"/>
                </a:solidFill>
                <a:latin typeface="Microsoft JhengHei"/>
              </a:rPr>
              <a:t>採購 · 出價(雙價)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45155" y="580644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Microsoft JhengHei"/>
              </a:rPr>
              <a:t>True $ 跟 Quote $ 都填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67147" y="5349240"/>
            <a:ext cx="2057400" cy="9144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67147" y="5422392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6B6D4"/>
                </a:solidFill>
                <a:latin typeface="Microsoft JhengHei"/>
              </a:rPr>
              <a:t>EPM · 出製造端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67147" y="580644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Microsoft JhengHei"/>
              </a:rPr>
              <a:t>三廠 Cleansheet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89139" y="5349240"/>
            <a:ext cx="2057400" cy="9144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89139" y="5422392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6B6D4"/>
                </a:solidFill>
                <a:latin typeface="Microsoft JhengHei"/>
              </a:rPr>
              <a:t>DPM · 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9139" y="580644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Microsoft JhengHei"/>
              </a:rPr>
              <a:t>Lock + 全 24 cells propagate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11131" y="5349240"/>
            <a:ext cx="2057400" cy="9144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11131" y="5422392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6B6D4"/>
                </a:solidFill>
                <a:latin typeface="Microsoft JhengHei"/>
              </a:rPr>
              <a:t>業務 · 簽核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11131" y="580644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Microsoft JhengHei"/>
              </a:rPr>
              <a:t>拿鎖定版去 customer 報價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4F72"/>
                </a:solidFill>
                <a:latin typeface="Microsoft JhengHei"/>
              </a:rPr>
              <a:t>§A 開場 · 9 個 Excel 時代痛點(v3 補 2 個)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3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BOM 資料收集模組架構報告 · v3.0 · 2026-06-06 · Cortex 規劃小組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6B6D4"/>
                </a:solidFill>
                <a:latin typeface="Microsoft JhengHei"/>
              </a:rPr>
              <a:t>PROBLEM STATEMENT · 9 個 Excel 時代痛點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0A2540"/>
                </a:solidFill>
                <a:latin typeface="Microsoft JhengHei"/>
              </a:rPr>
              <a:t>我們在解決什麼問題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Microsoft JhengHei"/>
              </a:rPr>
              <a:t>今天 RD / 採購 / 財務 / 業務手上散落 N 份 Excel + 隱性知識 + 黑盒 markup,N 份 Excel = N 個問題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11155680" cy="4572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6B6D4"/>
                </a:solidFill>
                <a:latin typeface="Microsoft JhengHei"/>
              </a:rPr>
              <a:t>痛點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2860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6B6D4"/>
                </a:solidFill>
                <a:latin typeface="Microsoft JhengHei"/>
              </a:rPr>
              <a:t>帶來的問題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51760"/>
            <a:ext cx="11155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1576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Microsoft JhengHei"/>
              </a:rPr>
              <a:t>BOM 結構分散在 Excel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715768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同子料各案命名不同,後續分析湊不起來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17520"/>
            <a:ext cx="1115568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08152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Microsoft JhengHei"/>
              </a:rPr>
              <a:t>同件子料,不同案不同價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081528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沒有版本、沒有有效期,不知道這個價是何時詢的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383280"/>
            <a:ext cx="11155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4728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Microsoft JhengHei"/>
              </a:rPr>
              <a:t>多 variant(黑/白)資料無處放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447288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兩份 Excel 各跑一遍,共用件改一次漏改一次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749039"/>
            <a:ext cx="1115568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813047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Microsoft JhengHei"/>
              </a:rPr>
              <a:t>多廠成本對照混亂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813047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三廠 EPM 各自 Cleansheet Excel,看價差靠手抄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114800"/>
            <a:ext cx="11155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7880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Microsoft JhengHei"/>
              </a:rPr>
              <a:t>NRE 11 項各案重做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178808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沒有「上次相同客戶 NRE 怎麼壓的」歷史對照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480560"/>
            <a:ext cx="1115568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54456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Microsoft JhengHei"/>
              </a:rPr>
              <a:t>業務簽核時 BOM 可能已被改過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544568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沒有 lock,簽完後 RD 還能動,品質風險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846320"/>
            <a:ext cx="11155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91032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D28D9"/>
                </a:solidFill>
                <a:latin typeface="Microsoft JhengHei"/>
              </a:rPr>
              <a:t>🆕 同 mfg 不同批量無法平行報價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4910328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客戶問「100K vs 418K 各多少?」採購要重做兩次 Excel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212080"/>
            <a:ext cx="1115568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27608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D28D9"/>
                </a:solidFill>
                <a:latin typeface="Microsoft JhengHei"/>
              </a:rPr>
              <a:t>🆕 商包/工包要分別報價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5276088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Excel 多個 PKG sheet 散著,版本對不齊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577840"/>
            <a:ext cx="111556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64184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D28D9"/>
                </a:solidFill>
                <a:latin typeface="Microsoft JhengHei"/>
              </a:rPr>
              <a:t>🆕 Markup 隱藏在採購腦中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5641848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True Cost vs Quote 差幾 % 沒人記得 · 主管要看 margin 靠採購寫信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12648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6B6D4"/>
                </a:solidFill>
                <a:latin typeface="Microsoft JhengHei"/>
              </a:rPr>
              <a:t>✨ v3 核心承諾 · 一份結構化 / ERP 對齊 / 版本鎖定 / 跨案重用 / 多 Qty 多 PKG / Markup 透明 的 BOM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4F72"/>
                </a:solidFill>
                <a:latin typeface="Microsoft JhengHei"/>
              </a:rPr>
              <a:t>§A 開場 · Workflow 3 Stage 接力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4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BOM 資料收集模組架構報告 · v3.0 · 2026-06-06 · Cortex 規劃小組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6B6D4"/>
                </a:solidFill>
                <a:latin typeface="Microsoft JhengHei"/>
              </a:rPr>
              <a:t>WORKFLOW · 3 個 Stage 接力(v3 升級)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0A2540"/>
                </a:solidFill>
                <a:latin typeface="Microsoft JhengHei"/>
              </a:rPr>
              <a:t>整體工作流 · Stage 4 → 5 → 6 →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Microsoft JhengHei"/>
              </a:rPr>
              <a:t>RD 出結構 → 採購出雙價(True+Quote)+ EPM 出 Cleansheet → DPM 鎖 + propagate 24 cells → 業務簽核</a:t>
            </a:r>
          </a:p>
        </p:txBody>
      </p:sp>
      <p:sp>
        <p:nvSpPr>
          <p:cNvPr id="8" name="Rectangle 7"/>
          <p:cNvSpPr/>
          <p:nvPr/>
        </p:nvSpPr>
        <p:spPr>
          <a:xfrm>
            <a:off x="495147" y="2286000"/>
            <a:ext cx="2697480" cy="6400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5147" y="233172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6B6D4"/>
                </a:solidFill>
                <a:latin typeface="Microsoft JhengHei"/>
              </a:rPr>
              <a:t>Stage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147" y="2606040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BOM 提供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5147" y="2926080"/>
            <a:ext cx="269748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5147" y="297180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👥 RD / EE / 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147" y="3291840"/>
            <a:ext cx="26974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307" y="3383280"/>
            <a:ext cx="242316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在 BOM Form 建子料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(EE 共用、ME 分 variant)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🤖 AI 自動搜 ERP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· 找最像的料號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· 上次採購廠商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· 歷史價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RD 點「採用」即可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242627" y="4023360"/>
            <a:ext cx="137160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29787" y="2286000"/>
            <a:ext cx="2697480" cy="6400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29787" y="233172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6B6D4"/>
                </a:solidFill>
                <a:latin typeface="Microsoft JhengHei"/>
              </a:rPr>
              <a:t>Stage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29787" y="2606040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並行 Collect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29787" y="2926080"/>
            <a:ext cx="269748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29787" y="297180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👥 採購 + 三廠 EPM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29787" y="3291840"/>
            <a:ext cx="26974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66947" y="3383280"/>
            <a:ext cx="242316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🆕 採購對每子料補: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· mfg 選項(多家)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· 報價快照(N tier)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· 🔒 True $ + 🟢 Quote $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· 採購策略(選哪家)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🆕 各 PKG 版本獨立補: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· 商包 16 items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· 工包 3 items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三廠 EPM 跑 Cleansheet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077267" y="4023360"/>
            <a:ext cx="137160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64427" y="2286000"/>
            <a:ext cx="2697480" cy="6400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64427" y="233172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6B6D4"/>
                </a:solidFill>
                <a:latin typeface="Microsoft JhengHei"/>
              </a:rPr>
              <a:t>Stage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64427" y="2606040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BOM Cost Review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4427" y="2926080"/>
            <a:ext cx="269748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64427" y="297180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👥 DPM + BPM + RD + 採購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64427" y="3291840"/>
            <a:ext cx="26974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1587" y="3383280"/>
            <a:ext cx="242316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DPM 開審查會 → 鎖 BOM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🆕 系統自動 propagate: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· 24 cells(3廠×2variant×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  2qty×2pkg)True+Quote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· 每 cell 自動算 margin %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· 跨 scenario 對比表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· 後續變更走 ECN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8911907" y="4023360"/>
            <a:ext cx="137160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99067" y="2286000"/>
            <a:ext cx="2697480" cy="6400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99067" y="233172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6B6D4"/>
                </a:solidFill>
                <a:latin typeface="Microsoft JhengHei"/>
              </a:rPr>
              <a:t>Stage 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99067" y="2606040"/>
            <a:ext cx="2697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業務 Gate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99067" y="2926080"/>
            <a:ext cx="2697480" cy="365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99067" y="297180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👥 業務 + 業務助理 + BPM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99067" y="3291840"/>
            <a:ext cx="269748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36227" y="3383280"/>
            <a:ext cx="242316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拿鎖定版去 customer 報價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🆕 業務看 Quote $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🔒🔒 業務主管看 Margin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   (VIEW_TRUE_COST 權限)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客戶議價 → 新 cs_run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舊 run.status='archived'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1264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D28D9"/>
                </a:solidFill>
                <a:latin typeface="Microsoft JhengHei"/>
              </a:rPr>
              <a:t>💡 v3 加強:採購填雙價 / 多 PKG 並存 / Lock 觸發 propagate 全 24 cells(v2 只 6 cells)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4F72"/>
                </a:solidFill>
                <a:latin typeface="Microsoft JhengHei"/>
              </a:rPr>
              <a:t>§B 核心概念 · 5 個新概念(v3 加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5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BOM 資料收集模組架構報告 · v3.0 · 2026-06-06 · Cortex 規劃小組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6B6D4"/>
                </a:solidFill>
                <a:latin typeface="Microsoft JhengHei"/>
              </a:rPr>
              <a:t>CORE CONCEPTS · 5 個 Excel 時代沒有的新概念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0A2540"/>
                </a:solidFill>
                <a:latin typeface="Microsoft JhengHei"/>
              </a:rPr>
              <a:t>五個核心新概念 · 總覽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Microsoft JhengHei"/>
              </a:rPr>
              <a:t>原 v2 三概念(Variant / Multi-Factory Matrix / MVA)+ v3 加 Multi-PKG / Qty Scenario · 後續分頁深入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127" y="2286000"/>
            <a:ext cx="2194560" cy="4023360"/>
          </a:xfrm>
          <a:prstGeom prst="rect">
            <a:avLst/>
          </a:prstGeom>
          <a:solidFill>
            <a:srgbClr val="FAFBFC"/>
          </a:solidFill>
          <a:ln w="254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8007" y="2377440"/>
            <a:ext cx="365760" cy="3657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8007" y="23957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207" y="23317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0EA5E9"/>
                </a:solidFill>
                <a:latin typeface="Microsoft JhengHei"/>
              </a:rPr>
              <a:t>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287" y="283464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EA5E9"/>
                </a:solidFill>
                <a:latin typeface="Microsoft JhengHei"/>
              </a:rPr>
              <a:t>Variant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287" y="320040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同案多版本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287" y="3566160"/>
            <a:ext cx="192024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📌 Black 80% / White 20%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· EE BOM → 共用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· ME BOM → per-variant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· Material → per-variant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📐 Phase 1 限制:單軸 ≤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287" y="598932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EA5E9"/>
                </a:solidFill>
                <a:latin typeface="Microsoft JhengHei"/>
              </a:rPr>
              <a:t>→ p.6 深入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66847" y="2286000"/>
            <a:ext cx="2194560" cy="4023360"/>
          </a:xfrm>
          <a:prstGeom prst="rect">
            <a:avLst/>
          </a:prstGeom>
          <a:solidFill>
            <a:srgbClr val="FAFBFC"/>
          </a:solidFill>
          <a:ln w="254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49727" y="2377440"/>
            <a:ext cx="365760" cy="36576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49727" y="23957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06927" y="23317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1B4F72"/>
                </a:solidFill>
                <a:latin typeface="Microsoft JhengHei"/>
              </a:rPr>
              <a:t>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04007" y="283464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B4F72"/>
                </a:solidFill>
                <a:latin typeface="Microsoft JhengHei"/>
              </a:rPr>
              <a:t>Multi-Factory Matrix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04007" y="320040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多廠成本矩陣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04007" y="3566160"/>
            <a:ext cx="192024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📌 CN / VN / TW 三廠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· 3 廠 × 2 variants × 2 qty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  × 2 pkg = 24 cells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· True + Quote 雙價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· 每 cell 自動算 margin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4007" y="598932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1B4F72"/>
                </a:solidFill>
                <a:latin typeface="Microsoft JhengHei"/>
              </a:rPr>
              <a:t>→ p.7 深入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98567" y="2286000"/>
            <a:ext cx="2194560" cy="4023360"/>
          </a:xfrm>
          <a:prstGeom prst="rect">
            <a:avLst/>
          </a:prstGeom>
          <a:solidFill>
            <a:srgbClr val="FAFBFC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81447" y="2377440"/>
            <a:ext cx="365760" cy="36576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81447" y="23957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38647" y="23317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16A34A"/>
                </a:solidFill>
                <a:latin typeface="Microsoft JhengHei"/>
              </a:rPr>
              <a:t>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35727" y="283464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6A34A"/>
                </a:solidFill>
                <a:latin typeface="Microsoft JhengHei"/>
              </a:rPr>
              <a:t>MVA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35727" y="320040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Manufacturing Value Add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35727" y="3566160"/>
            <a:ext cx="192024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📌 ✅ 已拍板(v0.3)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· 9 製程 × 9 cost component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· per factory + per qty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· 低量 → MVA × 1.4 (lines util)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· Cleansheet 全結構化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35727" y="598932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16A34A"/>
                </a:solidFill>
                <a:latin typeface="Microsoft JhengHei"/>
              </a:rPr>
              <a:t>→ p.8 深入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30287" y="2286000"/>
            <a:ext cx="2194560" cy="4023360"/>
          </a:xfrm>
          <a:prstGeom prst="rect">
            <a:avLst/>
          </a:prstGeom>
          <a:solidFill>
            <a:srgbClr val="FAFBFC"/>
          </a:solidFill>
          <a:ln w="254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513167" y="2377440"/>
            <a:ext cx="365760" cy="36576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13167" y="23957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70367" y="23317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6D28D9"/>
                </a:solidFill>
                <a:latin typeface="Microsoft JhengHei"/>
              </a:rPr>
              <a:t>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7447" y="283464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6D28D9"/>
                </a:solidFill>
                <a:latin typeface="Microsoft JhengHei"/>
              </a:rPr>
              <a:t>Multi-PKG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67447" y="320040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商包 / 工包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67447" y="3566160"/>
            <a:ext cx="192024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📌 🆕 v3 新增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· 商包 RETAIL 16 items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· 工包 BULK 3 items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· 不限數量(N 版本)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· 每 PKG 一份 BOM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67447" y="598932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D28D9"/>
                </a:solidFill>
                <a:latin typeface="Microsoft JhengHei"/>
              </a:rPr>
              <a:t>→ p.9 深入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62007" y="2286000"/>
            <a:ext cx="2194560" cy="4023360"/>
          </a:xfrm>
          <a:prstGeom prst="rect">
            <a:avLst/>
          </a:prstGeom>
          <a:solidFill>
            <a:srgbClr val="FAFBFC"/>
          </a:solidFill>
          <a:ln w="254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844887" y="2377440"/>
            <a:ext cx="365760" cy="3657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44887" y="23957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02087" y="23317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B45309"/>
                </a:solidFill>
                <a:latin typeface="Microsoft JhengHei"/>
              </a:rPr>
              <a:t>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99167" y="283464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B45309"/>
                </a:solidFill>
                <a:latin typeface="Microsoft JhengHei"/>
              </a:rPr>
              <a:t>Qty Scenario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99167" y="320040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Low / High 並存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99167" y="3566160"/>
            <a:ext cx="192024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📌 🆕 v3 新增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· Low Qty 100K(US 專屬)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· High Qty 418K(全球)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· 影響 mfg tier + MVA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· 同案多 scenario 並存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99167" y="598932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B45309"/>
                </a:solidFill>
                <a:latin typeface="Microsoft JhengHei"/>
              </a:rPr>
              <a:t>→ p.10 深入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D28D9"/>
                </a:solidFill>
                <a:latin typeface="Microsoft JhengHei"/>
              </a:rPr>
              <a:t>💡 v3 在 v2 三概念上加 2 個(④⑤)· 主要回應「Excel Unit Cost sheet 5 個 quote 版本 + 6 個 PKG sheet 散落」現實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4F72"/>
                </a:solidFill>
                <a:latin typeface="Microsoft JhengHei"/>
              </a:rPr>
              <a:t>§B Concept 1 · Variant 深入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6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BOM 資料收集模組架構報告 · v3.0 · 2026-06-06 · Cortex 規劃小組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6B6D4"/>
                </a:solidFill>
                <a:latin typeface="Microsoft JhengHei"/>
              </a:rPr>
              <a:t>CONCEPT ① · VARIANT 同案多版本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0A2540"/>
                </a:solidFill>
                <a:latin typeface="Microsoft JhengHei"/>
              </a:rPr>
              <a:t>概念一 · Variant(同案多版本)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Microsoft JhengHei"/>
              </a:rPr>
              <a:t>一個專案,一份 BOM,標記哪些欄位「共用」、哪些「依 variant 不同」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5577840" cy="1371600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B91C1C"/>
                </a:solidFill>
                <a:latin typeface="Microsoft JhengHei"/>
              </a:rPr>
              <a:t>❌ 過去做法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兩個專案 / 兩份 BOM Excel · 維護一次改兩次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B91C1C"/>
                </a:solidFill>
                <a:latin typeface="Microsoft JhengHei"/>
              </a:rPr>
              <a:t>💢 共用件改一次漏改一次 · 雙倍工作量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286000"/>
            <a:ext cx="5577840" cy="13716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37744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6A34A"/>
                </a:solidFill>
                <a:latin typeface="Microsoft JhengHei"/>
              </a:rPr>
              <a:t>✅ 新做法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74320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一個專案,一份 BOM · 欄位標 共用 / per-variant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24612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6A34A"/>
                </a:solidFill>
                <a:latin typeface="Microsoft JhengHei"/>
              </a:rPr>
              <a:t>💚 共用件改一次 · 所有 variant 同步更新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B4F72"/>
                </a:solidFill>
                <a:latin typeface="Microsoft JhengHei"/>
              </a:rPr>
              <a:t>📋 SteelSeries Rival 3+ 範例 · 欄位拆分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297680"/>
            <a:ext cx="11155680" cy="292608"/>
          </a:xfrm>
          <a:prstGeom prst="rect">
            <a:avLst/>
          </a:prstGeom>
          <a:solidFill>
            <a:srgbClr val="1B4F72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343400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6B6D4"/>
                </a:solidFill>
                <a:latin typeface="Microsoft JhengHei"/>
              </a:rPr>
              <a:t>欄位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34340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6B6D4"/>
                </a:solidFill>
                <a:latin typeface="Microsoft JhengHei"/>
              </a:rPr>
              <a:t>共用 vs Per-Variant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34340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6B6D4"/>
                </a:solidFill>
                <a:latin typeface="Microsoft JhengHei"/>
              </a:rPr>
              <a:t>範例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590288"/>
            <a:ext cx="111556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636008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EE BOM (主板/電子料)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63600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共用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636008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Black/White 都用同一塊 PCB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882896"/>
            <a:ext cx="11155680" cy="292608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928616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ME BOM (機構件)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4928616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Per-Variant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928616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Black 啞光黑塑膠 / White 珍珠白塑膠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175504"/>
            <a:ext cx="111556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221224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Material Cost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5221224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Per-Variant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5221224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Black $8.52 / White $8.73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468112"/>
            <a:ext cx="11155680" cy="292608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51383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年量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551383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Per-Variant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5513832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Black 334K / White 84K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760720"/>
            <a:ext cx="111556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806440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MVA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0" y="580644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共用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580644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MVA 看製程不看料色,黑白共用 $1.86 (CN)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6053328"/>
            <a:ext cx="11155680" cy="292608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6099048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PKG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609904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共用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6099048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同款 gift box,僅 logo 顏色不同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📐 Phase 1 約束(spec §11.3.5)· 單軸(只一個軸,不能兩個交叉)· 變體數 ≤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4F72"/>
                </a:solidFill>
                <a:latin typeface="Microsoft JhengHei"/>
              </a:rPr>
              <a:t>§B Concept 2 · Multi-Factory Matrix(v3 升級 24 cells)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7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BOM 資料收集模組架構報告 · v3.0 · 2026-06-06 · Cortex 規劃小組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6B6D4"/>
                </a:solidFill>
                <a:latin typeface="Microsoft JhengHei"/>
              </a:rPr>
              <a:t>CONCEPT ② · MULTI-FACTORY COST MATRIX(v3)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0A2540"/>
                </a:solidFill>
                <a:latin typeface="Microsoft JhengHei"/>
              </a:rPr>
              <a:t>概念二 · 多廠成本矩陣 · 24 cells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Microsoft JhengHei"/>
              </a:rPr>
              <a:t>v2 是 6 cells(3廠×2variant)· v3 升級 24 cells(× 2 qty × 2 pkg)· True+Quote+Margin 全展開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11155680" cy="36576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6771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6B6D4"/>
                </a:solidFill>
                <a:latin typeface="Microsoft JhengHei"/>
              </a:rPr>
              <a:t>📊 主視角(預設):HIGH qty(418K)+ RETAIL pkg(商包 16 items)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267712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F1F5F9"/>
                </a:solidFill>
                <a:latin typeface="Microsoft JhengHei"/>
              </a:rPr>
              <a:t>點 toggle 可切到其他 3 scenarios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06040"/>
            <a:ext cx="3840480" cy="6400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88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6B6D4"/>
                </a:solidFill>
                <a:latin typeface="Microsoft JhengHei"/>
              </a:rPr>
              <a:t>Cost 項目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606040"/>
            <a:ext cx="2441448" cy="640080"/>
          </a:xfrm>
          <a:prstGeom prst="rect">
            <a:avLst/>
          </a:prstGeom>
          <a:solidFill>
            <a:srgbClr val="E0E7FF"/>
          </a:solidFill>
          <a:ln w="1270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651760"/>
            <a:ext cx="24414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3730A3"/>
                </a:solidFill>
                <a:latin typeface="Microsoft JhengHei"/>
              </a:rPr>
              <a:t>CN 廠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3730A3"/>
                </a:solidFill>
                <a:latin typeface="Microsoft JhengHei"/>
              </a:rPr>
              <a:t>Option 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30568" y="2606040"/>
            <a:ext cx="2441448" cy="640080"/>
          </a:xfrm>
          <a:prstGeom prst="rect">
            <a:avLst/>
          </a:prstGeom>
          <a:solidFill>
            <a:srgbClr val="FED7AA"/>
          </a:solidFill>
          <a:ln w="12700">
            <a:solidFill>
              <a:srgbClr val="9A34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0568" y="2651760"/>
            <a:ext cx="24414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9A3412"/>
                </a:solidFill>
                <a:latin typeface="Microsoft JhengHei"/>
              </a:rPr>
              <a:t>VN 廠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9A3412"/>
                </a:solidFill>
                <a:latin typeface="Microsoft JhengHei"/>
              </a:rPr>
              <a:t>Option 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72016" y="2606040"/>
            <a:ext cx="2432304" cy="640080"/>
          </a:xfrm>
          <a:prstGeom prst="rect">
            <a:avLst/>
          </a:prstGeom>
          <a:solidFill>
            <a:srgbClr val="BBF7D0"/>
          </a:solidFill>
          <a:ln w="1270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72016" y="2651760"/>
            <a:ext cx="24323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66534"/>
                </a:solidFill>
                <a:latin typeface="Microsoft JhengHei"/>
              </a:rPr>
              <a:t>TW 廠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66534"/>
                </a:solidFill>
                <a:latin typeface="Microsoft JhengHei"/>
              </a:rPr>
              <a:t>Option 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246120"/>
            <a:ext cx="384048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2918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PRIME COST (Matl+Labor) 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3246120"/>
            <a:ext cx="2441448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3291840"/>
            <a:ext cx="24414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$10.373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30568" y="3246120"/>
            <a:ext cx="2441448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30568" y="3291840"/>
            <a:ext cx="24414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$10.356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72016" y="3246120"/>
            <a:ext cx="2432304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72016" y="3291840"/>
            <a:ext cx="24323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$11.840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566160"/>
            <a:ext cx="384048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6118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PRIME COST (Matl+Labor) 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0" y="3566160"/>
            <a:ext cx="2441448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0" y="3611880"/>
            <a:ext cx="24414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$10.588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30568" y="3566160"/>
            <a:ext cx="2441448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30568" y="3611880"/>
            <a:ext cx="24414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$10.579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72016" y="3566160"/>
            <a:ext cx="2432304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72016" y="3611880"/>
            <a:ext cx="24323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$12.055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886200"/>
            <a:ext cx="384048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9319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SG&amp;A + Profit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89120" y="3886200"/>
            <a:ext cx="2441448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0" y="3931920"/>
            <a:ext cx="24414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$0.7500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30568" y="3886200"/>
            <a:ext cx="2441448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30568" y="3931920"/>
            <a:ext cx="24414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$0.7500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72016" y="3886200"/>
            <a:ext cx="2432304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72016" y="3931920"/>
            <a:ext cx="24323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$0.7500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206240"/>
            <a:ext cx="384048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2519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B91C1C"/>
                </a:solidFill>
                <a:latin typeface="Microsoft JhengHei"/>
              </a:rPr>
              <a:t>Total Cost Black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89120" y="4206240"/>
            <a:ext cx="2441448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9120" y="4251960"/>
            <a:ext cx="24414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B91C1C"/>
                </a:solidFill>
                <a:latin typeface="Microsoft JhengHei"/>
              </a:rPr>
              <a:t>$11.123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30568" y="4206240"/>
            <a:ext cx="2441448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30568" y="4251960"/>
            <a:ext cx="24414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B91C1C"/>
                </a:solidFill>
                <a:latin typeface="Microsoft JhengHei"/>
              </a:rPr>
              <a:t>$11.106 ⭐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72016" y="4206240"/>
            <a:ext cx="2432304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72016" y="4251960"/>
            <a:ext cx="24323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B91C1C"/>
                </a:solidFill>
                <a:latin typeface="Microsoft JhengHei"/>
              </a:rPr>
              <a:t>$12.590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4526280"/>
            <a:ext cx="384048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45720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B91C1C"/>
                </a:solidFill>
                <a:latin typeface="Microsoft JhengHei"/>
              </a:rPr>
              <a:t>Total Cost White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89120" y="4526280"/>
            <a:ext cx="2441448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89120" y="4572000"/>
            <a:ext cx="24414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B91C1C"/>
                </a:solidFill>
                <a:latin typeface="Microsoft JhengHei"/>
              </a:rPr>
              <a:t>$11.338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30568" y="4526280"/>
            <a:ext cx="2441448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30568" y="4572000"/>
            <a:ext cx="24414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B91C1C"/>
                </a:solidFill>
                <a:latin typeface="Microsoft JhengHei"/>
              </a:rPr>
              <a:t>$11.329 ⭐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72016" y="4526280"/>
            <a:ext cx="2432304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72016" y="4572000"/>
            <a:ext cx="24323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B91C1C"/>
                </a:solidFill>
                <a:latin typeface="Microsoft JhengHei"/>
              </a:rPr>
              <a:t>$12.750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49377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B4F72"/>
                </a:solidFill>
                <a:latin typeface="Microsoft JhengHei"/>
              </a:rPr>
              <a:t>📐 v3 矩陣結構(4 維度)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534924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F172A"/>
                </a:solidFill>
                <a:latin typeface="Microsoft JhengHei"/>
              </a:rPr>
              <a:t>工廠維度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43200" y="5349240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CN / VN / TW (3 個)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5550407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F172A"/>
                </a:solidFill>
                <a:latin typeface="Microsoft JhengHei"/>
              </a:rPr>
              <a:t>Variant 維度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43200" y="5550407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Black / White (2 個)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5751576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D28D9"/>
                </a:solidFill>
                <a:latin typeface="Microsoft JhengHei"/>
              </a:rPr>
              <a:t>🆕 Qty 維度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43200" y="5751576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Low 100K / High 418K (2 個)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" y="5952744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D28D9"/>
                </a:solidFill>
                <a:latin typeface="Microsoft JhengHei"/>
              </a:rPr>
              <a:t>🆕 PKG 維度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43200" y="5952744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商包 / 工包 (2 個)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1520" y="615391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F172A"/>
                </a:solidFill>
                <a:latin typeface="Microsoft JhengHei"/>
              </a:rPr>
              <a:t>Cell 總數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743200" y="6153912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3 × 2 × 2 × 2 = 24 cells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83680" y="49377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6A34A"/>
                </a:solidFill>
                <a:latin typeface="Microsoft JhengHei"/>
              </a:rPr>
              <a:t>💚 4 個 scenario · CN Black Total 比較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766560" y="5349240"/>
            <a:ext cx="4754880" cy="22860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903720" y="534924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Microsoft JhengHei"/>
              </a:rPr>
              <a:t>HIGH × RETAIL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01200" y="53492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B91C1C"/>
                </a:solidFill>
                <a:latin typeface="Consolas"/>
              </a:rPr>
              <a:t>$11.12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766560" y="5605272"/>
            <a:ext cx="4754880" cy="228600"/>
          </a:xfrm>
          <a:prstGeom prst="rect">
            <a:avLst/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903720" y="560527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Microsoft JhengHei"/>
              </a:rPr>
              <a:t>HIGH × BULK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601200" y="560527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B91C1C"/>
                </a:solidFill>
                <a:latin typeface="Consolas"/>
              </a:rPr>
              <a:t>$10.57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766560" y="5861304"/>
            <a:ext cx="4754880" cy="2286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903720" y="5861304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Microsoft JhengHei"/>
              </a:rPr>
              <a:t>LOW × RETAIL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601200" y="586130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B91C1C"/>
                </a:solidFill>
                <a:latin typeface="Consolas"/>
              </a:rPr>
              <a:t>$13.40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766560" y="6117336"/>
            <a:ext cx="4754880" cy="228600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903720" y="6117336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Microsoft JhengHei"/>
              </a:rPr>
              <a:t>LOW × BULK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601200" y="611733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B91C1C"/>
                </a:solidFill>
                <a:latin typeface="Consolas"/>
              </a:rPr>
              <a:t>$12.85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6B6D4"/>
                </a:solidFill>
                <a:latin typeface="Microsoft JhengHei"/>
              </a:rPr>
              <a:t>💡 矩陣帶來的 4 個好處 · 24 cells 一頁看完 · 任意 pivot · margin 透明 · BOM lock 後 propagate 全 24 cells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4F72"/>
                </a:solidFill>
                <a:latin typeface="Microsoft JhengHei"/>
              </a:rPr>
              <a:t>§B Concept 3 · MVA(v3 已拍板)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8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BOM 資料收集模組架構報告 · v3.0 · 2026-06-06 · Cortex 規劃小組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6B6D4"/>
                </a:solidFill>
                <a:latin typeface="Microsoft JhengHei"/>
              </a:rPr>
              <a:t>CONCEPT ③ · MVA · Manufacturing Value Add(v3 已拍板)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0A2540"/>
                </a:solidFill>
                <a:latin typeface="Microsoft JhengHei"/>
              </a:rPr>
              <a:t>概念三 · MVA(已拍板)+ qty 維度影響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Microsoft JhengHei"/>
              </a:rPr>
              <a:t>9 製程 × 9 cost component · per factory · qty 變 → MVA 變(lines util)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B4F72"/>
                </a:solidFill>
                <a:latin typeface="Microsoft JhengHei"/>
              </a:rPr>
              <a:t>🏗 MVA 結構(已拍板 v0.3)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53035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9 製程(MOUSE_STD template):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SMT / Wave / Router / Laser / BB Assy /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BB Test / Mat Mgmt / Q-SMT / Q-BB + Common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9 cost components: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DL / IDL / MRO / Depr / Indirect Mat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/ Facility / Freight / VAT / Loss Factor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計算精度:ε &lt; 0.01 vs Excel(USER 拍板)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Equipment / Consumables 雙層架構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· 廠 master(EPM 月更)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· 案 binding(line_qty / capacity ratio)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🆕 Qty scenario 影響: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weekly_output = lines × max_output_per_line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lines 變 → DL/IDL/Equip 攤提 per unit 全變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Low qty → MVA × 1.4(lines util 下降)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D28D9"/>
                </a:solidFill>
                <a:latin typeface="Microsoft JhengHei"/>
              </a:rPr>
              <a:t>📊 MVA × Qty Scenario 變動表(per factory)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606040"/>
            <a:ext cx="1097280" cy="36576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67919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6B6D4"/>
                </a:solidFill>
                <a:latin typeface="Microsoft JhengHei"/>
              </a:rPr>
              <a:t>Factory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0" y="2606040"/>
            <a:ext cx="1463040" cy="36576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267919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6B6D4"/>
                </a:solidFill>
                <a:latin typeface="Microsoft JhengHei"/>
              </a:rPr>
              <a:t>High Qty (418K)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2606040"/>
            <a:ext cx="1463040" cy="36576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267919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6B6D4"/>
                </a:solidFill>
                <a:latin typeface="Microsoft JhengHei"/>
              </a:rPr>
              <a:t>Low Qty (100K)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424160" y="2606040"/>
            <a:ext cx="914400" cy="36576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0" y="267919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6B6D4"/>
                </a:solidFill>
                <a:latin typeface="Microsoft JhengHei"/>
              </a:rPr>
              <a:t>Δ 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971800"/>
            <a:ext cx="10972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044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CN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80" y="2971800"/>
            <a:ext cx="14630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0" y="3044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$1.8558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2971800"/>
            <a:ext cx="14630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0" y="3044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$2.620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424160" y="2971800"/>
            <a:ext cx="9144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24160" y="3044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B91C1C"/>
                </a:solidFill>
                <a:latin typeface="Consolas"/>
              </a:rPr>
              <a:t>+41%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337560"/>
            <a:ext cx="1097280" cy="36576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4107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VN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0" y="3337560"/>
            <a:ext cx="1463040" cy="36576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0" y="341071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$1.4300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61120" y="3337560"/>
            <a:ext cx="1463040" cy="36576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0" y="341071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$2.020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424160" y="3337560"/>
            <a:ext cx="914400" cy="36576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60" y="341071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B91C1C"/>
                </a:solidFill>
                <a:latin typeface="Consolas"/>
              </a:rPr>
              <a:t>+41%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703320"/>
            <a:ext cx="109728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7764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TW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80" y="3703320"/>
            <a:ext cx="14630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0" y="377647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$3.2070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61120" y="3703320"/>
            <a:ext cx="14630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0" y="377647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$4.530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424160" y="3703320"/>
            <a:ext cx="9144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424160" y="37764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B91C1C"/>
                </a:solidFill>
                <a:latin typeface="Consolas"/>
              </a:rPr>
              <a:t>+41%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2976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6A34A"/>
                </a:solidFill>
                <a:latin typeface="Microsoft JhengHei"/>
              </a:rPr>
              <a:t>✅ USER 2026-06-02 拍板的 5 件事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466344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1. 計算引擎:允許 ε &lt; 0.01 浮點差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489204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2. Equipment blank/spare:初期 skip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512064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3. IDL multiplier:首次 import 抄 Excel cell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534924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4. Process Flow sheet:純文字註記(不結構化)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557784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5. cs_run reprice:軟刪除舊版(status='archived')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💡 SMT MVA = SMT+Wave+Router+Laser+Q-SMT = $1.21 · Assy MVA = Common+BB Assy+BB Test+Mat+Q-BB = $0.64 (CN)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4F72"/>
                </a:solidFill>
                <a:latin typeface="Microsoft JhengHei"/>
              </a:rPr>
              <a:t>§B Concept 4 · Multi-PKG(v3 新增)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9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BOM 資料收集模組架構報告 · v3.0 · 2026-06-06 · Cortex 規劃小組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6B6D4"/>
                </a:solidFill>
                <a:latin typeface="Microsoft JhengHei"/>
              </a:rPr>
              <a:t>CONCEPT ④ · MULTI-PKG · 商包 / 工包(v3 新增)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0A2540"/>
                </a:solidFill>
                <a:latin typeface="Microsoft JhengHei"/>
              </a:rPr>
              <a:t>概念四 · Multi-PKG(同案多版本)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Microsoft JhengHei"/>
              </a:rPr>
              <a:t>一案 N 個 PKG 版本並存 · 不同通路給不同 PKG · 對齊 Excel 6 個 PKG sheet 散落結構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5577840" cy="3291840"/>
          </a:xfrm>
          <a:prstGeom prst="rect">
            <a:avLst/>
          </a:prstGeom>
          <a:solidFill>
            <a:srgbClr val="E0E7FF"/>
          </a:solidFill>
          <a:ln w="254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B4F72"/>
                </a:solidFill>
                <a:latin typeface="Microsoft JhengHei"/>
              </a:rPr>
              <a:t>📦 RETAIL · 商包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16 items · 適用 retail / online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2423160"/>
            <a:ext cx="1097280" cy="2743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45059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B45309"/>
                </a:solidFill>
                <a:latin typeface="Microsoft JhengHei"/>
              </a:rPr>
              <a:t>★ Primary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108960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Gift Box · Inner Pad · Inner Partition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Seal Sticker × 2 · Bag for Product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Bag for Box · PIG · PID Label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Box Label · Language Label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Master Carton · Master Carton Label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SN Label · Logo Tape · Pallet · UN3481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029200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B4F72"/>
                </a:solidFill>
                <a:latin typeface="Consolas"/>
              </a:rPr>
              <a:t>True: $0.706 / Quote: $0.828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B4F72"/>
                </a:solidFill>
                <a:latin typeface="Consolas"/>
              </a:rPr>
              <a:t>Markup avg: 17.3%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286000"/>
            <a:ext cx="5577840" cy="3291840"/>
          </a:xfrm>
          <a:prstGeom prst="rect">
            <a:avLst/>
          </a:prstGeom>
          <a:solidFill>
            <a:srgbClr val="DCFCE7"/>
          </a:solidFill>
          <a:ln w="254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3774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D28D9"/>
                </a:solidFill>
                <a:latin typeface="Microsoft JhengHei"/>
              </a:rPr>
              <a:t>📦 BULK · 工包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6974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3 items · 適用 spare_parts / b2b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108960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Master Carton (大容量 10~12 / carton)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Master Carton Label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SN Label for Carton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Pallet Material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簡化:無 gift box / inner pad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/  PIG / language label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5029200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50749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D28D9"/>
                </a:solidFill>
                <a:latin typeface="Consolas"/>
              </a:rPr>
              <a:t>True: $0.182 / Quote: $0.275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D28D9"/>
                </a:solidFill>
                <a:latin typeface="Consolas"/>
              </a:rPr>
              <a:t>Markup avg: 51%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71500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91C1C"/>
                </a:solidFill>
                <a:latin typeface="Microsoft JhengHei"/>
              </a:rPr>
              <a:t>🔒🔒 Markup 案例 · Gift Box(同一件 PKG 物料兩個 PKG 版本各有不同 markup)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080760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Microsoft JhengHei"/>
              </a:rPr>
              <a:t>Gift Box · 紙盒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608076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B45309"/>
                </a:solidFill>
                <a:latin typeface="Consolas"/>
              </a:rPr>
              <a:t>True $0.20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608076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6A34A"/>
                </a:solidFill>
                <a:latin typeface="Consolas"/>
              </a:rPr>
              <a:t>Quote $0.30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6080760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B91C1C"/>
                </a:solidFill>
                <a:latin typeface="Consolas"/>
              </a:rPr>
              <a:t>Markup 52%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281928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Microsoft JhengHei"/>
              </a:rPr>
              <a:t>Master Carton(BULK 用)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628192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B45309"/>
                </a:solidFill>
                <a:latin typeface="Consolas"/>
              </a:rPr>
              <a:t>True $0.14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628192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6A34A"/>
                </a:solidFill>
                <a:latin typeface="Consolas"/>
              </a:rPr>
              <a:t>Quote $0.22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628192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B91C1C"/>
                </a:solidFill>
                <a:latin typeface="Consolas"/>
              </a:rPr>
              <a:t>Markup 51%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💡 兩個 PKG 版本獨立 BOM · 採購各補一份 · DPM lock 後 propagate 到對應的 factory matrix 12 cells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4F72"/>
                </a:solidFill>
                <a:latin typeface="Microsoft JhengHei"/>
              </a:rPr>
              <a:t>§B Concept 5 · Qty Scenario(v3 新增)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10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BOM 資料收集模組架構報告 · v3.0 · 2026-06-06 · Cortex 規劃小組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6B6D4"/>
                </a:solidFill>
                <a:latin typeface="Microsoft JhengHei"/>
              </a:rPr>
              <a:t>CONCEPT ⑤ · QTY SCENARIO · Low / High 並存(v3 新增)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0A2540"/>
                </a:solidFill>
                <a:latin typeface="Microsoft JhengHei"/>
              </a:rPr>
              <a:t>概念五 · Qty Scenario(批量並存)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Microsoft JhengHei"/>
              </a:rPr>
              <a:t>同案多個 qty scenario 並存 · 影響 mfg price tier + MVA(lines util)· 對齊 Excel D9/F9 不同地區批量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5577840" cy="3474720"/>
          </a:xfrm>
          <a:prstGeom prst="rect">
            <a:avLst/>
          </a:prstGeom>
          <a:solidFill>
            <a:srgbClr val="FEF3C7"/>
          </a:solidFill>
          <a:ln w="254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B45309"/>
                </a:solidFill>
                <a:latin typeface="Microsoft JhengHei"/>
              </a:rPr>
              <a:t>📉 LOW VOLUME · 低批量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Microsoft JhengHei"/>
              </a:rPr>
              <a:t>100,000 pcs / yr · US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50292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📌 mfg price tier 切到「低量價」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· 同 mfg 不同 tier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· MOQ check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📌 MVA × 1.41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· lines util 下降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· 攤提 per unit 上升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📌 適用客戶情境: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· 小批量試水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· 限地區發行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· 替換零件 spare parts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5349240"/>
            <a:ext cx="5029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949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B45309"/>
                </a:solidFill>
                <a:latin typeface="Consolas"/>
              </a:rPr>
              <a:t>CN-Black Total: $13.40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B45309"/>
                </a:solidFill>
                <a:latin typeface="Consolas"/>
              </a:rPr>
              <a:t>(High qty 是 $11.12 · +20%)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286000"/>
            <a:ext cx="5577840" cy="3474720"/>
          </a:xfrm>
          <a:prstGeom prst="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3774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6A34A"/>
                </a:solidFill>
                <a:latin typeface="Microsoft JhengHei"/>
              </a:rPr>
              <a:t>📈 HIGH VOLUME · 高批量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6974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4748B"/>
                </a:solidFill>
                <a:latin typeface="Microsoft JhengHei"/>
              </a:rPr>
              <a:t>418,000 pcs / yr · Global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108960"/>
            <a:ext cx="50292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📌 mfg price tier 切到「高量價」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· 高 tier discount 啟動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· 通常省 6~10%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📌 MVA × 1.0(baseline)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· lines 滿載 · 攤提分母最大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· 整廠 capacity 最有效率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📌 適用客戶情境: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· 正式年量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· 全球發行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  · ★ 主視角 default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5349240"/>
            <a:ext cx="5029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53949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6A34A"/>
                </a:solidFill>
                <a:latin typeface="Consolas"/>
              </a:rPr>
              <a:t>CN-Black Total: $11.12 ★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6A34A"/>
                </a:solidFill>
                <a:latin typeface="Consolas"/>
              </a:rPr>
              <a:t>(VN 最便宜 $11.106 ⭐)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4360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B4F72"/>
                </a:solidFill>
                <a:latin typeface="Microsoft JhengHei"/>
              </a:rPr>
              <a:t>📋 同 mfg 不同 tier 範例(嘉聯益 PCB 4L)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6327648"/>
            <a:ext cx="914400" cy="1828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632764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6B6D4"/>
                </a:solidFill>
                <a:latin typeface="Microsoft JhengHei"/>
              </a:rPr>
              <a:t>Tier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20" y="6327648"/>
            <a:ext cx="2286000" cy="1828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45920" y="6327648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6B6D4"/>
                </a:solidFill>
                <a:latin typeface="Microsoft JhengHei"/>
              </a:rPr>
              <a:t>Qty Range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1920" y="6327648"/>
            <a:ext cx="1371600" cy="1828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0" y="632764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6B6D4"/>
                </a:solidFill>
                <a:latin typeface="Microsoft JhengHei"/>
              </a:rPr>
              <a:t>True Cost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0" y="6327648"/>
            <a:ext cx="1371600" cy="1828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0" y="632764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6B6D4"/>
                </a:solidFill>
                <a:latin typeface="Microsoft JhengHei"/>
              </a:rPr>
              <a:t>Quote Price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6327648"/>
            <a:ext cx="1097280" cy="1828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632764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6B6D4"/>
                </a:solidFill>
                <a:latin typeface="Microsoft JhengHei"/>
              </a:rPr>
              <a:t>Markup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6510528"/>
            <a:ext cx="914400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65105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Consolas"/>
              </a:rPr>
              <a:t>LOW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45920" y="6510528"/>
            <a:ext cx="2286000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45920" y="6510528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Consolas"/>
              </a:rPr>
              <a:t>0 ~ 100K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31920" y="6510528"/>
            <a:ext cx="1371600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31920" y="651052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Consolas"/>
              </a:rPr>
              <a:t>$0.92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03520" y="6510528"/>
            <a:ext cx="1371600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0" y="651052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Consolas"/>
              </a:rPr>
              <a:t>$1.20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75120" y="6510528"/>
            <a:ext cx="1097280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651052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B91C1C"/>
                </a:solidFill>
                <a:latin typeface="Consolas"/>
              </a:rPr>
              <a:t>30%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6693408"/>
            <a:ext cx="914400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669340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Consolas"/>
              </a:rPr>
              <a:t>HIGH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645920" y="6693408"/>
            <a:ext cx="2286000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645920" y="6693408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Consolas"/>
              </a:rPr>
              <a:t>100K+ (無上限)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31920" y="6693408"/>
            <a:ext cx="1371600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31920" y="669340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Consolas"/>
              </a:rPr>
              <a:t>$0.85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03520" y="6693408"/>
            <a:ext cx="1371600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03520" y="669340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Consolas"/>
              </a:rPr>
              <a:t>$1.10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75120" y="6693408"/>
            <a:ext cx="1097280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75120" y="669340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B91C1C"/>
                </a:solidFill>
                <a:latin typeface="Consolas"/>
              </a:rPr>
              <a:t>29%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4F72"/>
                </a:solidFill>
                <a:latin typeface="Microsoft JhengHei"/>
              </a:rPr>
              <a:t>§B 核心 · True Cost vs Quote Markup(v3 新增)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11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BOM 資料收集模組架構報告 · v3.0 · 2026-06-06 · Cortex 規劃小組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6B6D4"/>
                </a:solidFill>
                <a:latin typeface="Microsoft JhengHei"/>
              </a:rPr>
              <a:t>TRUE COST vs QUOTE · MARKUP MODEL(v3 新增 · 核心)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0A2540"/>
                </a:solidFill>
                <a:latin typeface="Microsoft JhengHei"/>
              </a:rPr>
              <a:t>v3 核心 · True Cost vs Quote · 雙價架構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Microsoft JhengHei"/>
              </a:rPr>
              <a:t>對齊 Excel Unit Cost 左右兩半結構 · 採購填雙價 · margin 自動計算 · 不再藏在 SG&amp;A+Profit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11155680" cy="2011680"/>
          </a:xfrm>
          <a:prstGeom prst="rect">
            <a:avLst/>
          </a:prstGeom>
          <a:solidFill>
            <a:srgbClr val="F1F5F9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B4F72"/>
                </a:solidFill>
                <a:latin typeface="Microsoft JhengHei"/>
              </a:rPr>
              <a:t>📋 對應 Excel `Rival 3 Gen2 BOM.xlsx · Unit Cost sheet` 結構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697480"/>
            <a:ext cx="5349240" cy="1417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6A34A"/>
                </a:solidFill>
                <a:latin typeface="Microsoft JhengHei"/>
              </a:rPr>
              <a:t>🟢 LEFT (D~R 欄) · Quote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0896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· 給客戶的報價數字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· 5 個議價版本(2024-02 ~ 2024-11)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· 每版本 3 廠(CN/VN/TW)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· 已含 markup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· CN-Black 範例: $11.12 / unit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2697480"/>
            <a:ext cx="5349240" cy="1417320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7889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91C1C"/>
                </a:solidFill>
                <a:latin typeface="Microsoft JhengHei"/>
              </a:rPr>
              <a:t>🔒 RIGHT (Z~AK 欄) · True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10896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· 內部真實成本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· 4 個對應版本(歷史 snapshot)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· 每版本 3 廠(CN/VN/TW)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· 採購真正喬到的單價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· CN-Black 範例: $9.58 / unit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43400"/>
            <a:ext cx="11155680" cy="86868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4348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45309"/>
                </a:solidFill>
                <a:latin typeface="Microsoft JhengHei"/>
              </a:rPr>
              <a:t>🔒🔒 Margin 自動計算公式(Excel Z25~Z28 列)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54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Material margin = (Quote total - True material - True PKG) / Quote total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Consolas"/>
              </a:rPr>
              <a:t>Gross margin    = (Quote total - True total) / Quote total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349240"/>
            <a:ext cx="11155680" cy="1097280"/>
          </a:xfrm>
          <a:prstGeom prst="rect">
            <a:avLst/>
          </a:prstGeom>
          <a:solidFill>
            <a:srgbClr val="FEE2E2"/>
          </a:solidFill>
          <a:ln w="254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440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B91C1C"/>
                </a:solidFill>
                <a:latin typeface="Microsoft JhengHei"/>
              </a:rPr>
              <a:t>🚨 關鍵理解 · 為什麼之前藏的 margin 那麼難看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064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舊架構 · SG&amp;A + Profit = $0.75 加在最後 · 「象徵性數字」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真實架構 · markup 藏在每料件 true → quote 價差 · Box 紙盒 52% / USB-C 連接器 37% / Sensor IC 36% ...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→ 採購腦袋裡知道,但沒寫進系統 → 主管要看 margin 靠採購寫信報告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6B6D4"/>
                </a:solidFill>
                <a:latin typeface="Microsoft JhengHei"/>
              </a:rPr>
              <a:t>💡 v3 把這層揭露:每料件兩欄 true_cost / quote_price · margin GENERATED ALWAYS AS · 自動,透明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4F72"/>
                </a:solidFill>
                <a:latin typeface="Microsoft JhengHei"/>
              </a:rPr>
              <a:t>§B ERP ALIGNMENT · AI 智能輔助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12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BOM 資料收集模組架構報告 · v3.0 · 2026-06-06 · Cortex 規劃小組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6B6D4"/>
                </a:solidFill>
                <a:latin typeface="Microsoft JhengHei"/>
              </a:rPr>
              <a:t>ERP ALIGNMENT · AI 智能輔助(模組智能核心)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0A2540"/>
                </a:solidFill>
                <a:latin typeface="Microsoft JhengHei"/>
              </a:rPr>
              <a:t>子料件如何跟 ERP 對齊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Microsoft JhengHei"/>
              </a:rPr>
              <a:t>RD 描述零件 → AI 找 ERP 料號 / 上次廠商 / 歷史價 → RD 點「採用」即可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3474720" cy="7315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400" b="0">
                <a:solidFill>
                  <a:srgbClr val="06B6D4"/>
                </a:solidFill>
                <a:latin typeface="Microsoft JhengHei"/>
              </a:rPr>
              <a:t>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2860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6B6D4"/>
                </a:solidFill>
                <a:latin typeface="Microsoft JhengHei"/>
              </a:rPr>
              <a:t>RD 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6060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Microsoft JhengHei"/>
              </a:rPr>
              <a:t>「USB-C 連接器,公頭,Apple A 規範」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43360" y="2423160"/>
            <a:ext cx="228600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2194560"/>
            <a:ext cx="3474720" cy="7315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28600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400" b="0">
                <a:solidFill>
                  <a:srgbClr val="06B6D4"/>
                </a:solidFill>
                <a:latin typeface="Microsoft JhengHei"/>
              </a:rP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2860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6B6D4"/>
                </a:solidFill>
                <a:latin typeface="Microsoft JhengHei"/>
              </a:rPr>
              <a:t>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6060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Microsoft JhengHei"/>
              </a:rPr>
              <a:t>把這段文字轉成向量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792400" y="2423160"/>
            <a:ext cx="228600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2194560"/>
            <a:ext cx="3474720" cy="7315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80" y="228600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400" b="0">
                <a:solidFill>
                  <a:srgbClr val="06B6D4"/>
                </a:solidFill>
                <a:latin typeface="Microsoft JhengHei"/>
              </a:rPr>
              <a:t>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2860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6B6D4"/>
                </a:solidFill>
                <a:latin typeface="Microsoft JhengHei"/>
              </a:rPr>
              <a:t>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26060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FFFFFF"/>
                </a:solidFill>
                <a:latin typeface="Microsoft JhengHei"/>
              </a:rPr>
              <a:t>到 ERP item master 撈最相似 top-10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108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B4F72"/>
                </a:solidFill>
                <a:latin typeface="Microsoft JhengHei"/>
              </a:rPr>
              <a:t>🎯 AI 候選結果(+ v3 新增:同 mfg 多 tier 揭露)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566160"/>
            <a:ext cx="11155680" cy="777240"/>
          </a:xfrm>
          <a:prstGeom prst="rect">
            <a:avLst/>
          </a:prstGeom>
          <a:solidFill>
            <a:srgbClr val="FAFB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6576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6B6D4"/>
                </a:solidFill>
                <a:latin typeface="Microsoft JhengHei"/>
              </a:rPr>
              <a:t>候選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6576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Consolas"/>
              </a:rPr>
              <a:t>CONN-USB-C-M-AA01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36576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USB-C male 24P Apple v2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657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立訊精密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61188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D28D9"/>
                </a:solidFill>
                <a:latin typeface="Microsoft JhengHei"/>
              </a:rPr>
              <a:t>🆕 v3 雙價 × 兩 tier: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D28D9"/>
                </a:solidFill>
                <a:latin typeface="Microsoft JhengHei"/>
              </a:rPr>
              <a:t>Low: $0.68 → $0.95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D28D9"/>
                </a:solidFill>
                <a:latin typeface="Microsoft JhengHei"/>
              </a:rPr>
              <a:t>High: $0.62 → $0.85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434840"/>
            <a:ext cx="11155680" cy="777240"/>
          </a:xfrm>
          <a:prstGeom prst="rect">
            <a:avLst/>
          </a:prstGeom>
          <a:solidFill>
            <a:srgbClr val="FAFB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5262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6B6D4"/>
                </a:solidFill>
                <a:latin typeface="Microsoft JhengHei"/>
              </a:rPr>
              <a:t>候選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45262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Consolas"/>
              </a:rPr>
              <a:t>CONN-USB-C-M-AA00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4526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</a:rPr>
              <a:t>USB-C male 24P generic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4526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協承精密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448056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D28D9"/>
                </a:solidFill>
                <a:latin typeface="Microsoft JhengHei"/>
              </a:rPr>
              <a:t>🆕 v3 雙價 × 兩 tier: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D28D9"/>
                </a:solidFill>
                <a:latin typeface="Microsoft JhengHei"/>
              </a:rPr>
              <a:t>Low: $0.62 → $0.82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D28D9"/>
                </a:solidFill>
                <a:latin typeface="Microsoft JhengHei"/>
              </a:rPr>
              <a:t>High: $0.55 → $0.72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B4F72"/>
                </a:solidFill>
                <a:latin typeface="Microsoft JhengHei"/>
              </a:rPr>
              <a:t>📊 RD 負擔大幅降低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760720"/>
            <a:ext cx="11155680" cy="201168"/>
          </a:xfrm>
          <a:prstGeom prst="rect">
            <a:avLst/>
          </a:prstGeom>
          <a:solidFill>
            <a:srgbClr val="1B4F72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76072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6B6D4"/>
                </a:solidFill>
                <a:latin typeface="Microsoft JhengHei"/>
              </a:rPr>
              <a:t>操作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576072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6B6D4"/>
                </a:solidFill>
                <a:latin typeface="Microsoft JhengHei"/>
              </a:rPr>
              <a:t>過去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576072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6B6D4"/>
                </a:solidFill>
                <a:latin typeface="Microsoft JhengHei"/>
              </a:rPr>
              <a:t>新做法 (v3)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961888"/>
            <a:ext cx="1115568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96188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找 ERP 料號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0" y="596188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RD 翻 ERP 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596188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AI 建議 top-10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6163056"/>
            <a:ext cx="11155680" cy="201168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616305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規格描述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0" y="616305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手抄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616305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ERP 帶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6364224"/>
            <a:ext cx="1115568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6364224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上次採購廠商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0" y="6364224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問採購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0" y="636422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系統帶上次採購單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565392"/>
            <a:ext cx="11155680" cy="201168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656539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上次成交價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0" y="656539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問採購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0" y="6565392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D28D9"/>
                </a:solidFill>
                <a:latin typeface="Microsoft JhengHei"/>
              </a:rPr>
              <a:t>🆕 系統帶 True+Quote 兩價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6766560"/>
            <a:ext cx="1115568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" y="676656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該不該詢新價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0" y="676656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採購憑感覺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0" y="676656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D28D9"/>
                </a:solidFill>
                <a:latin typeface="Microsoft JhengHei"/>
              </a:rPr>
              <a:t>🆕 系統 flag &gt; 90 天 + tier 過期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4F72"/>
                </a:solidFill>
                <a:latin typeface="Microsoft JhengHei"/>
              </a:rPr>
              <a:t>§B 權限 · VIEW_TRUE_COST(v3 新增)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13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BOM 資料收集模組架構報告 · v3.0 · 2026-06-06 · Cortex 規劃小組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6B6D4"/>
                </a:solidFill>
                <a:latin typeface="Microsoft JhengHei"/>
              </a:rPr>
              <a:t>PERMISSION · VIEW_TRUE_COST(v3 新增)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0A2540"/>
                </a:solidFill>
                <a:latin typeface="Microsoft JhengHei"/>
              </a:rPr>
              <a:t>True Cost 揭露權限 · 新增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Microsoft JhengHei"/>
              </a:rPr>
              <a:t>與既有 Cortex 4 層資料政策互補 · 不取代 · 比 Quote 更機密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B91C1C"/>
                </a:solidFill>
                <a:latin typeface="Microsoft JhengHei"/>
              </a:rPr>
              <a:t>🔒 4 級機密欄位分類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06040"/>
            <a:ext cx="5577840" cy="777240"/>
          </a:xfrm>
          <a:prstGeom prst="rect">
            <a:avLst/>
          </a:prstGeom>
          <a:solidFill>
            <a:srgbClr val="FAFBFC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B91C1C"/>
                </a:solidFill>
                <a:latin typeface="Microsoft JhengHei"/>
              </a:rPr>
              <a:t>🔒🔒 Critical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6517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超越 true cost · 揭露 markup 商業邏輯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7180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172A"/>
                </a:solidFill>
                <a:latin typeface="Consolas"/>
              </a:rPr>
              <a:t>markup_pct · gross_margin_pct · material_margin_pct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74720"/>
            <a:ext cx="5577840" cy="777240"/>
          </a:xfrm>
          <a:prstGeom prst="rect">
            <a:avLst/>
          </a:prstGeom>
          <a:solidFill>
            <a:srgbClr val="FAFBFC"/>
          </a:solidFill>
          <a:ln w="190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520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B45309"/>
                </a:solidFill>
                <a:latin typeface="Microsoft JhengHei"/>
              </a:rPr>
              <a:t>🔒 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5204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內部成本 · 看到了會洩漏議價底線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4048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172A"/>
                </a:solidFill>
                <a:latin typeface="Consolas"/>
              </a:rPr>
              <a:t>true_cost_* · mva_usd · dl_wage · acquisition_cost · idl_role_rate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343400"/>
            <a:ext cx="5577840" cy="777240"/>
          </a:xfrm>
          <a:prstGeom prst="rect">
            <a:avLst/>
          </a:prstGeom>
          <a:solidFill>
            <a:srgbClr val="FAFBFC"/>
          </a:solidFill>
          <a:ln w="19050">
            <a:solidFill>
              <a:srgbClr val="FEF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3891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EF3C7"/>
                </a:solidFill>
                <a:latin typeface="Microsoft JhengHei"/>
              </a:rPr>
              <a:t>🟡 Medium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43891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成本結構但不致命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0916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172A"/>
                </a:solidFill>
                <a:latin typeface="Consolas"/>
              </a:rPr>
              <a:t>fx_rate(露 supplier 國家)· sga_usd · 廠 SG&amp;A 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12079"/>
            <a:ext cx="5577840" cy="777240"/>
          </a:xfrm>
          <a:prstGeom prst="rect">
            <a:avLst/>
          </a:prstGeom>
          <a:solidFill>
            <a:srgbClr val="FAFBFC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257799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A34A"/>
                </a:solidFill>
                <a:latin typeface="Microsoft JhengHei"/>
              </a:rPr>
              <a:t>🟢 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5257799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Quote 端 · 對客戶可揭露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577839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172A"/>
                </a:solidFill>
                <a:latin typeface="Consolas"/>
              </a:rPr>
              <a:t>quote_price_* · total_quote_* · profit_amount_usd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1945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B4F72"/>
                </a:solidFill>
                <a:latin typeface="Microsoft JhengHei"/>
              </a:rPr>
              <a:t>👥 角色 × View True Cost 權限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606040"/>
            <a:ext cx="53492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267004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admin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26700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6A34A"/>
                </a:solidFill>
                <a:latin typeface="Microsoft JhengHei"/>
              </a:rPr>
              <a:t>✅ 全部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990088"/>
            <a:ext cx="5349240" cy="36576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305409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CFO / 財務主管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305409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6A34A"/>
                </a:solidFill>
                <a:latin typeface="Microsoft JhengHei"/>
              </a:rPr>
              <a:t>✅ 跨案 margin 趨勢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374136"/>
            <a:ext cx="53492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34381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採購主管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343814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6A34A"/>
                </a:solidFill>
                <a:latin typeface="Microsoft JhengHei"/>
              </a:rPr>
              <a:t>✅ 真實單價合理性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758184"/>
            <a:ext cx="5349240" cy="36576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382219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DPM(設計 PM)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38221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6A34A"/>
                </a:solidFill>
                <a:latin typeface="Microsoft JhengHei"/>
              </a:rPr>
              <a:t>✅ 議價空間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4142232"/>
            <a:ext cx="53492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4206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資深業務 / BPM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4206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6A34A"/>
                </a:solidFill>
                <a:latin typeface="Microsoft JhengHei"/>
              </a:rPr>
              <a:t>✅(僅自己案)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4526280"/>
            <a:ext cx="5349240" cy="36576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459028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業務助理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0" y="45902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B91C1C"/>
                </a:solidFill>
                <a:latin typeface="Microsoft JhengHei"/>
              </a:rPr>
              <a:t>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4910328"/>
            <a:ext cx="53492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497433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一般採購 / 工程 member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497433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B91C1C"/>
                </a:solidFill>
                <a:latin typeface="Microsoft JhengHei"/>
              </a:rPr>
              <a:t>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5294376"/>
            <a:ext cx="5349240" cy="36576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37960" y="535838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廠 EPM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84080" y="535838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6A34A"/>
                </a:solidFill>
                <a:latin typeface="Microsoft JhengHei"/>
              </a:rPr>
              <a:t>✅(自家廠 cost)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5678424"/>
            <a:ext cx="53492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7960" y="57424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F172A"/>
                </a:solidFill>
                <a:latin typeface="Microsoft JhengHei"/>
              </a:rPr>
              <a:t>Observer / 外部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84080" y="57424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B91C1C"/>
                </a:solidFill>
                <a:latin typeface="Microsoft JhengHei"/>
              </a:rPr>
              <a:t>❌ 全屏蔽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6B6D4"/>
                </a:solidFill>
                <a:latin typeface="Microsoft JhengHei"/>
              </a:rPr>
              <a:t>💡 沒 VIEW_TRUE_COST 的人,UI 自動把 🔒/🔒🔒 欄位顯示為 ▒▒▒▒ · 走 Cortex 既有 ai_data_policies 框架擴充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4F72"/>
                </a:solidFill>
                <a:latin typeface="Microsoft JhengHei"/>
              </a:rPr>
              <a:t>§C 結論 · v3 → 開工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14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BOM 資料收集模組架構報告 · v3.0 · 2026-06-06 · Cortex 規劃小組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6B6D4"/>
                </a:solidFill>
                <a:latin typeface="Microsoft JhengHei"/>
              </a:rPr>
              <a:t>SUMMARY · v3 SD 收斂 + 下一步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0A2540"/>
                </a:solidFill>
                <a:latin typeface="Microsoft JhengHei"/>
              </a:rPr>
              <a:t>v3 收斂 · 5 概念架構 + 13 表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Microsoft JhengHei"/>
              </a:rPr>
              <a:t>USER 2026-06-06 拍板 7 件事(markup / pkg / qty / 權限 / 議價歷史 / mfg+tier 關係 / 填法)→ Phase 1 可開工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B4F72"/>
                </a:solidFill>
                <a:latin typeface="Microsoft JhengHei"/>
              </a:rPr>
              <a:t>📋 5 個核心概念(v3)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06040"/>
            <a:ext cx="5486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6700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6A34A"/>
                </a:solidFill>
                <a:latin typeface="Microsoft JhengHei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6700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Microsoft JhengHei"/>
              </a:rPr>
              <a:t>Variant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67004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6A34A"/>
                </a:solidFill>
                <a:latin typeface="Microsoft JhengHei"/>
              </a:rPr>
              <a:t>✅ 已實作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90088"/>
            <a:ext cx="5486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05409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6A34A"/>
                </a:solidFill>
                <a:latin typeface="Microsoft JhengHei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05409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Microsoft JhengHei"/>
              </a:rPr>
              <a:t>Multi-Factory Matrix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05409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6A34A"/>
                </a:solidFill>
                <a:latin typeface="Microsoft JhengHei"/>
              </a:rPr>
              <a:t>✅ v3 升 24 cells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374136"/>
            <a:ext cx="5486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43814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6A34A"/>
                </a:solidFill>
                <a:latin typeface="Microsoft JhengHei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43814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Microsoft JhengHei"/>
              </a:rPr>
              <a:t>MVA · Cleansheet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43814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16A34A"/>
                </a:solidFill>
                <a:latin typeface="Microsoft JhengHei"/>
              </a:rPr>
              <a:t>✅ v0.3 已拍板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758184"/>
            <a:ext cx="5486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82219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D28D9"/>
                </a:solidFill>
                <a:latin typeface="Microsoft JhengHei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8221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Microsoft JhengHei"/>
              </a:rPr>
              <a:t>🆕 Multi-PKG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8221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D28D9"/>
                </a:solidFill>
                <a:latin typeface="Microsoft JhengHei"/>
              </a:rPr>
              <a:t>✅ v3 新增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142232"/>
            <a:ext cx="5486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2062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D28D9"/>
                </a:solidFill>
                <a:latin typeface="Microsoft JhengHei"/>
              </a:rPr>
              <a:t>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206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Microsoft JhengHei"/>
              </a:rPr>
              <a:t>🆕 Qty Scenario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42062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D28D9"/>
                </a:solidFill>
                <a:latin typeface="Microsoft JhengHei"/>
              </a:rPr>
              <a:t>✅ v3 新增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526280"/>
            <a:ext cx="5486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5902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91C1C"/>
                </a:solidFill>
                <a:latin typeface="Microsoft JhengHei"/>
              </a:rPr>
              <a:t>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459028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Microsoft JhengHei"/>
              </a:rPr>
              <a:t>🆕 True/Quote Markup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459028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B91C1C"/>
                </a:solidFill>
                <a:latin typeface="Microsoft JhengHei"/>
              </a:rPr>
              <a:t>✅ v3 跨切面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910328"/>
            <a:ext cx="5486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9743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B91C1C"/>
                </a:solidFill>
                <a:latin typeface="Microsoft JhengHei"/>
              </a:rPr>
              <a:t>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497433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Microsoft JhengHei"/>
              </a:rPr>
              <a:t>🆕 VIEW_TRUE_COST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497433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B91C1C"/>
                </a:solidFill>
                <a:latin typeface="Microsoft JhengHei"/>
              </a:rPr>
              <a:t>✅ v3 權限層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2194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B4F72"/>
                </a:solidFill>
                <a:latin typeface="Microsoft JhengHei"/>
              </a:rPr>
              <a:t>🗄 v3 影響的 DB tables (13 個)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2606040"/>
            <a:ext cx="53035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BOM 端 (bom-collection-sd v0.4):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  · bom_item_price_tier 🆕(qty + true + quote + markup)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  · bom_category_markup_default 🆕(category default markup)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Cleansheet 端 (cleansheet-mva-sd v0.3):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  · bom_cs_case_pkg 🆕 + bom_cs_case_pkg_item 🆕(multi-PKG)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  · bom_cs_case_qty_scenario 🆕(qty scenario)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  · bom_cs_run 改(header)+ bom_cs_run_cell 改(加 qty)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  · bom_cs_run_result 🆕(24 cells fact)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/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權限: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  · ai_data_policy_rules + capability='VIEW_TRUE_COST'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852160"/>
            <a:ext cx="11155680" cy="59436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43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6B6D4"/>
                </a:solidFill>
                <a:latin typeface="Microsoft JhengHei"/>
              </a:rPr>
              <a:t>🚀 Phase 1 開工 (待 USER 確認)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6263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JhengHei"/>
              </a:rPr>
              <a:t>14 表 schema migration + xlsx import + 計算引擎 + Cortex UI v0.7 demo · 預計 26 天 (~5-6 週,1 人)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📄 docs/bom-collection-sd.md v0.4  ·  docs/cleansheet-mva-sd.md v0.3  ·  docs/Cortex_互動Demo_v0.7.html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