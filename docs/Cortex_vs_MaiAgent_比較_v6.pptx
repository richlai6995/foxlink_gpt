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vs MaiAgent · 功能比較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2026-06-04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0A030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91695" cy="502920"/>
          </a:xfrm>
          <a:prstGeom prst="rect">
            <a:avLst/>
          </a:prstGeom>
          <a:solidFill>
            <a:srgbClr val="E0A030"/>
          </a:solidFill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vs MaiAgent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E0A03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功能比較簡報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FD0E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正崴內部整合 AI 平台 ‧ vs ‧ 商用 AI Agent 平台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F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本簡報範圍:Cortex 已上線 / 既有功能(排除開發中的「通用專案管理平台」)  ·  maiagent.ai 官網公開資訊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規劃小組  ·  2026-06-04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TL;DR · 一頁看懂兩者差異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產品定位、整合策略、目標使用者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25400">
            <a:solidFill>
              <a:srgbClr val="1F3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00" cy="54864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7" name="Text 5"/>
          <p:cNvSpPr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Cortex(正崴內部整合 AI 平台)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51206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內部自建 · 深度整合 Foxlink ERP / Webex / LDAP / Oracle 23 AI</a:t>
            </a: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「對話 + KB + 教育訓練 + AI 戰情 + 排程 + 工具」一站整合</a:t>
            </a: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多模型:Gemini 3.1 Pro/Flash(Vertex)+ Azure GPT-5 + 多家 LLM</a:t>
            </a: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KB v2 Hybrid 檢索:vector + Oracle Text + 同義詞展開 + multi-vector</a:t>
            </a: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機密欄位 + 敏感詞警示 + AES-256 + Audit log</a:t>
            </a: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K8s 內部部署(3 replicas + Redis)· 100% 留正崴內網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25400">
            <a:solidFill>
              <a:srgbClr val="E0A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828800"/>
            <a:ext cx="5486400" cy="548640"/>
          </a:xfrm>
          <a:prstGeom prst="rect">
            <a:avLst/>
          </a:prstGeom>
          <a:solidFill>
            <a:srgbClr val="E0A030"/>
          </a:solidFill>
        </p:spPr>
      </p:sp>
      <p:sp>
        <p:nvSpPr>
          <p:cNvPr id="11" name="Text 9"/>
          <p:cNvSpPr/>
          <p:nvPr/>
        </p:nvSpPr>
        <p:spPr>
          <a:xfrm>
            <a:off x="6400800" y="1828800"/>
            <a:ext cx="5303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MaiAgent / MaiGPT(商用 AI Agent 平台)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51206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商用 SaaS / 私有雲(AWS/GCP/Azure)/ 地端三模式</a:t>
            </a: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4 條產品線:MaiGPT、AI KM、AI Meeting、Agent Builder(no-code)</a:t>
            </a: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多模型:Claude/GPT/Gemini/DeepSeek/Llama/Grok/Qwen/Mistral 20+</a:t>
            </a: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通訊渠道廣:LINE/WhatsApp/Teams/Messenger/IG/Telegram/Email</a:t>
            </a: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ISO 27001:2022 + ISO 27701:2019 認證 · RBAC + SSO</a:t>
            </a:r>
            <a:r>
              <a:rPr lang="en-US" sz="13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✦ Token-based billing · 100+ 企業客戶 · 14 天導入</a:t>
            </a:r>
            <a:endParaRPr lang="en-US" sz="13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506210" y="4059555"/>
            <a:ext cx="3955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/>
              <a:t>https://maiagent.ai/maigpt</a:t>
            </a:r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產品定位差異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為誰、解什麼、怎麼整合、怎麼交付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645920"/>
          <a:ext cx="11247120" cy="484632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構面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 / MaiGPT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類型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內部自建整合 AI 平台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商用 AI Agent 平台供應商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主要使用者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正崴員工(業務 / RD / 工廠 / 採購 / 主管 / IT)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企業客戶員工 + 終端消費者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核心場景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LLM 對話 / KB 查詢 / 教育訓練 / BI 對話 / 排程報表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客服 / KM / 會議 / 自訂 Agent / Chatbot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競爭優勢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深度整合 ERP / Webex / LDAP + 內網安全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多模型廣度 + 多渠道 + 合規認證 + no-code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交付模式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K8s 內部部署(3 replicas + Redis + Oracle 23 AI)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SaaS / 私有雲 / 地端可選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資料邊界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100% 留正崴內網,DBA 看不到機密欄位明文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宣稱「資料不用於公共模型訓練」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計費模式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內部攤提(token + infra)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Token-based billing(無人頭費)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既有功能地圖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已上線 / 生產中的模組 · 排除開發中專案管理平台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9164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7" name="Text 5"/>
          <p:cNvSpPr/>
          <p:nvPr/>
        </p:nvSpPr>
        <p:spPr>
          <a:xfrm>
            <a:off x="457200" y="16916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對話 LLM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多模型切換(Gemini 3.1 / Azure GPT-5)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SSE streaming · reasoning_effort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圖片 / 音訊 / 檔案 multimodal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69164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11" name="Text 9"/>
          <p:cNvSpPr/>
          <p:nvPr/>
        </p:nvSpPr>
        <p:spPr>
          <a:xfrm>
            <a:off x="3337560" y="16916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深度研究模式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researchService 多步 RAG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跨來源驗證 · 獨立 admin 介面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可控的 thinking budget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9164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15" name="Text 13"/>
          <p:cNvSpPr/>
          <p:nvPr/>
        </p:nvSpPr>
        <p:spPr>
          <a:xfrm>
            <a:off x="6217920" y="16916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知識庫 KB v2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10312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Hybrid:vector + Oracle Text + 同義詞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Multi-vector(title+content)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per-KB retrieval_config 覆寫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169164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169164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19" name="Text 17"/>
          <p:cNvSpPr/>
          <p:nvPr/>
        </p:nvSpPr>
        <p:spPr>
          <a:xfrm>
            <a:off x="9098280" y="16916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技能 / MCP / DIFY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0" y="210312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ERP FUNCTION/PROCEDURE 工具化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MCP User Identity(RS256 JWT)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DIFY workflow / chatflow as tool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4612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23" name="Text 21"/>
          <p:cNvSpPr/>
          <p:nvPr/>
        </p:nvSpPr>
        <p:spPr>
          <a:xfrm>
            <a:off x="457200" y="324612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戰情(NL → BI)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自然語言 → SQL → ECharts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Dashboard pipeline + Excel 合併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排程 + Email/Webex 推送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324612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24612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27" name="Text 25"/>
          <p:cNvSpPr/>
          <p:nvPr/>
        </p:nvSpPr>
        <p:spPr>
          <a:xfrm>
            <a:off x="3337560" y="324612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教育訓練平台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課程 / 章節 / 投影片 / Quiz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Chrome Extension 截圖錄製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LLM 自動生成 + 三語翻譯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24612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24612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31" name="Text 29"/>
          <p:cNvSpPr/>
          <p:nvPr/>
        </p:nvSpPr>
        <p:spPr>
          <a:xfrm>
            <a:off x="6217920" y="324612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排程任務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65760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Cron scheduled task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7 grantee × 兩級權限分享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戰情整合 + 多 sheet xlsx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06840" y="324612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0" y="324612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35" name="Text 33"/>
          <p:cNvSpPr/>
          <p:nvPr/>
        </p:nvSpPr>
        <p:spPr>
          <a:xfrm>
            <a:off x="9098280" y="324612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問題反饋平台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0" y="365760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工單系統 + 通知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敏感詞偵測 + 自動發信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Admin 處理流程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80060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80060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39" name="Text 37"/>
          <p:cNvSpPr/>
          <p:nvPr/>
        </p:nvSpPr>
        <p:spPr>
          <a:xfrm>
            <a:off x="457200" y="480060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文件生成 / 範本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521208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```generate_xlsx/docx/pdf/pptx```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pptxgenjs / docx / pdfkit / xlsx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CJK PDF(Noto Sans TC)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46120" y="480060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46120" y="480060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43" name="Text 41"/>
          <p:cNvSpPr/>
          <p:nvPr/>
        </p:nvSpPr>
        <p:spPr>
          <a:xfrm>
            <a:off x="3337560" y="480060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通訊整合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83280" y="521208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Webex Bot(webhook + WebSocket)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Gmail API + SMTP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站內 Badge + Email 多通道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26480" y="480060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480060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47" name="Text 45"/>
          <p:cNvSpPr/>
          <p:nvPr/>
        </p:nvSpPr>
        <p:spPr>
          <a:xfrm>
            <a:off x="6217920" y="480060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身份 / SSO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63640" y="521208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LDAP(AD)+ SSO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WebAuthn(passkey)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離職自動撤權 · token 走 Redis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006840" y="480060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06840" y="4800600"/>
            <a:ext cx="2834640" cy="365760"/>
          </a:xfrm>
          <a:prstGeom prst="rect">
            <a:avLst/>
          </a:prstGeom>
          <a:solidFill>
            <a:srgbClr val="1F3A68"/>
          </a:solidFill>
        </p:spPr>
      </p:sp>
      <p:sp>
        <p:nvSpPr>
          <p:cNvPr id="51" name="Text 49"/>
          <p:cNvSpPr/>
          <p:nvPr/>
        </p:nvSpPr>
        <p:spPr>
          <a:xfrm>
            <a:off x="9098280" y="480060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安全 / 治理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44000" y="521208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機密欄位策略 + 敏感詞警示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AES-256 + Oracle TDE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Audit log + 多語言 i18n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MaiAgent 產品線地圖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4 條核心產品線 · 多渠道整合 · 企業級合規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749040" cy="2194560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749040" cy="411480"/>
          </a:xfrm>
          <a:prstGeom prst="rect">
            <a:avLst/>
          </a:prstGeom>
          <a:solidFill>
            <a:srgbClr val="E0A030"/>
          </a:solidFill>
        </p:spPr>
      </p:sp>
      <p:sp>
        <p:nvSpPr>
          <p:cNvPr id="7" name="Text 5"/>
          <p:cNvSpPr/>
          <p:nvPr/>
        </p:nvSpPr>
        <p:spPr>
          <a:xfrm>
            <a:off x="548640" y="169164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MaiGPT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3474720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企業級對話介面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20+ LLM 模型切換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Canvas 視覺化協作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圖片生成(Nano Banana Pro)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企業級 Prompt 管理 + 模板庫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749040" cy="2194560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691640"/>
            <a:ext cx="3749040" cy="411480"/>
          </a:xfrm>
          <a:prstGeom prst="rect">
            <a:avLst/>
          </a:prstGeom>
          <a:solidFill>
            <a:srgbClr val="E0A030"/>
          </a:solidFill>
        </p:spPr>
      </p:sp>
      <p:sp>
        <p:nvSpPr>
          <p:cNvPr id="11" name="Text 9"/>
          <p:cNvSpPr/>
          <p:nvPr/>
        </p:nvSpPr>
        <p:spPr>
          <a:xfrm>
            <a:off x="4343400" y="169164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KM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148840"/>
            <a:ext cx="3474720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企業知識庫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RAG 精準問答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權限管理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文件處理(PDF/Word/Excel)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749040" cy="2194560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691640"/>
            <a:ext cx="3749040" cy="411480"/>
          </a:xfrm>
          <a:prstGeom prst="rect">
            <a:avLst/>
          </a:prstGeom>
          <a:solidFill>
            <a:srgbClr val="E0A030"/>
          </a:solidFill>
        </p:spPr>
      </p:sp>
      <p:sp>
        <p:nvSpPr>
          <p:cNvPr id="15" name="Text 13"/>
          <p:cNvSpPr/>
          <p:nvPr/>
        </p:nvSpPr>
        <p:spPr>
          <a:xfrm>
            <a:off x="8138160" y="169164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Meeting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83880" y="2148840"/>
            <a:ext cx="3474720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會議錄音轉逐字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自動摘要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Action item 追蹤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3749040" cy="2194560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77640"/>
            <a:ext cx="3749040" cy="411480"/>
          </a:xfrm>
          <a:prstGeom prst="rect">
            <a:avLst/>
          </a:prstGeom>
          <a:solidFill>
            <a:srgbClr val="E0A030"/>
          </a:solidFill>
        </p:spPr>
      </p:sp>
      <p:sp>
        <p:nvSpPr>
          <p:cNvPr id="19" name="Text 17"/>
          <p:cNvSpPr/>
          <p:nvPr/>
        </p:nvSpPr>
        <p:spPr>
          <a:xfrm>
            <a:off x="548640" y="397764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Agent Builder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4434840"/>
            <a:ext cx="3474720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No-code / Low-code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自訂 AI Agent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API 整合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MCP 連接器(Notion/Asana/GitHub/Sentry)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51960" y="3977640"/>
            <a:ext cx="3749040" cy="2194560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3977640"/>
            <a:ext cx="3749040" cy="411480"/>
          </a:xfrm>
          <a:prstGeom prst="rect">
            <a:avLst/>
          </a:prstGeom>
          <a:solidFill>
            <a:srgbClr val="E0A030"/>
          </a:solidFill>
        </p:spPr>
      </p:sp>
      <p:sp>
        <p:nvSpPr>
          <p:cNvPr id="23" name="Text 21"/>
          <p:cNvSpPr/>
          <p:nvPr/>
        </p:nvSpPr>
        <p:spPr>
          <a:xfrm>
            <a:off x="4343400" y="397764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通訊渠道整合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4434840"/>
            <a:ext cx="3474720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LINE / WhatsApp / Teams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Messenger / IG / Telegram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Email / REST API / WebSocket / Widget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3977640"/>
            <a:ext cx="3749040" cy="2194560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977640"/>
            <a:ext cx="3749040" cy="411480"/>
          </a:xfrm>
          <a:prstGeom prst="rect">
            <a:avLst/>
          </a:prstGeom>
          <a:solidFill>
            <a:srgbClr val="E0A030"/>
          </a:solidFill>
        </p:spPr>
      </p:sp>
      <p:sp>
        <p:nvSpPr>
          <p:cNvPr id="27" name="Text 25"/>
          <p:cNvSpPr/>
          <p:nvPr/>
        </p:nvSpPr>
        <p:spPr>
          <a:xfrm>
            <a:off x="8138160" y="397764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企業合規 + 部署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83880" y="4434840"/>
            <a:ext cx="3474720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ISO 27001:2022 / 27701:2019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SaaS / AWS / GCP / Azure / 地端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SSO / RBAC / Audit log / AES-256 + TLS 1.3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比較表 ① 對話、多模型、多模態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LLM 串接、模型支援、輸入類型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5760" y="1691640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114800"/>
                <a:gridCol w="11887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功能 / 構面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 / MaiGPT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勝出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模型支援數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Gemini 3.1 Pro/Flash(Vertex)+ Azure GPT-5 + 多家 LLM,可在 admin 自加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Claude / GPT-4o / Gemini / DeepSeek / Llama / Grok / Qwen / Mistral 20+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03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SSE 串流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chat / 翻譯 / 戰情對話 全用 SSE,K8s ingress 已調 3600s timeout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標準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多模態(圖/音/檔)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Vision、長音訊背景 STT job、PDF/Excel/Word/PPT 解析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圖片 OCR、PDF/Word/Excel、語音輸入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圖片生成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Gemini 3 pro-image 模型可選 · 對話 / 教材封面直接產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Nano Banana Pro · 主打繁中渲染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深度研究模式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researchService 多步 RAG + 跨來源 + admin 介面調 thinking budget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自動規劃 + 多輪搜尋 + 交叉驗證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reasoning_effort 細控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low/medium/high per-message;Gemini 3.x + Azure GPT-5 一致 UI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官網未明示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  <a:sym typeface="+mn-ea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即時聯網搜尋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  <a:sym typeface="+mn-ea"/>
                        </a:rPr>
                        <a:t>✅ 內建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內建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03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多語言介面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zh-TW / en / vi 完整 i18n + DB 動態內容自動翻譯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中英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Cortex(含越南文)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比較表 ② 知識庫(RAG)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檢索架構、向量、同義詞、生命週期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1691640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114800"/>
                <a:gridCol w="11887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功能 / 構面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 / MaiGPT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勝出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檢索策略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Hybrid:vector + Oracle Text FT + 同義詞 OR 展開(kb_thesauri)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RAG(細節未公開)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Multi-vector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title_embedding + content_embedding 雙路召回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未明示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同義詞 / 別名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kb_thesauri + chat LLM 提示「X=Y 同實體」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未明示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Per-KB 檢索覆寫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retrieval_config CLOB,每 KB 可獨立調參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未明示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知識來源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檔案 + chat 訊息 + ERP 快照 + 對話 history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檔案上傳為主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No-code KM 介面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  <a:sym typeface="+mn-ea"/>
                        </a:rPr>
                        <a:t>✅</a:t>
                      </a: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 </a:t>
                      </a:r>
                      <a:r>
                        <a:rPr lang="zh-TW" alt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使用者</a:t>
                      </a:r>
                      <a:r>
                        <a:rPr lang="zh-TW" alt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自行設定</a:t>
                      </a:r>
                      <a:endParaRPr lang="zh-TW" altLang="en-US" sz="1050" dirty="0">
                        <a:solidFill>
                          <a:srgbClr val="111827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2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AI KM 獨立產品 · 商用就緒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  <a:sym typeface="+mn-ea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向量模型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Vertex text-embedding(VECTOR(768))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可選(隨 LLM 供應商)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全文索引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Oracle Text CTX_FTX · SYNC every 1 min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雲端 search engine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比較表 ③ Agent、工具、整合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Tool calling、MCP、外部系統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65760" y="1691640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114800"/>
                <a:gridCol w="11887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功能 / 構面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 / MaiGPT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勝出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MCP 支援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MCP client + User Identity(RS256 JWT, 5min TTL)+ stdio per-call spawn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MCP 連接器(Notion / Asana / GitHub / Sentry)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Cortex(認證更嚴)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ERP 整合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ERP FUNCTION/PROCEDURE 工具化 · LLM tool-calling 直接呼叫 EBS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需自寫 Agent + REST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DIFY 整合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原生支援 DIFY workflow / chatflow as tool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未提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自訂技能 runner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技能 4 型:內建 Prompt / 外部 Endpoint / 內部程式(Node.js code runner)/ 工作流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Agent Builder(no-code 拖拉)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平手(MaiAgent UI 更直覺 · Cortex 更彈性)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Tool 能力分級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問答 / 讀工具 / 產內容 / 寫入 4 級;寫入需 user 二次確認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未明示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BI / NL → SQL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AI 戰情:NL → SQL → ECharts → Excel 合併 → 排程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未主打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檔案生成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pptx/docx/pdf/xlsx 從 LLM 回應自動產(```generate_xlsx:```)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未提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Workflow 圖形化編輯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工作流型技能 · 含節點編輯 · 可組多步驟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Agent Builder 拖拉介面 · 對外定位主打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MaiAgent(UI 體驗) · Cortex(整合深度)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比較表 ④ 企業整合與通訊渠道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帳號 / 通訊 / 排程 / 內部系統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65760" y="1691640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114800"/>
                <a:gridCol w="11887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功能 / 構面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 / MaiGPT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勝出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SSO / 身份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LDAP(AD)+ SSO + WebAuthn(passkey)+ 離職自動撤權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SSO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Cortex(passkey)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通訊渠道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Webex Bot(webhook + WS)+ Email(SMTP)+ 站內 Badge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LINE / WhatsApp / Teams / Messenger / IG / Telegram / Email / Widget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MaiAgent(渠道廣)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Webex 深度整合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Webhook + WebSocket + Akamai WAF 兼容(白名單已設定)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Teams 為主 · Webex 未列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Email 自動發信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SMTP 範本 + 排程報表 + 敏感詞警示 + 反饋通知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Email 渠道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排程任務(Cron)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Scheduled task + 7 grantee × 兩級權限分享 + Dashboard 整合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未主打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ERP 直連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Oracle EBS · 多 DB source(source_db_id 路由 pool)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需自串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REST API / Webhook out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/api/* + scheduled webhook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REST API / WebSocket / Widget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Chrome Extension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操作截圖錄製 → AI 自動生成教育訓練教材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未提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比較表 ⑤ 部署、安全、合規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部署形態、加密、權限、稽核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65760" y="1691640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114800"/>
                <a:gridCol w="11887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功能 / 構面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 / MaiGPT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勝出</a:t>
                      </a:r>
                      <a:endParaRPr 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部署形態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K8s 內部叢集(3 replicas + Redis + NFS 500Gi + Oracle 23 AI)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SaaS / 私有雲(AWS/GCP/Azure)/ 地端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MaiAgent(彈性)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資料邊界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100% 留正崴內網 · DBA 看不到機密欄位明文(AES-256 欄位加密)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地端可零資料外洩 · SaaS 宣稱不訓練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Cortex(物理隔離)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機密策略粒度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欄位級 · 多角色 · 顯示策略(MASK / ALIAS / RANGE / TIER)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RBAC 權限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敏感詞偵測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對話自動偵測 + 標記 + 自動 Email 通知 admin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未公開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Audit log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audit_logs(永久保留)+ 操作紀錄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完整稽核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加密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欄位 AES-256 + Oracle TDE 表空間 + TLS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AES-256 + TLS 1.3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ISO / 合規認證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⚠ 無第三方認證(內部使用)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✅ ISO 27001:2022 + ISO 27701:2019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03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MaiAgent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Token store</a:t>
                      </a:r>
                      <a:endParaRPr lang="en-US" sz="11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Redis(K8s 多 Pod 共享 session)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商用標準</a:t>
                      </a:r>
                      <a:endParaRPr lang="en-US" sz="10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平手</a:t>
                      </a:r>
                      <a:endParaRPr 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獨家功能(MaiAgent 沒有 / 未公開)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為什麼正崴自建而不買 SaaS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91640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719072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⭐ AI 輔助系統設計(Self-Building)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8912" y="1993392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排程 / Code Runner / 技能 / 工作流 都可請 AI 從需求描述直接產代碼 · 平台用 AI 蓋自己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1719072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ERP 工具(LLM / 手動 / Inject)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19272" y="1993392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EBS FUNCTION/PROC 工具集 · Picker / Invoke Modal / 結果圖表 / LOV / 詞彙表 / 審計 · 三種呼叫模式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719072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深度 ERP 整合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99632" y="1993392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多 DB source 自動路由 pool · KB 直接索引 ERP 快照 · 員工問「上個月毛利」直接拉值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006840" y="1691640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9992" y="1719072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全站欄位語音輸入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79992" y="1993392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對話 / 表單 / 教材編輯 / KB 上傳 所有 textarea / input 皆支援語音輸入 · 含 hotkey 提示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15768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戰情 NL → BI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" y="2990088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自然語言 → SQL → ECharts → 多 sheet Excel 合併 → 排程 → Webex/Email 推送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46120" y="2688336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2715768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KB v2 Hybrid 多路檢索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19272" y="2990088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vector + Oracle Text FT + 同義詞 OR 展開 + multi-vector · per-KB config 覆寫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26480" y="2688336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715768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KB 圖片 I/O multimodal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99632" y="2990088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KB 支援圖片匯入(KbImage)+ 輸出 · multimodal RAG · LLM 可看圖回答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006840" y="2688336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9992" y="2715768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MCP User Identity JWT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79992" y="2990088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RS256 簽 X-User-Token(5min TTL · per-call spawn)· MCP 伺服器可驗簽真實身份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3685032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712464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教育訓練平台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38912" y="3986784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課程 / 章節 / 投影片 / Quiz · LLM 自動生成教材 · 三語翻譯 · 學習評分 + 教室模式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46120" y="3685032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3712464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Chrome Extension 錄製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319272" y="3986784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在目標系統錄操作 → 自動截圖上傳 → AI 辨識生成互動教材 · 內部 SOP 半自動化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26480" y="3685032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712464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STT + 會議紀錄自動產生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99632" y="3986784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長音訊背景 job + 會議文件範本 + LLM 摘要 + action item · ffmpeg 切片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006840" y="3685032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9992" y="3712464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Prompt 技能含版本 + 多語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079992" y="3986784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內建 Prompt 技能 = Prompt 庫 + System Prompt + 標籤 + 版本歷史 + 三語自動翻譯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65760" y="4681728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4709160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文件範本管理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38912" y="4983480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TemplatesPage · 自訂 docx/xlsx/pptx 範本 · LLM 套填欄位 · 可分享 / 多語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246120" y="4681728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9272" y="4709160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我的圖庫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319272" y="4983480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對話 / 教育訓練 / KB 跨來源圖片庫 · 個人收藏 · 一鍵插入後續對話 / 教材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126480" y="4681728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4709160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檔案生成觸發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199632" y="4983480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```generate_xlsx/docx/pdf/pptx``` 從 LLM 回應自動產檔下載 · CJK PDF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006840" y="4681728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79992" y="4709160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Token 費用統計儀表板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079992" y="4983480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帳號 / 利潤中心 / 部門 / 事業處 多軸切片 · 月份趨勢 · 攤算成本到 BU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65760" y="5678424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5705856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排程任務 + 戰情整合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38912" y="5980176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Cron + 7 grantee × 兩級權限分享 + 多 dashboard 合併 xlsx + 失敗節點追蹤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246120" y="5678424"/>
            <a:ext cx="2834640" cy="941832"/>
          </a:xfrm>
          <a:prstGeom prst="roundRect">
            <a:avLst>
              <a:gd name="adj" fmla="val 3883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19272" y="5705856"/>
            <a:ext cx="268833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問題工單系統</a:t>
            </a:r>
            <a:endParaRPr lang="en-US" sz="1000" b="1" dirty="0">
              <a:solidFill>
                <a:srgbClr val="1F3A68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3319272" y="5980176"/>
            <a:ext cx="2688336" cy="612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使用者回報 → admin 處理 → 通知三通道(Email / Webex / Badge)· 含 SLA</a:t>
            </a:r>
            <a:endParaRPr lang="en-US" sz="1000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2"/>
              <a:cs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MaiAgent 領先處 · Cortex 護城河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對方做得好的、我們可以借鑒 / 我們抄不來的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5669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03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MaiAgent 領先(Cortex 可考慮補)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護城河(MaiAgent 抄不來)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9525">
            <a:solidFill>
              <a:srgbClr val="E0A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0312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ISO 27001:2022 + 27701:2019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若 Cortex 對外授權(子公司 / 客戶 portal),認證會是門票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9525">
            <a:solidFill>
              <a:srgbClr val="E0A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通訊渠道廣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LINE / WhatsApp / Teams / Messenger / IG / Telegram · 對外客戶 / B2C 場景剛需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9525">
            <a:solidFill>
              <a:srgbClr val="E0A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0896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20+ 模型廣度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DeepSeek / Qwen / Mistral / Llama / Grok 等 Cortex 沒接的 open-weight 模型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9525">
            <a:solidFill>
              <a:srgbClr val="E0A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1188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Canvas 文件協作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類 Notion 即時協作畫面 · Cortex 對話為主,沒有共筆文件 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9525">
            <a:solidFill>
              <a:srgbClr val="E0A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1480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Agent-as-a-Service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客戶可直接把 Agent 掛到自家 LINE 商家 / FB 粉專自動客服 · Cortex 偏內部工具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9525">
            <a:solidFill>
              <a:srgbClr val="E0A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1772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100+ 企業客戶生態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金融 / 保險 / 製造跨產業案例;Cortex 是單一企業內部系統,無外部標竿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9525">
            <a:solidFill>
              <a:srgbClr val="E0A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14 天導入方法論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商用顧問流程 · 諮詢 → POC → 部署 · Cortex 對 BU 推廣可參考做 kickoff 模板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623560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9525">
            <a:solidFill>
              <a:srgbClr val="E0A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62356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no-code 介面更直覺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Agent Builder UI 拖拉,業務不寫 code 也能組;Cortex 工作流 + code runner 偏 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10312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E6EEF8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10312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⭐ AI 輔助系統設計(Self-Building)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排程 / Code Runner / 技能 / 工作流 都可請 AI 從需求描述產代碼 · 平台用 AI 蓋自己 · SaaS 沒有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60604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E6EEF8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60604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深度 ERP / Oracle 23 AI 整合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EBS function-as-tool · KB 直接索引 ERP 快照 · SaaS 抄不來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310896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E6EEF8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10896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機密策略粒度遠勝 SaaS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欄位級 + 多顯示策略 · 商用平台不可能為單一客戶做這麼細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61188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E6EEF8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61188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資料 100% 留內網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/ 報價 / 客戶料號外洩風險巨大 · SaaS 永遠是疑慮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411480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E6EEF8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11480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Token 費用統計儀表板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帳號/利潤中心/部門/事業處多軸切片 + 月份趨勢 · 內部成本治理現成可用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61772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E6EEF8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61772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戰情 NL → BI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自助分析 + Excel 合併 + 排程推送 · 是 Cortex 跟 MaiAgent 最大差異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512064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E6EEF8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512064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會議紀錄自動產生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STT(&gt;50MB 背景 job)+ 會議文件範本 + LLM 摘要 · 等同 MaiAgent AI Meeting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562356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E6EEF8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562356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檔案生成 + LLM 觸發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```generate_xlsx``` 自動下載成檔 · 業務體感最強 · MaiAgent 未提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612648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E6EEF8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612648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Chrome Extension 錄製教材  </a:t>
            </a:r>
            <a:r>
              <a:rPr lang="en-US" sz="850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內部 SOP 半自動化教材 · SaaS 沒有對應 plugin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結論與建議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兩平台不是替代,是不同層面的工具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0"/>
          </a:xfrm>
          <a:prstGeom prst="line">
            <a:avLst/>
          </a:prstGeom>
          <a:noFill/>
          <a:ln w="38100">
            <a:solidFill>
              <a:srgbClr val="E0A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03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一句話結論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728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是「深度整合的內部 OS」,MaiAgent 是「廣度通用的 SaaS」。前者贏在 ERP / KB / BI 對話 / 教育訓練,後者贏在合規 / 渠道 / no-code。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124712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9525">
            <a:solidFill>
              <a:srgbClr val="1F3A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640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03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3108960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繼續強化 Cortex 護城河  </a:t>
            </a:r>
            <a:r>
              <a:rPr lang="en-US" sz="11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ERP 整合 / KB v2 / AI 戰情 / 機密策略 — SaaS 永遠做不到的深度,是真正的價值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67328"/>
            <a:ext cx="1124712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9525">
            <a:solidFill>
              <a:srgbClr val="1F3A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67328"/>
            <a:ext cx="640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03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767328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技能 UI 朝 no-code 拖拉演化  </a:t>
            </a:r>
            <a:r>
              <a:rPr lang="en-US" sz="11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工作流型技能已有 · 可加圖形化編輯器,讓業務 / PM 不寫 code 自己組,降低依賴 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25696"/>
            <a:ext cx="1124712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9525">
            <a:solidFill>
              <a:srgbClr val="1F3A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25696"/>
            <a:ext cx="640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03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渠道延伸補 LINE / Teams  </a:t>
            </a:r>
            <a:r>
              <a:rPr lang="en-US" sz="11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Webex 主導,但外部協作時 LINE / Teams 不可缺 · webhook 架構已通用,加 adapter 即可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84064"/>
            <a:ext cx="1124712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9525">
            <a:solidFill>
              <a:srgbClr val="1F3A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084064"/>
            <a:ext cx="640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03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5084064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推 ISO 認證(長期)  </a:t>
            </a:r>
            <a:r>
              <a:rPr lang="en-US" sz="11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若 Cortex 要對外授權(供應商 portal / 客戶 API),ISO 27001 是必要門票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742432"/>
            <a:ext cx="1124712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9525">
            <a:solidFill>
              <a:srgbClr val="1F3A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742432"/>
            <a:ext cx="640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03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5742432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不需替換 · 可並用  </a:t>
            </a:r>
            <a:r>
              <a:rPr lang="en-US" sz="1100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可考慮 MaiAgent 處理「對外客戶 / 行銷 chatbot」,Cortex 處理「對內 RFQ / KB / BI / 訓練」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91695" cy="502920"/>
          </a:xfrm>
          <a:prstGeom prst="rect">
            <a:avLst/>
          </a:prstGeom>
          <a:solidFill>
            <a:srgbClr val="E0A030"/>
          </a:solidFill>
        </p:spPr>
      </p:sp>
      <p:sp>
        <p:nvSpPr>
          <p:cNvPr id="3" name="Text 1"/>
          <p:cNvSpPr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Questions &amp; Discussion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0A03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歡迎針對任一比較項目深入討論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F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參考:Cortex 主程式碼 / docs/kb-retrieval-architecture-v2.md / docs/gemini-sdk-migration-plan.md / maiagent.ai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9024</Words>
  <Application>WPS Presentation</Application>
  <PresentationFormat>On-screen Show (16:9)</PresentationFormat>
  <Paragraphs>728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新細明體</vt:lpstr>
      <vt:lpstr>Wingdings</vt:lpstr>
      <vt:lpstr>微軟正黑體</vt:lpstr>
      <vt:lpstr>微軟正黑體</vt:lpstr>
      <vt:lpstr>Calibri</vt:lpstr>
      <vt:lpstr>Microsoft YaHei</vt:lpstr>
      <vt:lpstr>SimSun</vt:lpstr>
      <vt:lpstr>Arial Unicode MS</vt:lpstr>
      <vt:lpstr>新細明體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正崴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 vs MaiAgent 功能比較</dc:title>
  <dc:creator>Cortex 規劃小組</dc:creator>
  <dc:subject>PptxGenJS Presentation</dc:subject>
  <cp:lastModifiedBy>rich_lai</cp:lastModifiedBy>
  <cp:revision>3</cp:revision>
  <dcterms:created xsi:type="dcterms:W3CDTF">2026-06-04T00:53:00Z</dcterms:created>
  <dcterms:modified xsi:type="dcterms:W3CDTF">2026-06-04T01:55:04Z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D56E4B18A74043EEB463A8F177D73754</vt:lpwstr>
  </property>
  <property fmtid="{D5CDD505-2E9C-101B-9397-08002B2CF9AE}" pid="3" name="KSOProductBuildVer">
    <vt:lpwstr>1028-11.8.2.11649</vt:lpwstr>
  </property>
</Properties>
</file>