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3657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6B6D4"/>
                </a:solidFill>
                <a:latin typeface="Microsoft JhengHei"/>
              </a:rPr>
              <a:t>OPERATION GUIDE · STEP BY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Microsoft JhengHei"/>
              </a:rPr>
              <a:t>Cortex BOM 模組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4600" b="1">
                <a:solidFill>
                  <a:srgbClr val="FFFFFF"/>
                </a:solidFill>
                <a:latin typeface="Microsoft JhengHei"/>
              </a:rPr>
              <a:t>操作說明手冊 v1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F1F5F9"/>
                </a:solidFill>
                <a:latin typeface="Microsoft JhengHei"/>
              </a:rPr>
              <a:t>一步一步帶你從 RD 上傳 Excel 到 業務簽核 · 22 個操作 · 全鏈路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5147" y="5074920"/>
            <a:ext cx="2697480" cy="1005840"/>
          </a:xfrm>
          <a:prstGeom prst="roundRect">
            <a:avLst>
              <a:gd name="adj" fmla="val 15000"/>
            </a:avLst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5147" y="512064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6B6D4"/>
                </a:solidFill>
                <a:latin typeface="Microsoft JhengHei"/>
              </a:rPr>
              <a:t>Stage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147" y="5394960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BOM 提供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147" y="5715000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1F5F9"/>
                </a:solidFill>
                <a:latin typeface="Microsoft JhengHei"/>
              </a:rPr>
              <a:t>RD / EE / 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147" y="5943600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BBF24"/>
                </a:solidFill>
                <a:latin typeface="Microsoft JhengHei"/>
              </a:rPr>
              <a:t>5 steps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29787" y="5074920"/>
            <a:ext cx="2697480" cy="1005840"/>
          </a:xfrm>
          <a:prstGeom prst="roundRect">
            <a:avLst>
              <a:gd name="adj" fmla="val 15000"/>
            </a:avLst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29787" y="512064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6B6D4"/>
                </a:solidFill>
                <a:latin typeface="Microsoft JhengHei"/>
              </a:rPr>
              <a:t>Stage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9787" y="5394960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並行 Collect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29787" y="5715000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1F5F9"/>
                </a:solidFill>
                <a:latin typeface="Microsoft JhengHei"/>
              </a:rPr>
              <a:t>採購 + 三廠 EPM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29787" y="5943600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BBF24"/>
                </a:solidFill>
                <a:latin typeface="Microsoft JhengHei"/>
              </a:rPr>
              <a:t>13 steps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5074920"/>
            <a:ext cx="2697480" cy="1005840"/>
          </a:xfrm>
          <a:prstGeom prst="roundRect">
            <a:avLst>
              <a:gd name="adj" fmla="val 15000"/>
            </a:avLst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64427" y="512064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6B6D4"/>
                </a:solidFill>
                <a:latin typeface="Microsoft JhengHei"/>
              </a:rPr>
              <a:t>Stage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4427" y="5394960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BOM Cost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4427" y="5715000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1F5F9"/>
                </a:solidFill>
                <a:latin typeface="Microsoft JhengHei"/>
              </a:rPr>
              <a:t>DPM + BPM + 採購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64427" y="5943600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BBF24"/>
                </a:solidFill>
                <a:latin typeface="Microsoft JhengHei"/>
              </a:rPr>
              <a:t>5 steps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9067" y="5074920"/>
            <a:ext cx="2697480" cy="1005840"/>
          </a:xfrm>
          <a:prstGeom prst="roundRect">
            <a:avLst>
              <a:gd name="adj" fmla="val 15000"/>
            </a:avLst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99067" y="512064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6B6D4"/>
                </a:solidFill>
                <a:latin typeface="Microsoft JhengHei"/>
              </a:rPr>
              <a:t>Stage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9067" y="5394960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業務 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9067" y="5715000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1F5F9"/>
                </a:solidFill>
                <a:latin typeface="Microsoft JhengHei"/>
              </a:rPr>
              <a:t>業務 + BPM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9067" y="5943600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BBF24"/>
                </a:solidFill>
                <a:latin typeface="Microsoft JhengHei"/>
              </a:rPr>
              <a:t>3 steps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6B6D4"/>
                </a:solidFill>
                <a:latin typeface="Microsoft JhengHei"/>
              </a:rPr>
              <a:t>🎯 對應 Cortex_互動Demo_v0.7.html · 點 nav 第 2 格「🎬 操作流程」一邊看一邊跟著做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Cortex 規劃小組 · 2026-06-09 ·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B4F72"/>
                </a:solidFill>
                <a:latin typeface="Microsoft JhengHei"/>
              </a:rPr>
              <a:t>§A 開場 · 整體流程鳥瞰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2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Cortex BOM 模組 · 操作說明手冊 v1 · 2026-06-09 · 對應 Demo v0.7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6B6D4"/>
                </a:solidFill>
                <a:latin typeface="Microsoft JhengHei"/>
              </a:rPr>
              <a:t>OVERVIEW · END-TO-END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0A2540"/>
                </a:solidFill>
                <a:latin typeface="Microsoft JhengHei"/>
              </a:rPr>
              <a:t>整體流程 · 從 RD Excel 到業務簽核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Microsoft JhengHei"/>
              </a:rPr>
              <a:t>4 個 Stage · 22 個操作步驟 · 5 種角色接力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8027" y="2377440"/>
            <a:ext cx="2468880" cy="23774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81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8027" y="2377440"/>
            <a:ext cx="2468880" cy="54864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8027" y="24688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Stage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027" y="306324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366F1"/>
                </a:solidFill>
                <a:latin typeface="Microsoft JhengHei"/>
              </a:rPr>
              <a:t>BOM 提供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027" y="352044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👥 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0907" y="388620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5 steps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上傳 / AI / 確認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96907" y="3383280"/>
            <a:ext cx="246888" cy="365760"/>
          </a:xfrm>
          <a:prstGeom prst="right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66947" y="2377440"/>
            <a:ext cx="2468880" cy="23774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81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66947" y="2377440"/>
            <a:ext cx="2468880" cy="5486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66947" y="24688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Stage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66947" y="306324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EA5E9"/>
                </a:solidFill>
                <a:latin typeface="Microsoft JhengHei"/>
              </a:rPr>
              <a:t>並行 Collect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66947" y="352044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👥 採購 + EPM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49827" y="388620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13 steps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採購補價 / EPM Cleansheet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985827" y="3383280"/>
            <a:ext cx="246888" cy="36576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55867" y="2377440"/>
            <a:ext cx="2468880" cy="23774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81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5867" y="2377440"/>
            <a:ext cx="2468880" cy="5486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5867" y="24688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Stage 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5867" y="306324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6A34A"/>
                </a:solidFill>
                <a:latin typeface="Microsoft JhengHei"/>
              </a:rPr>
              <a:t>BOM Cost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5867" y="352044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👥 DPM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8747" y="388620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5 steps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Review / Lock / Propagate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774747" y="3383280"/>
            <a:ext cx="246888" cy="365760"/>
          </a:xfrm>
          <a:prstGeom prst="right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44787" y="2377440"/>
            <a:ext cx="2468880" cy="23774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81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44787" y="2377440"/>
            <a:ext cx="2468880" cy="54864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44787" y="24688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Stage 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44787" y="306324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B91C1C"/>
                </a:solidFill>
                <a:latin typeface="Microsoft JhengHei"/>
              </a:rPr>
              <a:t>業務 Gate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44787" y="352044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👥 業務 / BPM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27667" y="388620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3 steps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簽核 / 議價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B4F72"/>
                </a:solidFill>
                <a:latin typeface="Microsoft JhengHei"/>
              </a:rPr>
              <a:t>🔑 4 個關鍵概念 (v0.7)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9447" y="5440680"/>
            <a:ext cx="2606040" cy="86868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6607" y="548640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EA5E9"/>
                </a:solidFill>
                <a:latin typeface="Microsoft JhengHei"/>
              </a:rPr>
              <a:t>Variant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6607" y="576072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Black / White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6607" y="603504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EE 共用 / ME per variant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98367" y="5440680"/>
            <a:ext cx="2606040" cy="86868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35527" y="548640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B4F72"/>
                </a:solidFill>
                <a:latin typeface="Microsoft JhengHei"/>
              </a:rPr>
              <a:t>Multi-Factory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35527" y="576072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CN / VN / TW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35527" y="603504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3 廠 × 2 variant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87287" y="5440680"/>
            <a:ext cx="2606040" cy="86868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 w="127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24447" y="548640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D28D9"/>
                </a:solidFill>
                <a:latin typeface="Microsoft JhengHei"/>
              </a:rPr>
              <a:t>Multi-PKG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24447" y="576072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商包 / 工包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24447" y="603504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不同通路給不同 PKG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76207" y="5440680"/>
            <a:ext cx="2606040" cy="86868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13367" y="548640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45309"/>
                </a:solidFill>
                <a:latin typeface="Microsoft JhengHei"/>
              </a:rPr>
              <a:t>Qty Scenario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13367" y="576072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Low / High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13367" y="603504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100K / 418K 並存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B4F72"/>
                </a:solidFill>
                <a:latin typeface="Microsoft JhengHei"/>
              </a:rPr>
              <a:t>§A 入門 · 進入操作流程清單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3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Cortex BOM 模組 · 操作說明手冊 v1 · 2026-06-09 · 對應 Demo v0.7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6B6D4"/>
                </a:solidFill>
                <a:latin typeface="Microsoft JhengHei"/>
              </a:rPr>
              <a:t>GETTING STARTED · NAVIGATE TO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0A2540"/>
                </a:solidFill>
                <a:latin typeface="Microsoft JhengHei"/>
              </a:rPr>
              <a:t>怎麼進入操作流程清單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Microsoft JhengHei"/>
              </a:rPr>
              <a:t>打開 demo HTML → 選 SteelSeries 案 → Work Room → Form tab → nav 第 2 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447" y="2377440"/>
            <a:ext cx="2606040" cy="21945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447" y="246888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06B6D4"/>
                </a:solidFill>
                <a:latin typeface="Microsoft JhengHei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327" y="310896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A2540"/>
                </a:solidFill>
                <a:latin typeface="Microsoft JhengHei"/>
              </a:rPr>
              <a:t>打開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327" y="352044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docs/Cortex_互動Demo_v0.7.html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235487" y="3337560"/>
            <a:ext cx="137160" cy="27432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98367" y="2377440"/>
            <a:ext cx="2606040" cy="21945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98367" y="246888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06B6D4"/>
                </a:solidFill>
                <a:latin typeface="Microsoft JhengHei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1247" y="310896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A2540"/>
                </a:solidFill>
                <a:latin typeface="Microsoft JhengHei"/>
              </a:rPr>
              <a:t>選 SteelSeries 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1247" y="352044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QT-2026-0148 · Rival 3+ Wired Mouse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024407" y="3337560"/>
            <a:ext cx="137160" cy="27432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7287" y="2377440"/>
            <a:ext cx="2606040" cy="21945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87287" y="246888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06B6D4"/>
                </a:solidFill>
                <a:latin typeface="Microsoft JhengHei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310896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A2540"/>
                </a:solidFill>
                <a:latin typeface="Microsoft JhengHei"/>
              </a:rPr>
              <a:t>進 Work Room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0167" y="352044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切到 Form tab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813327" y="3337560"/>
            <a:ext cx="137160" cy="27432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76207" y="2377440"/>
            <a:ext cx="2606040" cy="21945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76207" y="246888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06B6D4"/>
                </a:solidFill>
                <a:latin typeface="Microsoft JhengHei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9087" y="310896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A2540"/>
                </a:solidFill>
                <a:latin typeface="Microsoft JhengHei"/>
              </a:rPr>
              <a:t>點 🎬 操作流程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9087" y="352044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nav 第 2 格(在客戶資料下方)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846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B4F72"/>
                </a:solidFill>
                <a:latin typeface="Microsoft JhengHei"/>
              </a:rPr>
              <a:t>📋 nav 看起來像這樣(13 個 section)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257800"/>
            <a:ext cx="2194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2180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A2540"/>
                </a:solidFill>
                <a:latin typeface="Microsoft JhengHei"/>
              </a:rPr>
              <a:t>📋 客戶資料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532180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onsolas"/>
              </a:rPr>
              <a:t>8/8 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669280"/>
            <a:ext cx="2194560" cy="365760"/>
          </a:xfrm>
          <a:prstGeom prst="rect">
            <a:avLst/>
          </a:prstGeom>
          <a:solidFill>
            <a:srgbClr val="FBBF24"/>
          </a:solidFill>
          <a:ln w="1905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73328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A2540"/>
                </a:solidFill>
                <a:latin typeface="Microsoft JhengHei"/>
              </a:rPr>
              <a:t>🎬 操作流程 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57332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onsolas"/>
              </a:rPr>
              <a:t>14/22 ⚡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34640" y="5257800"/>
            <a:ext cx="2194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26080" y="532180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A2540"/>
                </a:solidFill>
                <a:latin typeface="Microsoft JhengHei"/>
              </a:rPr>
              <a:t>🎨 CMF 變體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532180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onsolas"/>
              </a:rPr>
              <a:t>6/6 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40" y="5669280"/>
            <a:ext cx="2194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26080" y="573328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A2540"/>
                </a:solidFill>
                <a:latin typeface="Microsoft JhengHei"/>
              </a:rPr>
              <a:t>📦 BOM 結構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0" y="57332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onsolas"/>
              </a:rPr>
              <a:t>14/16 ⚡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20640" y="5257800"/>
            <a:ext cx="2194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12080" y="532180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A2540"/>
                </a:solidFill>
                <a:latin typeface="Microsoft JhengHei"/>
              </a:rPr>
              <a:t>📮 包裝 BOM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532180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onsolas"/>
              </a:rPr>
              <a:t>14/16 ⚡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20640" y="5669280"/>
            <a:ext cx="2194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12080" y="573328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A2540"/>
                </a:solidFill>
                <a:latin typeface="Microsoft JhengHei"/>
              </a:rPr>
              <a:t>💰 詢價彙總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57332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onsolas"/>
              </a:rPr>
              <a:t>6/8 ⚡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06640" y="5257800"/>
            <a:ext cx="2194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98080" y="532180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A2540"/>
                </a:solidFill>
                <a:latin typeface="Microsoft JhengHei"/>
              </a:rPr>
              <a:t>🔧 NRE 成本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532180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onsolas"/>
              </a:rPr>
              <a:t>7/11 ⚡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06640" y="5669280"/>
            <a:ext cx="2194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98080" y="573328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A2540"/>
                </a:solidFill>
                <a:latin typeface="Microsoft JhengHei"/>
              </a:rPr>
              <a:t>🏭 多廠矩陣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69680" y="57332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onsolas"/>
              </a:rPr>
              <a:t>24/24 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92640" y="5257800"/>
            <a:ext cx="2194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84080" y="532180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A2540"/>
                </a:solidFill>
                <a:latin typeface="Microsoft JhengHei"/>
              </a:rPr>
              <a:t>🧮 Cleansheet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55680" y="532180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onsolas"/>
              </a:rPr>
              <a:t>81/81 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92640" y="5669280"/>
            <a:ext cx="2194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84080" y="573328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A2540"/>
                </a:solidFill>
                <a:latin typeface="Microsoft JhengHei"/>
              </a:rPr>
              <a:t>💰 Margin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55680" y="57332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onsolas"/>
              </a:rPr>
              <a:t>24/24 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640080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6B6D4"/>
                </a:solidFill>
                <a:latin typeface="Microsoft JhengHei"/>
              </a:rPr>
              <a:t>💡 點 ★「🎬 操作流程」即可看到整體進度條 + 4 Stage cards + 22 個 step 清單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B4F72"/>
                </a:solidFill>
                <a:latin typeface="Microsoft JhengHei"/>
              </a:rPr>
              <a:t>§B Stage 4 · BOM 提供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4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Cortex BOM 模組 · 操作說明手冊 v1 · 2026-06-09 · 對應 Demo v0.7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57200"/>
            <a:ext cx="12191695" cy="155448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STAGE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BOM 提供 · 5 個操作步驟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1F5F9"/>
                </a:solidFill>
                <a:latin typeface="Microsoft JhengHei"/>
              </a:rPr>
              <a:t>RD 把舊 Excel 換成新 BOM 結構 · AI 自動對齊 ERP · 90% 步驟自動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68880"/>
            <a:ext cx="11155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468880"/>
            <a:ext cx="54864" cy="64008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3347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6366F1"/>
                </a:solidFill>
                <a:latin typeface="Microsoft JhengHei"/>
              </a:rPr>
              <a:t>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5146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6366F1"/>
                </a:solidFill>
                <a:latin typeface="Consolas"/>
              </a:rPr>
              <a:t>4.1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761488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A2540"/>
                </a:solidFill>
                <a:latin typeface="Microsoft JhengHei"/>
              </a:rPr>
              <a:t>RD 上傳 BOM Excel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63347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拖檔 + 點選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33472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👤 RD Troy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200400"/>
            <a:ext cx="11155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200400"/>
            <a:ext cx="54864" cy="64008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36499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6366F1"/>
                </a:solidFill>
                <a:latin typeface="Microsoft JhengHei"/>
              </a:rPr>
              <a:t>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2461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6366F1"/>
                </a:solidFill>
                <a:latin typeface="Consolas"/>
              </a:rPr>
              <a:t>4.2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493008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A2540"/>
                </a:solidFill>
                <a:latin typeface="Microsoft JhengHei"/>
              </a:rPr>
              <a:t>AI 解析 Excel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36499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自動 · LLM 抽 22 子料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3364992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👤 AI Bot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931920"/>
            <a:ext cx="11155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931920"/>
            <a:ext cx="54864" cy="64008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09651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6366F1"/>
                </a:solidFill>
                <a:latin typeface="Microsoft JhengHei"/>
              </a:rPr>
              <a:t>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9776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6366F1"/>
                </a:solidFill>
                <a:latin typeface="Consolas"/>
              </a:rPr>
              <a:t>4.3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224528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A2540"/>
                </a:solidFill>
                <a:latin typeface="Microsoft JhengHei"/>
              </a:rPr>
              <a:t>AI 比對 ERP top-10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09651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向量化 · embedding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4096512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👤 AI Bot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663440"/>
            <a:ext cx="11155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663440"/>
            <a:ext cx="54864" cy="64008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82803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6366F1"/>
                </a:solidFill>
                <a:latin typeface="Microsoft JhengHe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47091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6366F1"/>
                </a:solidFill>
                <a:latin typeface="Consolas"/>
              </a:rPr>
              <a:t>4.4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4956048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A2540"/>
                </a:solidFill>
                <a:latin typeface="Microsoft JhengHei"/>
              </a:rPr>
              <a:t>RD 確認 ERP 料號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482803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逐項點「採用」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4828032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👤 RD Troy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394960"/>
            <a:ext cx="11155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5394960"/>
            <a:ext cx="54864" cy="64008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555955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6366F1"/>
                </a:solidFill>
                <a:latin typeface="Microsoft JhengHei"/>
              </a:rPr>
              <a:t>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54406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6366F1"/>
                </a:solidFill>
                <a:latin typeface="Consolas"/>
              </a:rPr>
              <a:t>4.5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5687568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A2540"/>
                </a:solidFill>
                <a:latin typeface="Microsoft JhengHei"/>
              </a:rPr>
              <a:t>RD 標 Variant scope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555955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EE 共用 / ME per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559552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👤 RD Troy + Alvin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B4F72"/>
                </a:solidFill>
                <a:latin typeface="Microsoft JhengHei"/>
              </a:rPr>
              <a:t>Stage 4 · Step 4.1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5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Cortex BOM 模組 · 操作說明手冊 v1 · 2026-06-09 · 對應 Demo v0.7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57200"/>
            <a:ext cx="12191695" cy="13716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685800"/>
            <a:ext cx="219456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4980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366F1"/>
                </a:solidFill>
                <a:latin typeface="Microsoft JhengHei"/>
              </a:rPr>
              <a:t>Stage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594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BBF24"/>
                </a:solidFill>
                <a:latin typeface="Microsoft JhengHei"/>
              </a:rPr>
              <a:t>STEP 4.1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96012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Microsoft JhengHei"/>
              </a:rPr>
              <a:t>RD 上傳初版 BOM Excel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86000"/>
            <a:ext cx="557784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5577840" cy="36576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3172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📤 上傳 modal 畫面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74320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9923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[ 📂 拖拉 BOM xlsx 進此區 / 點選檔案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5526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51129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支援:.xlsx / .xlsm · max 20MB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6732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多 sheet OK(EE / ME / PKG)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0233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27939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▶ 模擬解析 (Demo 按鈕)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53542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79145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系統自動做的事: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04748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① 解析 ME/EE/PKG sheet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30352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② 抽 22 個子料 + 規格 + 用量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55955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③ 向量化 → 對 ERP top-10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81558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④ 建好階層樹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2286000"/>
            <a:ext cx="5440680" cy="246888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 w="254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246888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6B6D4"/>
                </a:solidFill>
                <a:latin typeface="Microsoft JhengHei"/>
              </a:rPr>
              <a:t>🎯 操作步驟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29260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① 進 §🎬 操作流程 section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24612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② 找到 Step 4.1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356616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③ 點右側「📤 上傳 Excel」按鈕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388620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④ 拖拉 BOM xlsx 進 modal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420624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⑤ 點「▶ 模擬解析」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4526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⑥ 系統自動跳到 §BOM 看結果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4892040"/>
            <a:ext cx="5440680" cy="777240"/>
          </a:xfrm>
          <a:prstGeom prst="roundRect">
            <a:avLst>
              <a:gd name="adj" fmla="val 15000"/>
            </a:avLst>
          </a:prstGeom>
          <a:solidFill>
            <a:srgbClr val="6D28D9"/>
          </a:solidFill>
          <a:ln w="254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4937760"/>
            <a:ext cx="5440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📤 上傳 Excel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6080760"/>
            <a:ext cx="1115568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614476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👤 操作者: RD Troy / EE Lin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1447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⏱ SLA: 24h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614476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📄 SD: bom-collection-sd §7 Excel 匯入解析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B4F72"/>
                </a:solidFill>
                <a:latin typeface="Microsoft JhengHei"/>
              </a:rPr>
              <a:t>Stage 4 · Step 4.2 + 4.3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6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Cortex BOM 模組 · 操作說明手冊 v1 · 2026-06-09 · 對應 Demo v0.7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57200"/>
            <a:ext cx="12191695" cy="13716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685800"/>
            <a:ext cx="219456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4980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366F1"/>
                </a:solidFill>
                <a:latin typeface="Microsoft JhengHei"/>
              </a:rPr>
              <a:t>Stage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594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BBF24"/>
                </a:solidFill>
                <a:latin typeface="Microsoft JhengHei"/>
              </a:rPr>
              <a:t>STEP 4.2 + 4.3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96012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Microsoft JhengHei"/>
              </a:rPr>
              <a:t>AI 解析 Excel + 比對 ERP top-10(全自動)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86000"/>
            <a:ext cx="557784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5577840" cy="36576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3172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🤖 AI 解析結果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74320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9923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✓ 從 EE BOM sheet 抽 7 個子料: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5526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· Main Board 4L FR4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51129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· Touch Board 2L FR4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6732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· MCU PMW3320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0233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· USB-C male 24P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27939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· ...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53542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79145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✓ 從 ME BOM sheet 抽 4 個子料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04748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✓ 從 PKG sheet 抽 16 個子料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30352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55955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→ 總共 22 個子料 · 0.8 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2286000"/>
            <a:ext cx="544068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2286000"/>
            <a:ext cx="5440680" cy="3657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2331720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🔍 ERP 候選 top-10 (per item)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74320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999232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對「USB-C male 24P」找到: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255264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511296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🔗 CONN-USB-C-M-AA01 · 92% match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76732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  立訊精密 · 2026-03 / $0.62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02336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279392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🔗 CONN-USB-C-M-AA00 · 88% match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535424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  協承精密 · 2026-01 / $0.55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791456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04748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🔗 CONN-USB-C-M-V2 · 71% match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530352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  立訊精密 · 2025-10 / $0.78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5559552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5815584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...(+ 7 個)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760720"/>
            <a:ext cx="1115568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82472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B4F72"/>
                </a:solidFill>
                <a:latin typeface="Microsoft JhengHei"/>
              </a:rPr>
              <a:t>✨ 全自動 · RD 不用操作 · 跳到 §BOM 階層樹即可看到每子料的 ERP badge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6080760"/>
            <a:ext cx="1115568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614476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👤 操作者: AI Bot · Gemini Flash + embedding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61447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⏱ SLA: 0.8s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614476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📄 SD: bom-collection-sd §4 AI 補料層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B4F72"/>
                </a:solidFill>
                <a:latin typeface="Microsoft JhengHei"/>
              </a:rPr>
              <a:t>Stage 4 · Step 4.4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7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Cortex BOM 模組 · 操作說明手冊 v1 · 2026-06-09 · 對應 Demo v0.7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57200"/>
            <a:ext cx="12191695" cy="13716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685800"/>
            <a:ext cx="219456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4980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366F1"/>
                </a:solidFill>
                <a:latin typeface="Microsoft JhengHei"/>
              </a:rPr>
              <a:t>Stage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594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BBF24"/>
                </a:solidFill>
                <a:latin typeface="Microsoft JhengHei"/>
              </a:rPr>
              <a:t>STEP 4.4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96012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Microsoft JhengHei"/>
              </a:rPr>
              <a:t>RD 逐項確認 ERP 料號(採用 / 略過 / 手動)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86000"/>
            <a:ext cx="557784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5577840" cy="36576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3172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📦 §BOM 階層樹 · 子料展開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74320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9923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▼ EE BOM(共用)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5526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▼ PCB 主板組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51129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  ▶ Main Board 4L FR4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6732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     🔗 PCB-MB-4L-FR4-001 · 92%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0233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     qty=1 · → 嘉聯益 @ $0.85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27939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  ▶ Touch Board 2L FR4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53542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     🔗 PCB-TB-2L-FR4-002 · 88%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79145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▼ IC 模組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04748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  ▶ MCU PMW3320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30352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     🔗 IC-MCU-PMW3320 · 95% 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55955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     (信心度高 → 已自動採用)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2286000"/>
            <a:ext cx="5440680" cy="246888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 w="254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246888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6B6D4"/>
                </a:solidFill>
                <a:latin typeface="Microsoft JhengHei"/>
              </a:rPr>
              <a:t>🎯 操作步驟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29260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① 跳到 §📦 BOM 結構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324612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② 階層樹每個子料展開 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56616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③ 看 ERP badge 信心度: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388620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    · 高 (≥85%) → 自動採用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420624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    · 中 (70~85%) → RD 確認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4526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    · 低 (&lt;70%) → 出現「🔍 AI 找料號」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484632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④ 點該按鈕看 top-10 候選 · 點「採用」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4892040"/>
            <a:ext cx="5440680" cy="777240"/>
          </a:xfrm>
          <a:prstGeom prst="roundRect">
            <a:avLst>
              <a:gd name="adj" fmla="val 15000"/>
            </a:avLst>
          </a:prstGeom>
          <a:solidFill>
            <a:srgbClr val="06B6D4"/>
          </a:solidFill>
          <a:ln w="254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4937760"/>
            <a:ext cx="5440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📦  §BOM 階層樹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6080760"/>
            <a:ext cx="1115568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614476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👤 操作者: RD Troy / EE Lin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1447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⏱ SLA: 2h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614476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📄 SD: bom-collection-sd §2 階層樹 + §4.4 RD UX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B4F72"/>
                </a:solidFill>
                <a:latin typeface="Microsoft JhengHei"/>
              </a:rPr>
              <a:t>Stage 4 · Step 4.5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8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Cortex BOM 模組 · 操作說明手冊 v1 · 2026-06-09 · 對應 Demo v0.7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57200"/>
            <a:ext cx="12191695" cy="13716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685800"/>
            <a:ext cx="219456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4980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366F1"/>
                </a:solidFill>
                <a:latin typeface="Microsoft JhengHei"/>
              </a:rPr>
              <a:t>Stage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594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BBF24"/>
                </a:solidFill>
                <a:latin typeface="Microsoft JhengHei"/>
              </a:rPr>
              <a:t>STEP 4.5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96012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Microsoft JhengHei"/>
              </a:rPr>
              <a:t>RD 標 Variant scope · EE 共用 / ME per variant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86000"/>
            <a:ext cx="557784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5577840" cy="36576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3172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🎨 Variant scope 標記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74320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9923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在 §BOM 每子料 row 右側勾選: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5526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51129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▶ Main Board 4L FR4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6732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 ◉ shared (共用) ← Black/White 同一塊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0233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 ○ per_variant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27939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53542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▶ 上殼塑膠件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79145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 ○ shared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04748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 ◉ per_variant ← 黑白塑膠不同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30352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     · black: SHELL-MS-RIVAL-B-01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55955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     · white: SHELL-MS-RIVAL-W-01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2286000"/>
            <a:ext cx="5440680" cy="246888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 w="254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246888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6B6D4"/>
                </a:solidFill>
                <a:latin typeface="Microsoft JhengHei"/>
              </a:rPr>
              <a:t>🎯 操作步驟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29260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① 切到 §🎨 CMF 變體 看軸定義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324612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    (cmf_color = [Black, White])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56616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② 回 §📦 BOM 結構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388620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③ 每子料右側勾「共用」或「per_variant」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420624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④ per_variant 的料件 → 各 variant 各填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4526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⑤ 預設規則:EE 共用 / ME per_variant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80" y="4892040"/>
            <a:ext cx="5440680" cy="777240"/>
          </a:xfrm>
          <a:prstGeom prst="roundRect">
            <a:avLst>
              <a:gd name="adj" fmla="val 15000"/>
            </a:avLst>
          </a:prstGeom>
          <a:solidFill>
            <a:srgbClr val="06B6D4"/>
          </a:solidFill>
          <a:ln w="254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4937760"/>
            <a:ext cx="5440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📦  §BOM 階層樹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6080760"/>
            <a:ext cx="1115568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614476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👤 操作者: RD Troy + Alvin (ME)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1447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⏱ SLA: 4h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614476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📄 SD: bom-collection-sd §12 + factory-matrix-sd §11.3.5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B4F72"/>
                </a:solidFill>
                <a:latin typeface="Microsoft JhengHei"/>
              </a:rPr>
              <a:t>§C Stage 5 · 並行 Collect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9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Cortex BOM 模組 · 操作說明手冊 v1 · 2026-06-09 · 對應 Demo v0.7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57200"/>
            <a:ext cx="12191695" cy="155448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STAGE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並行 Collect · 13 個操作步驟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1F5F9"/>
                </a:solidFill>
                <a:latin typeface="Microsoft JhengHei"/>
              </a:rPr>
              <a:t>採購端(5.1~5.8)補 mfg + 雙價 + 多 PKG / 多 Qty;EPM 端(5.9~5.13)上傳 Cleansheet + Compute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EA5E9"/>
                </a:solidFill>
                <a:latin typeface="Microsoft JhengHei"/>
              </a:rPr>
              <a:t>🛒 採購端 (8 steps)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97480"/>
            <a:ext cx="5577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EA5E9"/>
                </a:solidFill>
                <a:latin typeface="Consolas"/>
              </a:rPr>
              <a:t>5.1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7432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採購接手 BOM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81528"/>
            <a:ext cx="5577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12724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EA5E9"/>
                </a:solidFill>
                <a:latin typeface="Consolas"/>
              </a:rPr>
              <a:t>5.2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1272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+ Mfg 選項(可多家)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465576"/>
            <a:ext cx="5577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51129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EA5E9"/>
                </a:solidFill>
                <a:latin typeface="Consolas"/>
              </a:rPr>
              <a:t>5.3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51129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+ Snapshot · RFQ 報價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49624"/>
            <a:ext cx="5577840" cy="347472"/>
          </a:xfrm>
          <a:prstGeom prst="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89534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EA5E9"/>
                </a:solidFill>
                <a:latin typeface="Consolas"/>
              </a:rPr>
              <a:t>5.4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89534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🆕 填 Tier 雙價 (True+Quote)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233672"/>
            <a:ext cx="5577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27939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EA5E9"/>
                </a:solidFill>
                <a:latin typeface="Consolas"/>
              </a:rPr>
              <a:t>5.5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27939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ERP 拉歷史價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617720"/>
            <a:ext cx="5577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6634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EA5E9"/>
                </a:solidFill>
                <a:latin typeface="Consolas"/>
              </a:rPr>
              <a:t>5.6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6634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採購策略選定 Mfg+Tier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001768"/>
            <a:ext cx="5577840" cy="347472"/>
          </a:xfrm>
          <a:prstGeom prst="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0474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EA5E9"/>
                </a:solidFill>
                <a:latin typeface="Consolas"/>
              </a:rPr>
              <a:t>5.7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50474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🆕 多 PKG 商包/工包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385816"/>
            <a:ext cx="5577840" cy="347472"/>
          </a:xfrm>
          <a:prstGeom prst="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43153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EA5E9"/>
                </a:solidFill>
                <a:latin typeface="Consolas"/>
              </a:rPr>
              <a:t>5.8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543153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🆕 多 Qty Low/High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2286000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EA5E9"/>
                </a:solidFill>
                <a:latin typeface="Microsoft JhengHei"/>
              </a:rPr>
              <a:t>🏭 EPM 端 (5 steps)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2697480"/>
            <a:ext cx="5349240" cy="347472"/>
          </a:xfrm>
          <a:prstGeom prst="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27432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EA5E9"/>
                </a:solidFill>
                <a:latin typeface="Consolas"/>
              </a:rPr>
              <a:t>5.9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274320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🆕 EPM 上傳 Cleansheet xlsx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5080" y="3081528"/>
            <a:ext cx="5349240" cy="347472"/>
          </a:xfrm>
          <a:prstGeom prst="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312724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EA5E9"/>
                </a:solidFill>
                <a:latin typeface="Consolas"/>
              </a:rPr>
              <a:t>5.10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3127248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🆕 Diff Preview + Approve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5080" y="3465576"/>
            <a:ext cx="5349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60" y="351129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EA5E9"/>
                </a:solidFill>
                <a:latin typeface="Consolas"/>
              </a:rPr>
              <a:t>5.11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9480" y="3511296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案級配製程清單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5080" y="3849624"/>
            <a:ext cx="5349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60" y="389534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EA5E9"/>
                </a:solidFill>
                <a:latin typeface="Consolas"/>
              </a:rPr>
              <a:t>5.12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69480" y="3895344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案級配設備/耗材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55080" y="4233672"/>
            <a:ext cx="5349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37960" y="427939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EA5E9"/>
                </a:solidFill>
                <a:latin typeface="Consolas"/>
              </a:rPr>
              <a:t>5.13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69480" y="427939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觸發 Compute → cs_run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3093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6B6D4"/>
                </a:solidFill>
                <a:latin typeface="Microsoft JhengHei"/>
              </a:rPr>
              <a:t>💡 採購跟 EPM 平行進行 · 不互相 block · 預計 5~7 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B4F72"/>
                </a:solidFill>
                <a:latin typeface="Microsoft JhengHei"/>
              </a:rPr>
              <a:t>Stage 5 · Step 5.1 + 5.2 + 5.3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10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Cortex BOM 模組 · 操作說明手冊 v1 · 2026-06-09 · 對應 Demo v0.7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57200"/>
            <a:ext cx="12191695" cy="13716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685800"/>
            <a:ext cx="219456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4980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EA5E9"/>
                </a:solidFill>
                <a:latin typeface="Microsoft JhengHei"/>
              </a:rPr>
              <a:t>Stage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594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BBF24"/>
                </a:solidFill>
                <a:latin typeface="Microsoft JhengHei"/>
              </a:rPr>
              <a:t>STEP 5.1~5.3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96012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Microsoft JhengHei"/>
              </a:rPr>
              <a:t>採購接手 BOM → 補 Mfg → 補 Snapshot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86000"/>
            <a:ext cx="557784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5577840" cy="3657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3172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📦 §BOM 階層樹 · item 展開抽屜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74320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9923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▶ Main Board 4L FR4(展開後)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5526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51129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製造商選項 (2 家)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6732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✓ 嘉聯益 [選定]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0233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    ⚙ 採購選定 · 配合度高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27939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    ▼ RFQ-2026-0412-A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53542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       tier 表(下一頁深入)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79145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04748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☐ 臻鼎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30352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    ▶ RFQ-2026-0412-B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55955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81558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[+ 新增製造商]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2286000"/>
            <a:ext cx="5440680" cy="274320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 w="254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246888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6B6D4"/>
                </a:solidFill>
                <a:latin typeface="Microsoft JhengHei"/>
              </a:rPr>
              <a:t>🎯 三個操作步驟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29260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5.1 採購接手:跳 §BOM 採購策略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24612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356616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5.2 + Mfg: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388620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    點 item ▶ 展開 → [+ Mfg]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420624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    從廠商 master 選 / 新增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4526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484632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5.3 + Snapshot: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516636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    點 mfg ▶ 展開 → [+ 新增報價快照]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548640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    填 RFQ 編號 / 有效期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580644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    下一頁:填 Tier 雙價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55080" y="5166360"/>
            <a:ext cx="2606040" cy="502920"/>
          </a:xfrm>
          <a:prstGeom prst="roundRect">
            <a:avLst>
              <a:gd name="adj" fmla="val 15000"/>
            </a:avLst>
          </a:prstGeom>
          <a:solidFill>
            <a:srgbClr val="06B6D4"/>
          </a:solidFill>
          <a:ln w="254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5212080"/>
            <a:ext cx="2606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📦  §BOM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5166360"/>
            <a:ext cx="2606040" cy="502920"/>
          </a:xfrm>
          <a:prstGeom prst="roundRect">
            <a:avLst>
              <a:gd name="adj" fmla="val 15000"/>
            </a:avLst>
          </a:prstGeom>
          <a:solidFill>
            <a:srgbClr val="1B4F72"/>
          </a:solidFill>
          <a:ln w="254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5212080"/>
            <a:ext cx="2606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▶  + Mfg / + Snapshot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6080760"/>
            <a:ext cx="1115568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14476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👤 操作者: 採購 David Chang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61447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⏱ SLA: 1~2 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0" y="614476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📄 SD: bom-collection-sd §2.3 mfg + snapshot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B4F72"/>
                </a:solidFill>
                <a:latin typeface="Microsoft JhengHei"/>
              </a:rPr>
              <a:t>Stage 5 · Step 5.4 (v0.7 KEY)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11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Cortex BOM 模組 · 操作說明手冊 v1 · 2026-06-09 · 對應 Demo v0.7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57200"/>
            <a:ext cx="12191695" cy="13716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685800"/>
            <a:ext cx="219456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4980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EA5E9"/>
                </a:solidFill>
                <a:latin typeface="Microsoft JhengHei"/>
              </a:rPr>
              <a:t>Stage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594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BBF24"/>
                </a:solidFill>
                <a:latin typeface="Microsoft JhengHei"/>
              </a:rPr>
              <a:t>STEP 5.4 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96012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Microsoft JhengHei"/>
              </a:rPr>
              <a:t>填 Price Tier · True Cost + Quote Price 雙價(v0.7 核心)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86000"/>
            <a:ext cx="658368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6583680" cy="36576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317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📊 Price Tier modal · 表格輸入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743200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99232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目前選擇:Main Board 4L · 嘉聯益 · RFQ-2026-0412-A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55264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511296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─────────────────────────────────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67328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Tier | Qty Min | Qty Max | 🔒 True $ | Quote $ | Markup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023360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─────────────────────────────────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279392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LOW  | 0       | 100K    | $0.92 🔴 | $1.20  | 30.4% 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535424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HIGH | 100K+   | 無上限  | $0.85 🔴 | $1.10  | 29.4% 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791456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─────────────────────────────────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047488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[+ 新增 Tier]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303520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559552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💡 Markup = (Quote-True)/True · 自動計算(不能手填)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815584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🔒 True $ 只有 VIEW_TRUE_COST 角色看得到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2286000"/>
            <a:ext cx="4434840" cy="274320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 w="254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0" y="2468880"/>
            <a:ext cx="4069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6D28D9"/>
                </a:solidFill>
                <a:latin typeface="Microsoft JhengHei"/>
              </a:rPr>
              <a:t>🎯 操作步驟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2926080"/>
            <a:ext cx="3977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① 進操作流程清單 Step 5.4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3246120"/>
            <a:ext cx="3977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② 點「📊 新增 Tier」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3566160"/>
            <a:ext cx="3977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③ 填 Qty Min / Max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3886200"/>
            <a:ext cx="3977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④ 填 True $ (採購談到的真價)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4206240"/>
            <a:ext cx="3977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⑤ 填 Quote $ (給客戶報價)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4526280"/>
            <a:ext cx="3977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⑥ Markup% 系統 auto 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4846320"/>
            <a:ext cx="3977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⑦ 點「💾 儲存」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60920" y="5166360"/>
            <a:ext cx="4434840" cy="502920"/>
          </a:xfrm>
          <a:prstGeom prst="roundRect">
            <a:avLst>
              <a:gd name="adj" fmla="val 15000"/>
            </a:avLst>
          </a:prstGeom>
          <a:solidFill>
            <a:srgbClr val="6D28D9"/>
          </a:solidFill>
          <a:ln w="254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60920" y="5212080"/>
            <a:ext cx="4434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📊 新增 Tier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6080760"/>
            <a:ext cx="1115568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614476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👤 操作者: 採購 David Chang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61447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⏱ SLA: 30 min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614476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📄 SD: bom-collection-sd §19 True/Quote markup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B4F72"/>
                </a:solidFill>
                <a:latin typeface="Microsoft JhengHei"/>
              </a:rPr>
              <a:t>Stage 5 · Step 5.5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12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Cortex BOM 模組 · 操作說明手冊 v1 · 2026-06-09 · 對應 Demo v0.7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57200"/>
            <a:ext cx="12191695" cy="13716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685800"/>
            <a:ext cx="219456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4980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EA5E9"/>
                </a:solidFill>
                <a:latin typeface="Microsoft JhengHei"/>
              </a:rPr>
              <a:t>Stage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594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BBF24"/>
                </a:solidFill>
                <a:latin typeface="Microsoft JhengHei"/>
              </a:rPr>
              <a:t>STEP 5.5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96012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Microsoft JhengHei"/>
              </a:rPr>
              <a:t>從 ERP po_lines_all 拉上次採購單價(歷史價)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86000"/>
            <a:ext cx="557784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5577840" cy="3657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3172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💰 ERP PO 歷史 modal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74320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9923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篩選:USB-C Connector · CONN-USB-C-M-AA01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5526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近 12 個月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51129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6732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─────────────────────────────────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0233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PO #          | Date     | Vendor   | Unit $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27939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─────────────────────────────────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53542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PO-2026-04-9821 | 2026-03-15 | 立訊精密 | $0.62 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79145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PO-2026-02-8854 | 2026-01-28 | 協承精密 | $0.55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04748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PO-2025-11-7621 | 2025-10-12 | 立訊精密 | $0.78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30352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55955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[ ✓ 採用 ] 按鈕 → 自動帶入 True $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81558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07161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⚠ 最早 PO 已 &gt;90 天 · 建議重詢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2286000"/>
            <a:ext cx="5440680" cy="246888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 w="254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246888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6B6D4"/>
                </a:solidFill>
                <a:latin typeface="Microsoft JhengHei"/>
              </a:rPr>
              <a:t>🎯 操作步驟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29260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① 操作流程 Step 5.5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324612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② 點「💰 拉 ERP 歷史價」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356616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③ 系統自動列近 12 個月 PO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88620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④ 看 vendor / OU / qty / 單價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420624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⑤ 點「✓ 採用」帶入到 Tier True $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4526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⑥ 系統 flag 過期 PO(&gt;90天)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4892040"/>
            <a:ext cx="5440680" cy="777240"/>
          </a:xfrm>
          <a:prstGeom prst="roundRect">
            <a:avLst>
              <a:gd name="adj" fmla="val 15000"/>
            </a:avLst>
          </a:prstGeom>
          <a:solidFill>
            <a:srgbClr val="6D28D9"/>
          </a:solidFill>
          <a:ln w="254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4937760"/>
            <a:ext cx="5440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💰 拉 ERP 歷史價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6080760"/>
            <a:ext cx="1115568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614476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👤 操作者: 採購 David Chang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61447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⏱ SLA: 即時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614476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📄 SD: bom-collection-sd §3 ERP 查詢層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B4F72"/>
                </a:solidFill>
                <a:latin typeface="Microsoft JhengHei"/>
              </a:rPr>
              <a:t>Stage 5 · Step 5.6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13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Cortex BOM 模組 · 操作說明手冊 v1 · 2026-06-09 · 對應 Demo v0.7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57200"/>
            <a:ext cx="12191695" cy="13716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685800"/>
            <a:ext cx="219456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4980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EA5E9"/>
                </a:solidFill>
                <a:latin typeface="Microsoft JhengHei"/>
              </a:rPr>
              <a:t>Stage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594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BBF24"/>
                </a:solidFill>
                <a:latin typeface="Microsoft JhengHei"/>
              </a:rPr>
              <a:t>STEP 5.6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96012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Microsoft JhengHei"/>
              </a:rPr>
              <a:t>採購策略 · 每子料指定選定 Mfg + Tier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86000"/>
            <a:ext cx="557784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5577840" cy="3657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3172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📋 採購策略總覽表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74320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9923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─────────────────────────────────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5526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子料           | 選定 Mfg | 單價 | 幣別 | 有效期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51129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─────────────────────────────────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6732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Main Board 4L  | 嘉聯益    | $0.85 | USD | 08-31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0233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Touch Board 2L | 嘉聯益    | $0.42 | USD | 08-31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27939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MCU PMW3320    | PixArt    | $2.85 | USD | 12-31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53542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USB-C male 24P | 立訊精密  | $0.62 | USD | 08-31 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79145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...(+ 18 個)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04748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30352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✓ 22 / 22 已決策 · 全綠燈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2286000"/>
            <a:ext cx="5440680" cy="246888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 w="254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246888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6B6D4"/>
                </a:solidFill>
                <a:latin typeface="Microsoft JhengHei"/>
              </a:rPr>
              <a:t>🎯 操作步驟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9260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① 進 §BOM 採購策略總覽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324612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② 每子料 row 三件事: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356616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    · 選定 mfg(點 mfg row 設定)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88620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    · 選定 tier(點 snapshot is_chosen)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20624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    · 加採購備註(可選)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4526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③ 完成 → 22/22 全綠燈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484632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④ 進 EPM Cleansheet &amp; DPM Lock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80" y="4892040"/>
            <a:ext cx="5440680" cy="777240"/>
          </a:xfrm>
          <a:prstGeom prst="roundRect">
            <a:avLst>
              <a:gd name="adj" fmla="val 15000"/>
            </a:avLst>
          </a:prstGeom>
          <a:solidFill>
            <a:srgbClr val="06B6D4"/>
          </a:solidFill>
          <a:ln w="254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4937760"/>
            <a:ext cx="5440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📦  §BOM 採購策略總覽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6080760"/>
            <a:ext cx="1115568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614476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👤 操作者: 採購 David Chang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1447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⏱ SLA: 1 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614476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📄 SD: bom-collection-sd §2.4 採購策略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B4F72"/>
                </a:solidFill>
                <a:latin typeface="Microsoft JhengHei"/>
              </a:rPr>
              <a:t>Stage 5 · Step 5.7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14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Cortex BOM 模組 · 操作說明手冊 v1 · 2026-06-09 · 對應 Demo v0.7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57200"/>
            <a:ext cx="12191695" cy="13716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685800"/>
            <a:ext cx="219456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4980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EA5E9"/>
                </a:solidFill>
                <a:latin typeface="Microsoft JhengHei"/>
              </a:rPr>
              <a:t>Stage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594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BBF24"/>
                </a:solidFill>
                <a:latin typeface="Microsoft JhengHei"/>
              </a:rPr>
              <a:t>STEP 5.7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96012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Microsoft JhengHei"/>
              </a:rPr>
              <a:t>🆕 多 PKG 版本 · 商包 / 工包 各補一份 BOM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86000"/>
            <a:ext cx="557784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5577840" cy="3657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3172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📮 §packaging · PKG version tabs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74320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9923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[ 商包 ★ ] [ 工包 ] [+ 新增 PKG]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5526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       ↑ 點切換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51129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6732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▼ 當前展示:商包(16 items)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0233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· Gift Box / Inner Pad / 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27939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· True $0.71 / Quote $0.83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53542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· Markup avg 17%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79145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04748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▼ 切到「工包」(3 items)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30352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· Master Carton / SN Label / Pallet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55955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· True $0.18 / Quote $0.28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81558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· Markup avg 51%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2286000"/>
            <a:ext cx="5440680" cy="246888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 w="254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246888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6B6D4"/>
                </a:solidFill>
                <a:latin typeface="Microsoft JhengHei"/>
              </a:rPr>
              <a:t>🎯 操作步驟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29260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① 切到 §包裝 BOM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24612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② 上方看到「商包」「工包」tabs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356616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③ 點「商包」→ 補 16 items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388620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④ 點「工包」→ 補 3 items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420624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⑤ 每 item 兩價 (True+Quote)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4526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⑥ 適用通路 (retail / b2b) 各自設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4892040"/>
            <a:ext cx="5440680" cy="777240"/>
          </a:xfrm>
          <a:prstGeom prst="roundRect">
            <a:avLst>
              <a:gd name="adj" fmla="val 15000"/>
            </a:avLst>
          </a:prstGeom>
          <a:solidFill>
            <a:srgbClr val="06B6D4"/>
          </a:solidFill>
          <a:ln w="254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4937760"/>
            <a:ext cx="5440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📮  §包裝 BOM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6080760"/>
            <a:ext cx="1115568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614476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👤 操作者: PKG 採購 Ken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1447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⏱ SLA: 2 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614476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📄 SD: bom-collection-sd §17 Multi-PKG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B4F72"/>
                </a:solidFill>
                <a:latin typeface="Microsoft JhengHei"/>
              </a:rPr>
              <a:t>Stage 5 · Step 5.8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15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Cortex BOM 模組 · 操作說明手冊 v1 · 2026-06-09 · 對應 Demo v0.7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57200"/>
            <a:ext cx="12191695" cy="13716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685800"/>
            <a:ext cx="219456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4980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EA5E9"/>
                </a:solidFill>
                <a:latin typeface="Microsoft JhengHei"/>
              </a:rPr>
              <a:t>Stage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594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BBF24"/>
                </a:solidFill>
                <a:latin typeface="Microsoft JhengHei"/>
              </a:rPr>
              <a:t>STEP 5.8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96012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Microsoft JhengHei"/>
              </a:rPr>
              <a:t>🆕 多 Qty Scenario · Low 100K / High 418K 並存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86000"/>
            <a:ext cx="557784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5577840" cy="3657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3172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📊 §factory_matrix · Qty toggle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74320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9923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Qty: [ Low ] [ High ★ ]  PKG: [ 商包 ★ ] [ 工包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5526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51129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▼ 切到「Low qty」 100K(US only)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6732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· mfg tier 自動切到 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0233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· MVA × 1.41(lines util 下降)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27939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· CN-Black total: $13.40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53542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79145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▼ 切到「High qty」 418K(Global)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04748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· mfg tier 自動切到 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30352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· MVA baseline · 滿載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55955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· CN-Black total: $11.12 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81558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07161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→ 24 cells 動態更新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2286000"/>
            <a:ext cx="5440680" cy="246888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 w="254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246888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6B6D4"/>
                </a:solidFill>
                <a:latin typeface="Microsoft JhengHei"/>
              </a:rPr>
              <a:t>🎯 操作步驟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29260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① 進 §多廠矩陣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324612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② 上方 toggle bar 切 Qty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356616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③ Low / High 動態切換 24 cells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88620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④ 看 4 scenario 比較表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420624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⑤ 採購確認每 Tier 對應 mfg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4526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484632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💡 同案多 scenario 並存,不是擇一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55080" y="4892040"/>
            <a:ext cx="5440680" cy="777240"/>
          </a:xfrm>
          <a:prstGeom prst="roundRect">
            <a:avLst>
              <a:gd name="adj" fmla="val 15000"/>
            </a:avLst>
          </a:prstGeom>
          <a:solidFill>
            <a:srgbClr val="06B6D4"/>
          </a:solidFill>
          <a:ln w="254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4937760"/>
            <a:ext cx="5440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🏭  §多廠矩陣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6080760"/>
            <a:ext cx="1115568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614476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👤 操作者: 採購 + DPM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61447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⏱ SLA: 即時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614476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📄 SD: bom-collection-sd §18 Qty Scenario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B4F72"/>
                </a:solidFill>
                <a:latin typeface="Microsoft JhengHei"/>
              </a:rPr>
              <a:t>Stage 5 · Step 5.9 + 5.10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16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Cortex BOM 模組 · 操作說明手冊 v1 · 2026-06-09 · 對應 Demo v0.7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57200"/>
            <a:ext cx="12191695" cy="13716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685800"/>
            <a:ext cx="219456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4980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EA5E9"/>
                </a:solidFill>
                <a:latin typeface="Microsoft JhengHei"/>
              </a:rPr>
              <a:t>Stage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594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BBF24"/>
                </a:solidFill>
                <a:latin typeface="Microsoft JhengHei"/>
              </a:rPr>
              <a:t>STEP 5.9~5.10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96012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Microsoft JhengHei"/>
              </a:rPr>
              <a:t>EPM 上傳 Cleansheet xlsx + Diff Preview Approve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86000"/>
            <a:ext cx="557784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5577840" cy="36576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3172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📤 Cleansheet 上傳 modal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74320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9923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上傳對象:CN 廠 · 蘇州廠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5526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51129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[ 🧮 拖拉 Cleansheet xlsx 進此區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6732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e.g. Rival 3+ Cleansheet_China-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0233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     20250211-21S.xlsx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27939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53542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▶ 模擬解析 + 進 Diff Preview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79145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04748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系統自動做: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30352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① 解析 8 個 sheet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55955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② 抽 baseline + 58 設備 + 17 耗材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81558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③ 對比舊 baseline · diff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07161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④ 開 Diff Preview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2286000"/>
            <a:ext cx="544068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2286000"/>
            <a:ext cx="5440680" cy="36576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2331720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🔍 Diff Preview 表(8 項變更)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74320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2999232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─────────────────────────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255264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✓ DL wage: $4.95 → $5.20 (+5%)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511296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✓ Section Mgr: $60.3k → $63.3k (+5%)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76732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✓ Floor sqft: $14.43 → $14.85 (+3%)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02336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✓ Loss factor: 0.08% → 0.07% (-12%)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279392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✓ + NEW FUJI NXT M6S · $850k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535424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✓ - RETIRE TR7500 AOI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791456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✓ ~ DEK 採購額 ↑ +9.5%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504748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✓ ~ 錫膏 unit cost ↑ +11.5%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530352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─────────────────────────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5559552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預估影響 · 3 個 draft 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5815584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預估 MVA: $1.86 → $1.95 (+4.8%)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6071616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632764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[✅ 確認套用 8 項]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6080760"/>
            <a:ext cx="1115568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614476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👤 操作者: 三廠 EPM · Andy(CN)/Long(VN)/Ken(TW)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1447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⏱ SLA: 月度更新 1 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614476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📄 SD: cleansheet-mva-sd §4.4 月度 import 流程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B4F72"/>
                </a:solidFill>
                <a:latin typeface="Microsoft JhengHei"/>
              </a:rPr>
              <a:t>Stage 5 · Step 5.11 + 5.12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17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Cortex BOM 模組 · 操作說明手冊 v1 · 2026-06-09 · 對應 Demo v0.7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57200"/>
            <a:ext cx="12191695" cy="13716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685800"/>
            <a:ext cx="219456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4980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EA5E9"/>
                </a:solidFill>
                <a:latin typeface="Microsoft JhengHei"/>
              </a:rPr>
              <a:t>Stage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594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BBF24"/>
                </a:solidFill>
                <a:latin typeface="Microsoft JhengHei"/>
              </a:rPr>
              <a:t>STEP 5.11~5.12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96012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Microsoft JhengHei"/>
              </a:rPr>
              <a:t>案級 EPM 配製程清單 + 案級配設備/耗材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86000"/>
            <a:ext cx="557784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5577840" cy="36576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3172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🧮 §Cleansheet · 製程清單(MOUSE_STD 帶入)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74320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9923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Template: MOUSE_STD · 9 製程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5526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51129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1. SMT Main      takt=8.64s  Y=98%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6732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2. Wave Solder   takt=12s    DL=18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0233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3. Offline Router takt=24s   DL=2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27939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4. Laser Etch    takt=4s     DL=1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53542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5. BB Assy       takt=19s    DL=22.5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79145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6. BB Testing    takt=19s    DL=6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04748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7. Mat Mgmt      takt=19s    DL=0.5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30352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8. Quality SMT   takt=8.64s  DL=0.5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55955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9. Quality BB    takt=19s    DL=0.5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81558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07161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[+ Add Process]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2286000"/>
            <a:ext cx="544068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2286000"/>
            <a:ext cx="5440680" cy="36576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2331720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🛠 §Cleansheet · 設備配置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74320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2999232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從廠 master 挑選使用的設備: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255264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511296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✓ DEK             SMT · 1×1 · 6yr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76732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✓ FUJI NXT M3S*6  SMT · 1×1 · 6yr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02336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✓ FUJI NXT M6S    SMT · 1×1 · 6yr (新)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279392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✓ SPI TRI-7007    SMT · 1×1 · 6yr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535424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✓ Wave solder     SMT · 1×1 · 6yr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791456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✓ Laser etching   SMT · 1×1 · 3yr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504748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...(+ 26 個)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530352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5559552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[+ Add from factory master]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5815584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6071616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每設備可改: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632764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· line_qty(本案占比)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658368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· qty_per_line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6080760"/>
            <a:ext cx="1115568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614476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👤 操作者: 三廠 EPM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1447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⏱ SLA: 2~3 天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0" y="614476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📄 SD: cleansheet-mva-sd §5.1 案級配置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B4F72"/>
                </a:solidFill>
                <a:latin typeface="Microsoft JhengHei"/>
              </a:rPr>
              <a:t>Stage 5 · Step 5.13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18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Cortex BOM 模組 · 操作說明手冊 v1 · 2026-06-09 · 對應 Demo v0.7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57200"/>
            <a:ext cx="12191695" cy="13716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685800"/>
            <a:ext cx="219456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4980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EA5E9"/>
                </a:solidFill>
                <a:latin typeface="Microsoft JhengHei"/>
              </a:rPr>
              <a:t>Stage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594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BBF24"/>
                </a:solidFill>
                <a:latin typeface="Microsoft JhengHei"/>
              </a:rPr>
              <a:t>STEP 5.13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96012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Microsoft JhengHei"/>
              </a:rPr>
              <a:t>EPM 觸發 Compute → 產 cs_run snapshot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86000"/>
            <a:ext cx="557784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5577840" cy="3657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3172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🔄 Compute modal · 計算引擎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74320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9923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for case_factory(CN/VN/TW):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5526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for qty_scenario(LOW/HIGH):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51129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  compute_dl_cost     → 9 cells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6732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  compute_idl_cost    → 9 cells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0233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  compute_equipment   → 9 cells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27939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  compute_facility    → 9 cells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53542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  compute_others      → 3 cells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79145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  = 81 cells / scenario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04748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sum → MVA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30352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for variant × pkg: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55955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  total_quote = Σ ...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81558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  total_true  = Σ ...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07161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  → 24 列 cs_run_result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3276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58368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預計時間 · 4 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2286000"/>
            <a:ext cx="5440680" cy="246888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 w="254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246888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6B6D4"/>
                </a:solidFill>
                <a:latin typeface="Microsoft JhengHei"/>
              </a:rPr>
              <a:t>🎯 操作步驟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29260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① 操作流程 Step 5.13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24612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② 點「🔄 觸發 Compute」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356616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③ 看計算引擎 pseudo code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388620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④ 點「▶ Compute 全部 3 廠」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420624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⑤ 跳到 §Cleansheet 看結果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4526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    · 9×9 matrix 自動填滿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484632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    · MVA Total / SMT / Assy 算好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55080" y="4892040"/>
            <a:ext cx="5440680" cy="777240"/>
          </a:xfrm>
          <a:prstGeom prst="roundRect">
            <a:avLst>
              <a:gd name="adj" fmla="val 15000"/>
            </a:avLst>
          </a:prstGeom>
          <a:solidFill>
            <a:srgbClr val="6D28D9"/>
          </a:solidFill>
          <a:ln w="254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4937760"/>
            <a:ext cx="5440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🔄 觸發 Compute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6080760"/>
            <a:ext cx="1115568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614476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👤 操作者: 三廠 EPM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61447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⏱ SLA: 即時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614476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📄 SD: cleansheet-mva-sd §7 計算引擎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B4F72"/>
                </a:solidFill>
                <a:latin typeface="Microsoft JhengHei"/>
              </a:rPr>
              <a:t>§D Stage 6 · BOM Cost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19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Cortex BOM 模組 · 操作說明手冊 v1 · 2026-06-09 · 對應 Demo v0.7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57200"/>
            <a:ext cx="12191695" cy="15544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STAGE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BOM Cost Review · 5 個操作步驟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1F5F9"/>
                </a:solidFill>
                <a:latin typeface="Microsoft JhengHei"/>
              </a:rPr>
              <a:t>DPM 開審查會 → review 24 cells matrix + margin → Lock → 自動 propagate 24 cells fact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68880"/>
            <a:ext cx="11155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468880"/>
            <a:ext cx="54864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3347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16A34A"/>
                </a:solidFill>
                <a:latin typeface="Microsoft JhengHei"/>
              </a:rPr>
              <a:t>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5146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6A34A"/>
                </a:solidFill>
                <a:latin typeface="Consolas"/>
              </a:rPr>
              <a:t>6.1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761488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A2540"/>
                </a:solidFill>
                <a:latin typeface="Microsoft JhengHei"/>
              </a:rPr>
              <a:t>DPM 開審查會議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63347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線下會議 / Webex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33472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👤 DPM Mike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200400"/>
            <a:ext cx="11155680" cy="640080"/>
          </a:xfrm>
          <a:prstGeom prst="rect">
            <a:avLst/>
          </a:prstGeom>
          <a:solidFill>
            <a:srgbClr val="FEE2E2"/>
          </a:solidFill>
          <a:ln w="190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200400"/>
            <a:ext cx="54864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36499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16A34A"/>
                </a:solidFill>
                <a:latin typeface="Microsoft JhengHei"/>
              </a:rPr>
              <a:t>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2461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6A34A"/>
                </a:solidFill>
                <a:latin typeface="Consolas"/>
              </a:rPr>
              <a:t>6.2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493008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A2540"/>
                </a:solidFill>
                <a:latin typeface="Microsoft JhengHei"/>
              </a:rPr>
              <a:t>🆕 review 24 cells matrix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36499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切 Qty/PKG/Show True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3364992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👤 DPM + BPM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931920"/>
            <a:ext cx="11155680" cy="640080"/>
          </a:xfrm>
          <a:prstGeom prst="rect">
            <a:avLst/>
          </a:prstGeom>
          <a:solidFill>
            <a:srgbClr val="FEE2E2"/>
          </a:solidFill>
          <a:ln w="190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931920"/>
            <a:ext cx="54864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09651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16A34A"/>
                </a:solidFill>
                <a:latin typeface="Microsoft JhengHei"/>
              </a:rPr>
              <a:t>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9776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6A34A"/>
                </a:solidFill>
                <a:latin typeface="Consolas"/>
              </a:rPr>
              <a:t>6.3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224528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A2540"/>
                </a:solidFill>
                <a:latin typeface="Microsoft JhengHei"/>
              </a:rPr>
              <a:t>🆕 review margin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09651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24-cell heatmap + top markup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4096512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👤 DPM + CFO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663440"/>
            <a:ext cx="11155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663440"/>
            <a:ext cx="54864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82803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16A34A"/>
                </a:solidFill>
                <a:latin typeface="Microsoft JhengHei"/>
              </a:rPr>
              <a:t>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47091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6A34A"/>
                </a:solidFill>
                <a:latin typeface="Consolas"/>
              </a:rPr>
              <a:t>6.4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4956048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A2540"/>
                </a:solidFill>
                <a:latin typeface="Microsoft JhengHei"/>
              </a:rPr>
              <a:t>DPM 按 🔒 Lock BOM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482803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BOM 進唯讀 + 採購策略凍結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4828032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👤 DPM Mike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394960"/>
            <a:ext cx="11155680" cy="640080"/>
          </a:xfrm>
          <a:prstGeom prst="rect">
            <a:avLst/>
          </a:prstGeom>
          <a:solidFill>
            <a:srgbClr val="FEE2E2"/>
          </a:solidFill>
          <a:ln w="190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5394960"/>
            <a:ext cx="54864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555955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16A34A"/>
                </a:solidFill>
                <a:latin typeface="Microsoft JhengHei"/>
              </a:rPr>
              <a:t>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54406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6A34A"/>
                </a:solidFill>
                <a:latin typeface="Consolas"/>
              </a:rPr>
              <a:t>6.5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5687568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A2540"/>
                </a:solidFill>
                <a:latin typeface="Microsoft JhengHei"/>
              </a:rPr>
              <a:t>🆕 系統 propagate 24 cells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555955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fact table 寫入 + 通知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559552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👤 系統自動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B4F72"/>
                </a:solidFill>
                <a:latin typeface="Microsoft JhengHei"/>
              </a:rPr>
              <a:t>Stage 6 · Step 6.2 + 6.3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20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Cortex BOM 模組 · 操作說明手冊 v1 · 2026-06-09 · 對應 Demo v0.7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57200"/>
            <a:ext cx="12191695" cy="13716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685800"/>
            <a:ext cx="219456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4980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6A34A"/>
                </a:solidFill>
                <a:latin typeface="Microsoft JhengHei"/>
              </a:rPr>
              <a:t>Stage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594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BBF24"/>
                </a:solidFill>
                <a:latin typeface="Microsoft JhengHei"/>
              </a:rPr>
              <a:t>STEP 6.2~6.3 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96012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Microsoft JhengHei"/>
              </a:rPr>
              <a:t>DPM/BPM review 24 cells matrix + Margin Analysis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86000"/>
            <a:ext cx="557784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5577840" cy="3657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3172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🏭 §多廠矩陣 · 24 cells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74320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9923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Qty: [Low] [High ★]  PKG: [商包 ★] [工包]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5526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[🔒 Show True Cost] [🔒🔒 Show Margin %]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51129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6732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              CN      VN      TW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0233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MVA           1.86   1.43    3.21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27939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PRIME B      10.37  10.36 ⭐ 11.84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53542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PRIME W      10.59  10.58 ⭐ 12.06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79145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SGA          0.75   0.75    0.75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04748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═══════════════════════════════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30352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Total B     11.12  11.11 ⭐ 12.59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55955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Total W     11.34  11.33 ⭐ 12.75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81558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07161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DPM 在會議切 toggle 看不同 scenario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2286000"/>
            <a:ext cx="544068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2286000"/>
            <a:ext cx="5440680" cy="36576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2331720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💰 §Margin Analysis (限 VIEW_TRUE_COST)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74320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2999232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🔥 24-cell margin heatmap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255264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511296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HIGH × RETAIL: 13.9 ~ 15.8%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76732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HIGH × BULK:   16.5 ~ 18.2%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02336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LOW × RETAIL:  11.8 ~ 13.5%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279392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LOW × BULK:    14.2 ~ 15.9%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535424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791456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🔝 Top Markup Items (商包):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504748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1. Gift Box        52%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530352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2. USB-C Conn      37%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5559552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3. Sensor IC       36%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5815584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...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6071616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632764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→ 採購主管/CFO 看 margin 健康度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6080760"/>
            <a:ext cx="1115568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614476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👤 操作者: DPM + BPM + CFO(看 margin)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1447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⏱ SLA: 1 小時會議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614476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📄 SD: bom-collection-sd §19 + §20 權限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B4F72"/>
                </a:solidFill>
                <a:latin typeface="Microsoft JhengHei"/>
              </a:rPr>
              <a:t>Stage 6 · Step 6.4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21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Cortex BOM 模組 · 操作說明手冊 v1 · 2026-06-09 · 對應 Demo v0.7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57200"/>
            <a:ext cx="12191695" cy="13716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685800"/>
            <a:ext cx="219456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4980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6A34A"/>
                </a:solidFill>
                <a:latin typeface="Microsoft JhengHei"/>
              </a:rPr>
              <a:t>Stage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594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BBF24"/>
                </a:solidFill>
                <a:latin typeface="Microsoft JhengHei"/>
              </a:rPr>
              <a:t>STEP 6.4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96012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Microsoft JhengHei"/>
              </a:rPr>
              <a:t>DPM 按「🔒 Lock BOM」 · 鎖定簽核版本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86000"/>
            <a:ext cx="557784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5577840" cy="3657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3172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🔒 Lock BOM modal · 確認 + 簽核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74320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9923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🔒 鎖定 BOM v3.0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5526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51129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鎖定後系統自動執行: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6732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─────────────────────────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0233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✓ Material cost propagate 到 PRIME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27939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  → 24 cells (3 廠 × 2 var × 2 qty × 2 pkg)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53542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✓ 採購策略寫入 sourcing_strategy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79145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  → 22 items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04748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✓ BOM 進唯讀 (僅 admin/DPM 可解鎖)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30352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✓ 後續變更走 ECN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55955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81558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鎖定原因(必填):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07161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[ v3 客戶議價 #2 結果定案,提送業務 gate 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3276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58368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⚠ 解鎖會通知 BPM + 業務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2286000"/>
            <a:ext cx="5440680" cy="246888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 w="254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246888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6B6D4"/>
                </a:solidFill>
                <a:latin typeface="Microsoft JhengHei"/>
              </a:rPr>
              <a:t>🎯 操作步驟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29260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① 進 §BOM 結構 section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24612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② 頂部按「🔒 鎖定 BOM」按鈕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356616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③ 看 propagate 預覽表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388620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④ 填鎖定原因(必填)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420624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⑤ 點「🔒 確認鎖定」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4526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⑥ BOM v3 → status=locked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484632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⑦ 自動觸發 Step 6.5 propagate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55080" y="4892040"/>
            <a:ext cx="5440680" cy="777240"/>
          </a:xfrm>
          <a:prstGeom prst="roundRect">
            <a:avLst>
              <a:gd name="adj" fmla="val 15000"/>
            </a:avLst>
          </a:prstGeom>
          <a:solidFill>
            <a:srgbClr val="1B4F72"/>
          </a:solidFill>
          <a:ln w="254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4937760"/>
            <a:ext cx="5440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🔒 鎖定 BOM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6080760"/>
            <a:ext cx="1115568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614476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👤 操作者: DPM Mike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61447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⏱ SLA: 即時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614476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📄 SD: bom-collection-sd §7 Lock + propagate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B4F72"/>
                </a:solidFill>
                <a:latin typeface="Microsoft JhengHei"/>
              </a:rPr>
              <a:t>Stage 6 · Step 6.5 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22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Cortex BOM 模組 · 操作說明手冊 v1 · 2026-06-09 · 對應 Demo v0.7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57200"/>
            <a:ext cx="12191695" cy="13716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685800"/>
            <a:ext cx="219456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4980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6A34A"/>
                </a:solidFill>
                <a:latin typeface="Microsoft JhengHei"/>
              </a:rPr>
              <a:t>Stage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594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BBF24"/>
                </a:solidFill>
                <a:latin typeface="Microsoft JhengHei"/>
              </a:rPr>
              <a:t>STEP 6.5 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96012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Microsoft JhengHei"/>
              </a:rPr>
              <a:t>系統自動 propagate 24 cells fact table(v0.7)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86000"/>
            <a:ext cx="557784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5577840" cy="3657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3172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🔄 Propagate Preview · 5 種 fact column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74320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9923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─────────────────────────────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5526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影響項                | cells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51129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─────────────────────────────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6732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Material true (SUMPRODUCT) | 24 cells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0233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Material quote (SUMPRODUCT)| 24 cells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27939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PKG true / quote            | 24 cells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53542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Total true / quote (auto)   | 24 cells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79145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Margin amount / pct (auto)  | 24 cells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04748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─────────────────────────────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30352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55955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受影響的 UI sections(自動 refresh):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81558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· §factory_matrix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07161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· §margin_analysis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3276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· §cost(摘要值更新)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58368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· #cost-review channel(發 notification)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2286000"/>
            <a:ext cx="5440680" cy="246888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 w="254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246888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6B6D4"/>
                </a:solidFill>
                <a:latin typeface="Microsoft JhengHei"/>
              </a:rPr>
              <a:t>🎯 此步驟全自動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29260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① DPM 點 Lock 後立即觸發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24612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② 系統自動跑 24 列 fact 寫入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356616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③ DPM 可點「看 propagate 預覽」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388620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④ 確認 cells 數 + 影響範圍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420624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⑤ 通知 BPM + 業務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4526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⑥ 進 Stage 7 業務 Gate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484632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516636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💡 無人工操作 · 系統自動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55080" y="4892040"/>
            <a:ext cx="5440680" cy="777240"/>
          </a:xfrm>
          <a:prstGeom prst="roundRect">
            <a:avLst>
              <a:gd name="adj" fmla="val 15000"/>
            </a:avLst>
          </a:prstGeom>
          <a:solidFill>
            <a:srgbClr val="6D28D9"/>
          </a:solidFill>
          <a:ln w="254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4937760"/>
            <a:ext cx="5440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🔄  看 propagate 預覽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6080760"/>
            <a:ext cx="1115568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614476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👤 操作者: 系統自動 + DPM(可選)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1447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⏱ SLA: &lt; 1 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614476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📄 SD: cleansheet-mva-sd §8 propagate · §6.2 fact table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B4F72"/>
                </a:solidFill>
                <a:latin typeface="Microsoft JhengHei"/>
              </a:rPr>
              <a:t>§E Stage 7 · 業務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23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Cortex BOM 模組 · 操作說明手冊 v1 · 2026-06-09 · 對應 Demo v0.7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57200"/>
            <a:ext cx="12191695" cy="15544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STAGE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業務 Gate · 3 個操作步驟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1F5F9"/>
                </a:solidFill>
                <a:latin typeface="Microsoft JhengHei"/>
              </a:rPr>
              <a:t>BPM 拿鎖定版報價 · 業務簽核 · 若客戶議價 → reprice 觸發新 cs_run cycle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51760"/>
            <a:ext cx="11155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651760"/>
            <a:ext cx="73152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92608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B91C1C"/>
                </a:solidFill>
                <a:latin typeface="Microsoft JhengHei"/>
              </a:rPr>
              <a:t>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7432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B91C1C"/>
                </a:solidFill>
                <a:latin typeface="Consolas"/>
              </a:rPr>
              <a:t>7.1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01752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A2540"/>
                </a:solidFill>
                <a:latin typeface="Microsoft JhengHei"/>
              </a:rPr>
              <a:t>BPM 拿鎖定版 → 進報價系統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9260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匯出 RFQ Cost Excel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926080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👤 BPM Lisa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57600"/>
            <a:ext cx="11155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73152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9319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B91C1C"/>
                </a:solidFill>
                <a:latin typeface="Microsoft JhengHei"/>
              </a:rP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7490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B91C1C"/>
                </a:solidFill>
                <a:latin typeface="Consolas"/>
              </a:rPr>
              <a:t>7.2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2336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A2540"/>
                </a:solidFill>
                <a:latin typeface="Microsoft JhengHei"/>
              </a:rPr>
              <a:t>業務 / BPM 簽核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93192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Submit Quote → audit 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3931920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👤 業務 John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663440"/>
            <a:ext cx="11155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663440"/>
            <a:ext cx="73152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93776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B91C1C"/>
                </a:solidFill>
                <a:latin typeface="Microsoft JhengHei"/>
              </a:rPr>
              <a:t>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7548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B91C1C"/>
                </a:solidFill>
                <a:latin typeface="Consolas"/>
              </a:rPr>
              <a:t>7.3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02920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A2540"/>
                </a:solidFill>
                <a:latin typeface="Microsoft JhengHei"/>
              </a:rPr>
              <a:t>客戶議價 → 新 cs_run reprice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93776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採購重來 Stage 5 · 舊 archived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4937760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👤 採購+EPM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0807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B91C1C"/>
                </a:solidFill>
                <a:latin typeface="Microsoft JhengHei"/>
              </a:rPr>
              <a:t>💡 議價迴圈:若客戶議價 → 採購回 Stage 5 重補 mfg/tier/snapshot → DPM 重 lock → propagate 新版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B4F72"/>
                </a:solidFill>
                <a:latin typeface="Microsoft JhengHei"/>
              </a:rPr>
              <a:t>§F 總整理 · 角色 × Stage RACI 對照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24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Cortex BOM 模組 · 操作說明手冊 v1 · 2026-06-09 · 對應 Demo v0.7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6B6D4"/>
                </a:solidFill>
                <a:latin typeface="Microsoft JhengHei"/>
              </a:rPr>
              <a:t>RACI · WHO DOES WHAT IN EACH 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0A2540"/>
                </a:solidFill>
                <a:latin typeface="Microsoft JhengHei"/>
              </a:rPr>
              <a:t>角色 × Stage RACI 對照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Microsoft JhengHei"/>
              </a:rPr>
              <a:t>R = Responsible 主執行 · A = Accountable 最終負責 · C = Consulted · I = Informed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2377440" cy="36576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35915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6B6D4"/>
                </a:solidFill>
                <a:latin typeface="Microsoft JhengHe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2286000"/>
            <a:ext cx="2194560" cy="36576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23591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6B6D4"/>
                </a:solidFill>
                <a:latin typeface="Microsoft JhengHei"/>
              </a:rPr>
              <a:t>Stage 4 BOM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2286000"/>
            <a:ext cx="2194560" cy="36576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23591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6B6D4"/>
                </a:solidFill>
                <a:latin typeface="Microsoft JhengHei"/>
              </a:rPr>
              <a:t>Stage 5 Collect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2286000"/>
            <a:ext cx="2194560" cy="36576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23591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6B6D4"/>
                </a:solidFill>
                <a:latin typeface="Microsoft JhengHei"/>
              </a:rPr>
              <a:t>Stage 6 Review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09760" y="2286000"/>
            <a:ext cx="2194560" cy="36576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23591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6B6D4"/>
                </a:solidFill>
                <a:latin typeface="Microsoft JhengHei"/>
              </a:rPr>
              <a:t>Stage 7 Gate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651760"/>
            <a:ext cx="23774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72491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Microsoft JhengHei"/>
              </a:rPr>
              <a:t>RD / EE / 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2651760"/>
            <a:ext cx="21945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0" y="272491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91C1C"/>
                </a:solidFill>
                <a:latin typeface="Microsoft JhengHei"/>
              </a:rPr>
              <a:t>R/A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0" y="2651760"/>
            <a:ext cx="21945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272491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CBD5E1"/>
                </a:solidFill>
                <a:latin typeface="Microsoft JhengHei"/>
              </a:rPr>
              <a:t>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2651760"/>
            <a:ext cx="21945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272491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Microsoft JhengHei"/>
              </a:rPr>
              <a:t>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09760" y="2651760"/>
            <a:ext cx="21945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0" y="272491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CBD5E1"/>
                </a:solidFill>
                <a:latin typeface="Microsoft JhengHei"/>
              </a:rPr>
              <a:t>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017520"/>
            <a:ext cx="2377440" cy="365760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0906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Microsoft JhengHei"/>
              </a:rPr>
              <a:t>採購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0" y="3017520"/>
            <a:ext cx="2194560" cy="365760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26080" y="30906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Microsoft JhengHei"/>
              </a:rPr>
              <a:t>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20640" y="3017520"/>
            <a:ext cx="2194560" cy="365760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0640" y="30906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91C1C"/>
                </a:solidFill>
                <a:latin typeface="Microsoft JhengHei"/>
              </a:rPr>
              <a:t>R/A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0" y="3017520"/>
            <a:ext cx="2194560" cy="365760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0" y="30906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Microsoft JhengHei"/>
              </a:rPr>
              <a:t>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09760" y="3017520"/>
            <a:ext cx="2194560" cy="365760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9760" y="30906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CBD5E1"/>
                </a:solidFill>
                <a:latin typeface="Microsoft JhengHei"/>
              </a:rPr>
              <a:t>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383280"/>
            <a:ext cx="23774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345643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Microsoft JhengHei"/>
              </a:rPr>
              <a:t>三廠 EPM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26080" y="3383280"/>
            <a:ext cx="21945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26080" y="345643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CBD5E1"/>
                </a:solidFill>
                <a:latin typeface="Microsoft JhengHei"/>
              </a:rPr>
              <a:t>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20640" y="3383280"/>
            <a:ext cx="21945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20640" y="345643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91C1C"/>
                </a:solidFill>
                <a:latin typeface="Microsoft JhengHei"/>
              </a:rPr>
              <a:t>R/A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0" y="3383280"/>
            <a:ext cx="21945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0" y="345643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Microsoft JhengHei"/>
              </a:rPr>
              <a:t>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509760" y="3383280"/>
            <a:ext cx="21945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09760" y="345643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CBD5E1"/>
                </a:solidFill>
                <a:latin typeface="Microsoft JhengHei"/>
              </a:rPr>
              <a:t>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3749040"/>
            <a:ext cx="2377440" cy="365760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382219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Microsoft JhengHei"/>
              </a:rPr>
              <a:t>DPM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26080" y="3749040"/>
            <a:ext cx="2194560" cy="365760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926080" y="382219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CBD5E1"/>
                </a:solidFill>
                <a:latin typeface="Microsoft JhengHei"/>
              </a:rPr>
              <a:t>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20640" y="3749040"/>
            <a:ext cx="2194560" cy="365760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20640" y="382219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Microsoft JhengHei"/>
              </a:rPr>
              <a:t>C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0" y="3749040"/>
            <a:ext cx="2194560" cy="365760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0" y="382219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91C1C"/>
                </a:solidFill>
                <a:latin typeface="Microsoft JhengHei"/>
              </a:rPr>
              <a:t>R/A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509760" y="3749040"/>
            <a:ext cx="2194560" cy="365760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509760" y="382219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Microsoft JhengHei"/>
              </a:rPr>
              <a:t>C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4114800"/>
            <a:ext cx="23774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" y="41879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Microsoft JhengHei"/>
              </a:rPr>
              <a:t>BPM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926080" y="4114800"/>
            <a:ext cx="21945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926080" y="41879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CBD5E1"/>
                </a:solidFill>
                <a:latin typeface="Microsoft JhengHei"/>
              </a:rPr>
              <a:t>I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120640" y="4114800"/>
            <a:ext cx="21945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120640" y="41879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CBD5E1"/>
                </a:solidFill>
                <a:latin typeface="Microsoft JhengHei"/>
              </a:rPr>
              <a:t>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15200" y="4114800"/>
            <a:ext cx="21945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15200" y="41879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Microsoft JhengHei"/>
              </a:rPr>
              <a:t>C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509760" y="4114800"/>
            <a:ext cx="21945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509760" y="41879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45309"/>
                </a:solidFill>
                <a:latin typeface="Microsoft JhengHei"/>
              </a:rPr>
              <a:t>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8640" y="4480560"/>
            <a:ext cx="2377440" cy="365760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" y="455371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Microsoft JhengHei"/>
              </a:rPr>
              <a:t>業務 / 業務助理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926080" y="4480560"/>
            <a:ext cx="2194560" cy="365760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926080" y="455371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CBD5E1"/>
                </a:solidFill>
                <a:latin typeface="Microsoft JhengHei"/>
              </a:rPr>
              <a:t>I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120640" y="4480560"/>
            <a:ext cx="2194560" cy="365760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120640" y="455371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CBD5E1"/>
                </a:solidFill>
                <a:latin typeface="Microsoft JhengHei"/>
              </a:rPr>
              <a:t>I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315200" y="4480560"/>
            <a:ext cx="2194560" cy="365760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0" y="455371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CBD5E1"/>
                </a:solidFill>
                <a:latin typeface="Microsoft JhengHei"/>
              </a:rPr>
              <a:t>I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509760" y="4480560"/>
            <a:ext cx="2194560" cy="365760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509760" y="455371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91C1C"/>
                </a:solidFill>
                <a:latin typeface="Microsoft JhengHei"/>
              </a:rPr>
              <a:t>R/A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48640" y="4846320"/>
            <a:ext cx="23774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0080" y="49194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Microsoft JhengHei"/>
              </a:rPr>
              <a:t>CFO / 採購主管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926080" y="4846320"/>
            <a:ext cx="21945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926080" y="49194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CBD5E1"/>
                </a:solidFill>
                <a:latin typeface="Microsoft JhengHei"/>
              </a:rPr>
              <a:t>I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120640" y="4846320"/>
            <a:ext cx="21945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120640" y="49194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CBD5E1"/>
                </a:solidFill>
                <a:latin typeface="Microsoft JhengHei"/>
              </a:rPr>
              <a:t>I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315200" y="4846320"/>
            <a:ext cx="21945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315200" y="49194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Microsoft JhengHei"/>
              </a:rPr>
              <a:t>C (margin)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509760" y="4846320"/>
            <a:ext cx="21945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509760" y="49194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CBD5E1"/>
                </a:solidFill>
                <a:latin typeface="Microsoft JhengHei"/>
              </a:rPr>
              <a:t>I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" y="548640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B4F72"/>
                </a:solidFill>
                <a:latin typeface="Microsoft JhengHei"/>
              </a:rPr>
              <a:t>📐 關鍵接力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31520" y="5852160"/>
            <a:ext cx="10972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· RD 提 BOM → 採購接手(Stage 4 → 5)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1520" y="6016752"/>
            <a:ext cx="10972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· 採購策略 + EPM Compute 完成 → DPM 開會(Stage 5 → 6)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31520" y="6181344"/>
            <a:ext cx="10972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· DPM Lock + propagate → BPM 拿到鎖定版(Stage 6 → 7)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31520" y="6345936"/>
            <a:ext cx="10972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· 業務簽核 → 客戶報價系統 (Stage 7 → 客戶)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B4F72"/>
                </a:solidFill>
                <a:latin typeface="Microsoft JhengHei"/>
              </a:rPr>
              <a:t>§F Tips · 操作技巧 + 常見問題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25 /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Cortex BOM 模組 · 操作說明手冊 v1 · 2026-06-09 · 對應 Demo v0.7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6B6D4"/>
                </a:solidFill>
                <a:latin typeface="Microsoft JhengHei"/>
              </a:rPr>
              <a:t>TIPS &amp; FAQ · 上手後的技巧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0A2540"/>
                </a:solidFill>
                <a:latin typeface="Microsoft JhengHei"/>
              </a:rPr>
              <a:t>操作技巧 + 常見問題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Microsoft JhengHei"/>
              </a:rPr>
              <a:t>10 個讓 USER 上手更快的小技巧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6B6D4"/>
                </a:solidFill>
                <a:latin typeface="Microsoft JhengHei"/>
              </a:rPr>
              <a:t>💡 操作技巧 (左)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97480"/>
            <a:ext cx="55778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6148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B4F72"/>
                </a:solidFill>
                <a:latin typeface="Microsoft JhengHei"/>
              </a:rPr>
              <a:t>⚡ 快速跳轉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44952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操作流程清單每 step 都有跳轉按鈕,不用 nav 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37560"/>
            <a:ext cx="55778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40156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B4F72"/>
                </a:solidFill>
                <a:latin typeface="Microsoft JhengHei"/>
              </a:rPr>
              <a:t>🔍 ERP 對齊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85032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信心度 &lt; 70% 才需 RD 手動找,&gt;= 85% 自動採用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77639"/>
            <a:ext cx="55778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41647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B4F72"/>
                </a:solidFill>
                <a:latin typeface="Microsoft JhengHei"/>
              </a:rPr>
              <a:t>📊 Tier 自動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25111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Markup% 是 GENERATED 欄位,不能手填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617720"/>
            <a:ext cx="55778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68172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B4F72"/>
                </a:solidFill>
                <a:latin typeface="Microsoft JhengHei"/>
              </a:rPr>
              <a:t>🔒 True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965192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沒 VIEW_TRUE_COST 角色看到 ▒▒▒,不是 bug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257800"/>
            <a:ext cx="55778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32180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B4F72"/>
                </a:solidFill>
                <a:latin typeface="Microsoft JhengHei"/>
              </a:rPr>
              <a:t>📮 多 PKG 切 tab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605272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§包裝 BOM 上方 tabs 切換 · 各 PKG 獨立 BOM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2860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D28D9"/>
                </a:solidFill>
                <a:latin typeface="Microsoft JhengHei"/>
              </a:rPr>
              <a:t>📋 常見問題 (右)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2697480"/>
            <a:ext cx="5349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276148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D28D9"/>
                </a:solidFill>
                <a:latin typeface="Microsoft JhengHei"/>
              </a:rPr>
              <a:t>🎬 流程清單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04495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整體進度條反映 done/total · 每天看一次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3337560"/>
            <a:ext cx="5349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340156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D28D9"/>
                </a:solidFill>
                <a:latin typeface="Microsoft JhengHei"/>
              </a:rPr>
              <a:t>🏭 矩陣 toggle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368503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切 Qty/PKG 後其他 section 不會跟著切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3977639"/>
            <a:ext cx="5349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4041647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D28D9"/>
                </a:solidFill>
                <a:latin typeface="Microsoft JhengHei"/>
              </a:rPr>
              <a:t>⚠ Lock 警告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325111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DPM Lock 前必填鎖定原因,沒填會擋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80" y="4617720"/>
            <a:ext cx="5349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468172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D28D9"/>
                </a:solidFill>
                <a:latin typeface="Microsoft JhengHei"/>
              </a:rPr>
              <a:t>🔄 Reprice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49651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解鎖 + 重 compute → 新 cs_run · 舊軟刪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5080" y="5257800"/>
            <a:ext cx="5349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532180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D28D9"/>
                </a:solidFill>
                <a:latin typeface="Microsoft JhengHei"/>
              </a:rPr>
              <a:t>📖 SD 對應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560527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每 step 底部有 SD 章節對應,深入查 spec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6B6D4"/>
                </a:solidFill>
                <a:latin typeface="Microsoft JhengHei"/>
              </a:rPr>
              <a:t>Q &amp; A · 問題與練習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Microsoft JhengHei"/>
              </a:rPr>
              <a:t>操作上手了嗎?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F1F5F9"/>
                </a:solidFill>
                <a:latin typeface="Microsoft JhengHei"/>
              </a:rPr>
              <a:t>建議實際打開 demo 跟著走一遍 · 22 個 step 應該能 30 分鐘看完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BBF24"/>
                </a:solidFill>
                <a:latin typeface="Microsoft JhengHei"/>
              </a:rPr>
              <a:t>🎯 建議練習 · 3 個任務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57600"/>
            <a:ext cx="10698480" cy="548640"/>
          </a:xfrm>
          <a:prstGeom prst="roundRect">
            <a:avLst>
              <a:gd name="adj" fmla="val 15000"/>
            </a:avLst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6B6D4"/>
                </a:solidFill>
                <a:latin typeface="Microsoft JhengHei"/>
              </a:rPr>
              <a:t>任務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794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JhengHei"/>
              </a:rPr>
              <a:t>打開 demo → 操作流程清單 → 跑完 22 個 step(全模擬)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37947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FBBF24"/>
                </a:solidFill>
                <a:latin typeface="Microsoft JhengHei"/>
              </a:rPr>
              <a:t>30 分鐘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97680"/>
            <a:ext cx="10698480" cy="548640"/>
          </a:xfrm>
          <a:prstGeom prst="roundRect">
            <a:avLst>
              <a:gd name="adj" fmla="val 15000"/>
            </a:avLst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348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6B6D4"/>
                </a:solidFill>
                <a:latin typeface="Microsoft JhengHei"/>
              </a:rPr>
              <a:t>任務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44348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JhengHei"/>
              </a:rPr>
              <a:t>切到 SteelSeries 案 · 練習 Tier 雙價 modal · ERP 拉歷史 modal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44348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FBBF24"/>
                </a:solidFill>
                <a:latin typeface="Microsoft JhengHei"/>
              </a:rPr>
              <a:t>15 分鐘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937760"/>
            <a:ext cx="10698480" cy="548640"/>
          </a:xfrm>
          <a:prstGeom prst="roundRect">
            <a:avLst>
              <a:gd name="adj" fmla="val 15000"/>
            </a:avLst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749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6B6D4"/>
                </a:solidFill>
                <a:latin typeface="Microsoft JhengHei"/>
              </a:rPr>
              <a:t>任務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507492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JhengHei"/>
              </a:rPr>
              <a:t>切角色 (host vs observer) 看 True Cost / Margin 屏蔽差異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50749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FBBF24"/>
                </a:solidFill>
                <a:latin typeface="Microsoft JhengHei"/>
              </a:rPr>
              <a:t>10 分鐘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692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6B6D4"/>
                </a:solidFill>
                <a:latin typeface="Microsoft JhengHei"/>
              </a:rPr>
              <a:t>📄 相關文件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943600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1F5F9"/>
                </a:solidFill>
                <a:latin typeface="Microsoft JhengHei"/>
              </a:rPr>
              <a:t>· docs/Cortex_互動Demo_v0.7.html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108192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1F5F9"/>
                </a:solidFill>
                <a:latin typeface="Microsoft JhengHei"/>
              </a:rPr>
              <a:t>· docs/bom-collection-sd.md v0.4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272784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1F5F9"/>
                </a:solidFill>
                <a:latin typeface="Microsoft JhengHei"/>
              </a:rPr>
              <a:t>· docs/cleansheet-mva-sd.md v0.3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437376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1F5F9"/>
                </a:solidFill>
                <a:latin typeface="Microsoft JhengHei"/>
              </a:rPr>
              <a:t>· docs/BOM架構報告_簡報版 v3.pptx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583680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Cortex 規劃小組 · 2026-06-09 · 操作說明 v1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