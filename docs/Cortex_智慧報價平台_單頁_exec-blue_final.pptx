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gradFill rotWithShape="1">
            <a:gsLst>
              <a:gs pos="0">
                <a:srgbClr val="0B2D5C"/>
              </a:gs>
              <a:gs pos="100000">
                <a:srgbClr val="1E5BA8"/>
              </a:gs>
            </a:gsLst>
            <a:lin scaled="0" ang="16200000"/>
          </a:gradFill>
          <a:ln>
            <a:noFill/>
          </a:ln>
          <a:effectLst>
            <a:outerShdw blurRad="70000" dist="26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B9BD5"/>
                </a:solidFill>
                <a:latin typeface="Calibri"/>
                <a:ea typeface="Noto Sans TC"/>
                <a:cs typeface="Calibri"/>
              </a:rPr>
              <a:t>FOXLINK 正崴 · Cortex AI 整合平台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29768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Cortex 智慧報價平台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144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BD9EE"/>
                </a:solidFill>
                <a:latin typeface="Calibri"/>
                <a:ea typeface="Noto Sans TC"/>
                <a:cs typeface="Calibri"/>
              </a:rPr>
              <a:t>接單更快 · 毛利即時透明 · 報價知識不流失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25880"/>
            <a:ext cx="4160520" cy="269748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FFFFFF"/>
              </a:gs>
              <a:gs pos="100000">
                <a:srgbClr val="DCEAF9"/>
              </a:gs>
            </a:gsLst>
            <a:lin scaled="0" ang="16200000"/>
          </a:gradFill>
          <a:ln>
            <a:noFill/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35607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2D5C"/>
                </a:solidFill>
                <a:latin typeface="Calibri"/>
                <a:ea typeface="Noto Sans TC"/>
                <a:cs typeface="Calibri"/>
              </a:rPr>
              <a:t>為什麼要做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09928"/>
            <a:ext cx="3246120" cy="18288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DCEAF9"/>
              </a:gs>
              <a:gs pos="100000">
                <a:srgbClr val="5B9BD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1479" y="1874519"/>
            <a:ext cx="320040" cy="320040"/>
          </a:xfrm>
          <a:prstGeom prst="ellipse">
            <a:avLst/>
          </a:prstGeom>
          <a:gradFill rotWithShape="1">
            <a:gsLst>
              <a:gs pos="0">
                <a:srgbClr val="5B9BD5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5000" dist="22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2880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報價更快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報價時間從 3-4 週縮短到 1 週</a:t>
            </a:r>
          </a:p>
        </p:txBody>
      </p:sp>
      <p:sp>
        <p:nvSpPr>
          <p:cNvPr id="12" name="Oval 11"/>
          <p:cNvSpPr/>
          <p:nvPr/>
        </p:nvSpPr>
        <p:spPr>
          <a:xfrm>
            <a:off x="411479" y="2404872"/>
            <a:ext cx="320040" cy="320040"/>
          </a:xfrm>
          <a:prstGeom prst="ellipse">
            <a:avLst/>
          </a:prstGeom>
          <a:gradFill rotWithShape="1">
            <a:gsLst>
              <a:gs pos="0">
                <a:srgbClr val="5B9BD5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5000" dist="22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59152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知識留得住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報價經驗結構化保存,人員異動不用重來</a:t>
            </a:r>
          </a:p>
        </p:txBody>
      </p:sp>
      <p:sp>
        <p:nvSpPr>
          <p:cNvPr id="14" name="Oval 13"/>
          <p:cNvSpPr/>
          <p:nvPr/>
        </p:nvSpPr>
        <p:spPr>
          <a:xfrm>
            <a:off x="411479" y="2935224"/>
            <a:ext cx="320040" cy="320040"/>
          </a:xfrm>
          <a:prstGeom prst="ellipse">
            <a:avLst/>
          </a:prstGeom>
          <a:gradFill rotWithShape="1">
            <a:gsLst>
              <a:gs pos="0">
                <a:srgbClr val="5B9BD5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5000" dist="22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889504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毛利看得見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議價當下即時顯示毛利浮動</a:t>
            </a:r>
          </a:p>
        </p:txBody>
      </p:sp>
      <p:sp>
        <p:nvSpPr>
          <p:cNvPr id="16" name="Oval 15"/>
          <p:cNvSpPr/>
          <p:nvPr/>
        </p:nvSpPr>
        <p:spPr>
          <a:xfrm>
            <a:off x="411479" y="3465576"/>
            <a:ext cx="320040" cy="320040"/>
          </a:xfrm>
          <a:prstGeom prst="ellipse">
            <a:avLst/>
          </a:prstGeom>
          <a:gradFill rotWithShape="1">
            <a:gsLst>
              <a:gs pos="0">
                <a:srgbClr val="5B9BD5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5000" dist="22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419856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資料更安全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不同職級看不同價格,機密成本受控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1325880"/>
            <a:ext cx="4160520" cy="269748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FFFFFF"/>
              </a:gs>
              <a:gs pos="100000">
                <a:srgbClr val="DCEAF9"/>
              </a:gs>
            </a:gsLst>
            <a:lin scaled="0" ang="16200000"/>
          </a:gradFill>
          <a:ln>
            <a:noFill/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1435607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2D5C"/>
                </a:solidFill>
                <a:latin typeface="Calibri"/>
                <a:ea typeface="Noto Sans TC"/>
                <a:cs typeface="Calibri"/>
              </a:rPr>
              <a:t>帶來的效益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66360" y="1709928"/>
            <a:ext cx="3246120" cy="18288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DCEAF9"/>
              </a:gs>
              <a:gs pos="100000">
                <a:srgbClr val="5B9BD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46320" y="1874519"/>
            <a:ext cx="731520" cy="36576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C99A3B"/>
              </a:gs>
              <a:gs pos="100000">
                <a:srgbClr val="E0B85A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1938528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↓70%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182880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報價時間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從 3-4 週縮短到 1 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46320" y="2404872"/>
            <a:ext cx="731520" cy="36576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EAF2FB"/>
              </a:gs>
              <a:gs pos="100000">
                <a:srgbClr val="DC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2468880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3 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2359152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同步報價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台灣 / 中國 / 越南同時試算比較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46320" y="2935224"/>
            <a:ext cx="731520" cy="36576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EAF2FB"/>
              </a:gs>
              <a:gs pos="100000">
                <a:srgbClr val="DC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2999232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多版本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2889504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一鍵比較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不同工廠 × 顏色 × 數量一次看完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46320" y="3465576"/>
            <a:ext cx="731520" cy="36576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EAF2FB"/>
              </a:gs>
              <a:gs pos="100000">
                <a:srgbClr val="DCEAF9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0" y="3529584"/>
            <a:ext cx="731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0 漏單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0" y="3419856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流程自動串接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鎖定版本後自動完成後續計算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4160520"/>
            <a:ext cx="8595360" cy="141732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FFFFFF"/>
              </a:gs>
              <a:gs pos="100000">
                <a:srgbClr val="DCEAF9"/>
              </a:gs>
            </a:gsLst>
            <a:lin scaled="0" ang="16200000"/>
          </a:gradFill>
          <a:ln>
            <a:noFill/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4270248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B2D5C"/>
                </a:solidFill>
                <a:latin typeface="Calibri"/>
                <a:ea typeface="Noto Sans TC"/>
                <a:cs typeface="Calibri"/>
              </a:rPr>
              <a:t>系統怎麼運作 — 七個步驟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88720" y="4544568"/>
            <a:ext cx="6766560" cy="18288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DCEAF9"/>
              </a:gs>
              <a:gs pos="100000">
                <a:srgbClr val="5B9BD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evron 35"/>
          <p:cNvSpPr/>
          <p:nvPr/>
        </p:nvSpPr>
        <p:spPr>
          <a:xfrm>
            <a:off x="256031" y="4617720"/>
            <a:ext cx="1170432" cy="502920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EAF2FB"/>
              </a:gs>
              <a:gs pos="100000">
                <a:srgbClr val="DCEAF9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建立基礎資料</a:t>
            </a:r>
          </a:p>
        </p:txBody>
      </p:sp>
      <p:sp>
        <p:nvSpPr>
          <p:cNvPr id="37" name="Chevron 36"/>
          <p:cNvSpPr/>
          <p:nvPr/>
        </p:nvSpPr>
        <p:spPr>
          <a:xfrm>
            <a:off x="1499615" y="4617720"/>
            <a:ext cx="1170432" cy="502920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EAF2FB"/>
              </a:gs>
              <a:gs pos="100000">
                <a:srgbClr val="DCEAF9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每月更新</a:t>
            </a:r>
          </a:p>
        </p:txBody>
      </p:sp>
      <p:sp>
        <p:nvSpPr>
          <p:cNvPr id="38" name="Chevron 37"/>
          <p:cNvSpPr/>
          <p:nvPr/>
        </p:nvSpPr>
        <p:spPr>
          <a:xfrm>
            <a:off x="2743199" y="4617720"/>
            <a:ext cx="1170432" cy="502920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EAF2FB"/>
              </a:gs>
              <a:gs pos="100000">
                <a:srgbClr val="DCEAF9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開立新案</a:t>
            </a:r>
          </a:p>
        </p:txBody>
      </p:sp>
      <p:sp>
        <p:nvSpPr>
          <p:cNvPr id="39" name="Chevron 38"/>
          <p:cNvSpPr/>
          <p:nvPr/>
        </p:nvSpPr>
        <p:spPr>
          <a:xfrm>
            <a:off x="3986783" y="4617720"/>
            <a:ext cx="1170432" cy="502920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EAF2FB"/>
              </a:gs>
              <a:gs pos="100000">
                <a:srgbClr val="DCEAF9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設定條件</a:t>
            </a:r>
          </a:p>
        </p:txBody>
      </p:sp>
      <p:sp>
        <p:nvSpPr>
          <p:cNvPr id="40" name="Chevron 39"/>
          <p:cNvSpPr/>
          <p:nvPr/>
        </p:nvSpPr>
        <p:spPr>
          <a:xfrm>
            <a:off x="5230368" y="4617720"/>
            <a:ext cx="1170432" cy="502920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EAF2FB"/>
              </a:gs>
              <a:gs pos="100000">
                <a:srgbClr val="DCEAF9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自動試算</a:t>
            </a:r>
          </a:p>
        </p:txBody>
      </p:sp>
      <p:sp>
        <p:nvSpPr>
          <p:cNvPr id="41" name="Chevron 40"/>
          <p:cNvSpPr/>
          <p:nvPr/>
        </p:nvSpPr>
        <p:spPr>
          <a:xfrm>
            <a:off x="6473952" y="4617720"/>
            <a:ext cx="1170432" cy="502920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EAF2FB"/>
              </a:gs>
              <a:gs pos="100000">
                <a:srgbClr val="DCEAF9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鎖定版本</a:t>
            </a:r>
          </a:p>
        </p:txBody>
      </p:sp>
      <p:sp>
        <p:nvSpPr>
          <p:cNvPr id="42" name="Chevron 41"/>
          <p:cNvSpPr/>
          <p:nvPr/>
        </p:nvSpPr>
        <p:spPr>
          <a:xfrm>
            <a:off x="7717536" y="4617720"/>
            <a:ext cx="1170432" cy="502920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EAF2FB"/>
              </a:gs>
              <a:gs pos="100000">
                <a:srgbClr val="DCEAF9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產出報價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5212080"/>
            <a:ext cx="85953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把過去分散在個人 Excel 的報價邏輯,整成一套標準化、可重複使用的系統流程。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4320" y="5715000"/>
            <a:ext cx="4160520" cy="68580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FFFFFF"/>
              </a:gs>
              <a:gs pos="100000">
                <a:srgbClr val="DCEAF9"/>
              </a:gs>
            </a:gsLst>
            <a:lin scaled="0" ang="16200000"/>
          </a:gradFill>
          <a:ln>
            <a:noFill/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5824728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2D5C"/>
                </a:solidFill>
                <a:latin typeface="Calibri"/>
                <a:ea typeface="Noto Sans TC"/>
                <a:cs typeface="Calibri"/>
              </a:rPr>
              <a:t>✓ 可行性已驗證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6062472"/>
            <a:ext cx="3246120" cy="18288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DCEAF9"/>
              </a:gs>
              <a:gs pos="100000">
                <a:srgbClr val="5B9BD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612648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已用兩個專案範本(滑鼠、穿戴裝置)完成試跑驗證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709160" y="5715000"/>
            <a:ext cx="4160520" cy="68580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FFFFFF"/>
              </a:gs>
              <a:gs pos="100000">
                <a:srgbClr val="DCEAF9"/>
              </a:gs>
            </a:gsLst>
            <a:lin scaled="0" ang="16200000"/>
          </a:gradFill>
          <a:ln>
            <a:noFill/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09160" y="5824728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B2D5C"/>
                </a:solidFill>
                <a:latin typeface="Calibri"/>
                <a:ea typeface="Noto Sans TC"/>
                <a:cs typeface="Calibri"/>
              </a:rPr>
              <a:t>開發階程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166360" y="6062472"/>
            <a:ext cx="3246120" cy="18288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DCEAF9"/>
              </a:gs>
              <a:gs pos="100000">
                <a:srgbClr val="5B9BD5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46320" y="6126480"/>
            <a:ext cx="3886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核心功能約 3-6 週可完成,後續再擴充其他應用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" y="6601968"/>
            <a:ext cx="5943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0" y="6601968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2026-06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