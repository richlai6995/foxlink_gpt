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gradFill rotWithShape="1">
            <a:gsLst>
              <a:gs pos="0">
                <a:srgbClr val="0B2D5C"/>
              </a:gs>
              <a:gs pos="100000">
                <a:srgbClr val="1E5BA8"/>
              </a:gs>
            </a:gsLst>
            <a:lin scaled="0" ang="16200000"/>
          </a:gradFill>
          <a:ln>
            <a:noFill/>
          </a:ln>
          <a:effectLst>
            <a:outerShdw blurRad="70000" dist="26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9BD5"/>
                </a:solidFill>
                <a:latin typeface="Calibri"/>
                <a:ea typeface="Microsoft JhengHei"/>
                <a:cs typeface="Calibri"/>
              </a:rPr>
              <a:t>FOXLINK 正崴  ·  Cortex AI 整合平台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Cortex 智慧報價平台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BD9EE"/>
                </a:solidFill>
                <a:latin typeface="Calibri"/>
                <a:ea typeface="Microsoft JhengHei"/>
                <a:cs typeface="Calibri"/>
              </a:rPr>
              <a:t>接單更快  ·  毛利即時透明  ·  報價知識不流失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279392" cy="25420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371600"/>
            <a:ext cx="4279392" cy="420624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為什麼要做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938528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3520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Microsoft JhengHei"/>
                <a:cs typeface="Calibri"/>
              </a:rPr>
              <a:t>報價更快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2598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報價時間從 3–4 週縮短到約 1 週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414016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395728"/>
            <a:ext cx="3520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Microsoft JhengHei"/>
                <a:cs typeface="Calibri"/>
              </a:rPr>
              <a:t>知識留得住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0146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報價經驗系統化保存,人員異動不重來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889504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871216"/>
            <a:ext cx="3520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Microsoft JhengHei"/>
                <a:cs typeface="Calibri"/>
              </a:rPr>
              <a:t>毛利看得見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076956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議價當下即時掌握毛利變化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364992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346704"/>
            <a:ext cx="3520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Microsoft JhengHei"/>
                <a:cs typeface="Calibri"/>
              </a:rPr>
              <a:t>資料更安全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552444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不同層級看不同價格,機密成本受控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1371600"/>
            <a:ext cx="4187952" cy="25420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81728" y="1371600"/>
            <a:ext cx="4187952" cy="420624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14630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帶來的效益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10328" y="1920240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C99A3B"/>
              </a:gs>
              <a:gs pos="100000">
                <a:srgbClr val="E0B85A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↓70%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192024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Microsoft JhengHei"/>
                <a:cs typeface="Calibri"/>
              </a:rPr>
              <a:t>報價時間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9904" y="21259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從 3–4 週縮短到 1 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0328" y="2395728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3 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23957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Microsoft JhengHei"/>
                <a:cs typeface="Calibri"/>
              </a:rPr>
              <a:t>同步報價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26014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台灣 / 中國 / 越南同時試算比較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10328" y="2871216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多版本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2871216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Microsoft JhengHei"/>
                <a:cs typeface="Calibri"/>
              </a:rPr>
              <a:t>一鍵比較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307695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不同工廠、顏色、數量一次看完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10328" y="3346704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0 漏單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9904" y="334670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Microsoft JhengHei"/>
                <a:cs typeface="Calibri"/>
              </a:rPr>
              <a:t>流程自動串接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35524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鎖定版本後自動完成後續計算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078224"/>
            <a:ext cx="859536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4320" y="4078224"/>
            <a:ext cx="8595360" cy="420624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169663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系統怎麼運作 — 七個步驟</a:t>
            </a:r>
          </a:p>
        </p:txBody>
      </p:sp>
      <p:sp>
        <p:nvSpPr>
          <p:cNvPr id="40" name="Chevron 39"/>
          <p:cNvSpPr/>
          <p:nvPr/>
        </p:nvSpPr>
        <p:spPr>
          <a:xfrm>
            <a:off x="246888" y="4681728"/>
            <a:ext cx="1188720" cy="566928"/>
          </a:xfrm>
          <a:prstGeom prst="chevron">
            <a:avLst/>
          </a:prstGeom>
          <a:gradFill rotWithShape="1">
            <a:gsLst>
              <a:gs pos="0">
                <a:srgbClr val="6FB0E0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建立基礎資料</a:t>
            </a:r>
          </a:p>
        </p:txBody>
      </p:sp>
      <p:sp>
        <p:nvSpPr>
          <p:cNvPr id="41" name="Chevron 40"/>
          <p:cNvSpPr/>
          <p:nvPr/>
        </p:nvSpPr>
        <p:spPr>
          <a:xfrm>
            <a:off x="1490472" y="4681728"/>
            <a:ext cx="1188720" cy="566928"/>
          </a:xfrm>
          <a:prstGeom prst="chevron">
            <a:avLst/>
          </a:prstGeom>
          <a:gradFill rotWithShape="1">
            <a:gsLst>
              <a:gs pos="0">
                <a:srgbClr val="619FD3"/>
              </a:gs>
              <a:gs pos="100000">
                <a:srgbClr val="286BB5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每月更新</a:t>
            </a:r>
          </a:p>
        </p:txBody>
      </p:sp>
      <p:sp>
        <p:nvSpPr>
          <p:cNvPr id="42" name="Chevron 41"/>
          <p:cNvSpPr/>
          <p:nvPr/>
        </p:nvSpPr>
        <p:spPr>
          <a:xfrm>
            <a:off x="2734056" y="4681728"/>
            <a:ext cx="1188720" cy="566928"/>
          </a:xfrm>
          <a:prstGeom prst="chevron">
            <a:avLst/>
          </a:prstGeom>
          <a:gradFill rotWithShape="1">
            <a:gsLst>
              <a:gs pos="0">
                <a:srgbClr val="548FC7"/>
              </a:gs>
              <a:gs pos="100000">
                <a:srgbClr val="225FA3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開立新案</a:t>
            </a:r>
          </a:p>
        </p:txBody>
      </p:sp>
      <p:sp>
        <p:nvSpPr>
          <p:cNvPr id="43" name="Chevron 42"/>
          <p:cNvSpPr/>
          <p:nvPr/>
        </p:nvSpPr>
        <p:spPr>
          <a:xfrm>
            <a:off x="3977640" y="4681728"/>
            <a:ext cx="1188720" cy="566928"/>
          </a:xfrm>
          <a:prstGeom prst="chevron">
            <a:avLst/>
          </a:prstGeom>
          <a:gradFill rotWithShape="1">
            <a:gsLst>
              <a:gs pos="0">
                <a:srgbClr val="467FBB"/>
              </a:gs>
              <a:gs pos="100000">
                <a:srgbClr val="1C5291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設定條件</a:t>
            </a:r>
          </a:p>
        </p:txBody>
      </p:sp>
      <p:sp>
        <p:nvSpPr>
          <p:cNvPr id="44" name="Chevron 43"/>
          <p:cNvSpPr/>
          <p:nvPr/>
        </p:nvSpPr>
        <p:spPr>
          <a:xfrm>
            <a:off x="5221224" y="4681728"/>
            <a:ext cx="1188720" cy="566928"/>
          </a:xfrm>
          <a:prstGeom prst="chevron">
            <a:avLst/>
          </a:prstGeom>
          <a:gradFill rotWithShape="1">
            <a:gsLst>
              <a:gs pos="0">
                <a:srgbClr val="396FAE"/>
              </a:gs>
              <a:gs pos="100000">
                <a:srgbClr val="16467F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自動試算</a:t>
            </a:r>
          </a:p>
        </p:txBody>
      </p:sp>
      <p:sp>
        <p:nvSpPr>
          <p:cNvPr id="45" name="Chevron 44"/>
          <p:cNvSpPr/>
          <p:nvPr/>
        </p:nvSpPr>
        <p:spPr>
          <a:xfrm>
            <a:off x="6464808" y="4681728"/>
            <a:ext cx="1188720" cy="566928"/>
          </a:xfrm>
          <a:prstGeom prst="chevron">
            <a:avLst/>
          </a:prstGeom>
          <a:gradFill rotWithShape="1">
            <a:gsLst>
              <a:gs pos="0">
                <a:srgbClr val="2B5FA2"/>
              </a:gs>
              <a:gs pos="100000">
                <a:srgbClr val="10396D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鎖定版本</a:t>
            </a:r>
          </a:p>
        </p:txBody>
      </p:sp>
      <p:sp>
        <p:nvSpPr>
          <p:cNvPr id="46" name="Chevron 45"/>
          <p:cNvSpPr/>
          <p:nvPr/>
        </p:nvSpPr>
        <p:spPr>
          <a:xfrm>
            <a:off x="7708392" y="4681728"/>
            <a:ext cx="1188720" cy="566928"/>
          </a:xfrm>
          <a:prstGeom prst="chevron">
            <a:avLst/>
          </a:prstGeom>
          <a:gradFill rotWithShape="1">
            <a:gsLst>
              <a:gs pos="0">
                <a:srgbClr val="1E4F96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產出報價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321808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把過去分散在個人 Excel 的報價邏輯,變成一套標準化、可重複使用的系統流程。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742432"/>
            <a:ext cx="4279392" cy="74980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 w="12700">
            <a:solidFill>
              <a:srgbClr val="5B9BD5"/>
            </a:solidFill>
          </a:ln>
          <a:effectLst>
            <a:outerShdw blurRad="70000" dist="22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870448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5BA8"/>
                </a:solidFill>
                <a:latin typeface="Calibri"/>
                <a:ea typeface="Microsoft JhengHei"/>
                <a:cs typeface="Calibri"/>
              </a:rPr>
              <a:t>✓  可行性已驗證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1264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63D"/>
                </a:solidFill>
                <a:latin typeface="Calibri"/>
                <a:ea typeface="Microsoft JhengHei"/>
                <a:cs typeface="Calibri"/>
              </a:rPr>
              <a:t>已用兩個產品範本(滑鼠、穿戴裝置)完成試算驗證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81728" y="5742432"/>
            <a:ext cx="4187952" cy="74980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 w="12700">
            <a:solidFill>
              <a:srgbClr val="5B9BD5"/>
            </a:solidFill>
          </a:ln>
          <a:effectLst>
            <a:outerShdw blurRad="70000" dist="22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0328" y="587044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5BA8"/>
                </a:solidFill>
                <a:latin typeface="Calibri"/>
                <a:ea typeface="Microsoft JhengHei"/>
                <a:cs typeface="Calibri"/>
              </a:rPr>
              <a:t>◷  開發時程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10328" y="612648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63D"/>
                </a:solidFill>
                <a:latin typeface="Calibri"/>
                <a:ea typeface="Microsoft JhengHei"/>
                <a:cs typeface="Calibri"/>
              </a:rPr>
              <a:t>核心功能約 5–6 週可完成,後續再擴充跨廠應用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620256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Cortex BOM × MVA 模組  ·  v0.9 內部呈核版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662025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Microsoft JhengHei"/>
                <a:cs typeface="Calibri"/>
              </a:rPr>
              <a:t>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