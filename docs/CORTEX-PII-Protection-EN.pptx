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6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Shape 1"/>
          <p:cNvSpPr/>
          <p:nvPr/>
        </p:nvSpPr>
        <p:spPr>
          <a:xfrm>
            <a:off x="9052560" y="914400"/>
            <a:ext cx="2468880" cy="2468880"/>
          </a:xfrm>
          <a:prstGeom prst="ellipse">
            <a:avLst/>
          </a:prstGeom>
          <a:ln w="76200">
            <a:solidFill>
              <a:srgbClr val="2446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43846" y="2148840"/>
            <a:ext cx="320954" cy="320954"/>
          </a:xfrm>
          <a:prstGeom prst="line">
            <a:avLst/>
          </a:prstGeom>
          <a:noFill/>
          <a:ln w="76200">
            <a:solidFill>
              <a:srgbClr val="2446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064801" y="1901952"/>
            <a:ext cx="790042" cy="790042"/>
          </a:xfrm>
          <a:prstGeom prst="line">
            <a:avLst/>
          </a:prstGeom>
          <a:noFill/>
          <a:ln w="76200">
            <a:solidFill>
              <a:srgbClr val="2446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CORTEX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10241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Personal Data (PII) Protection Statement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3383280"/>
            <a:ext cx="347472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9" name="Text 7"/>
          <p:cNvSpPr/>
          <p:nvPr/>
        </p:nvSpPr>
        <p:spPr>
          <a:xfrm>
            <a:off x="886968" y="356616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BD2E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 response to customer security audit  ·  Personal-data (PII) scope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589788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A0C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Foxlink AI Integration Platform  ·  2026-06-11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03870" y="375270"/>
            <a:ext cx="237012" cy="237012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89194" y="441633"/>
            <a:ext cx="37922" cy="85324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460594"/>
            <a:ext cx="42662" cy="80584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What CORTEX Is — and What Personal Data It Touches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11201400" cy="1097280"/>
          </a:xfrm>
          <a:prstGeom prst="roundRect">
            <a:avLst>
              <a:gd name="adj" fmla="val 5000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80160"/>
            <a:ext cx="10698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3365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CORTEX is an AI workplace platform used by Foxlink’s own employees to handle internal business data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3365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(orders, procurement, BOM, production information).  It is not a system that collects consumer personal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1120140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935224"/>
            <a:ext cx="640080" cy="640080"/>
          </a:xfrm>
          <a:prstGeom prst="ellipse">
            <a:avLst/>
          </a:prstGeom>
          <a:solidFill>
            <a:srgbClr val="13365C"/>
          </a:solidFill>
        </p:spPr>
      </p:sp>
      <p:sp>
        <p:nvSpPr>
          <p:cNvPr id="13" name="Shape 11"/>
          <p:cNvSpPr/>
          <p:nvPr/>
        </p:nvSpPr>
        <p:spPr>
          <a:xfrm>
            <a:off x="959023" y="3117007"/>
            <a:ext cx="276515" cy="276515"/>
          </a:xfrm>
          <a:prstGeom prst="ellipse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0500" y="3158484"/>
            <a:ext cx="193560" cy="19356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834640"/>
            <a:ext cx="9784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365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tracking, no selling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3291840"/>
            <a:ext cx="9784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advertising trackers; personal data is never sold or shared with outside parties.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005072"/>
            <a:ext cx="11201400" cy="1207008"/>
          </a:xfrm>
          <a:prstGeom prst="roundRect">
            <a:avLst>
              <a:gd name="adj" fmla="val 4545"/>
            </a:avLst>
          </a:prstGeom>
          <a:solidFill>
            <a:srgbClr val="F4F8FC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288536"/>
            <a:ext cx="640080" cy="640080"/>
          </a:xfrm>
          <a:prstGeom prst="ellipse">
            <a:avLst/>
          </a:prstGeom>
          <a:solidFill>
            <a:srgbClr val="13365C"/>
          </a:solidFill>
        </p:spPr>
      </p:sp>
      <p:sp>
        <p:nvSpPr>
          <p:cNvPr id="19" name="Shape 17"/>
          <p:cNvSpPr/>
          <p:nvPr/>
        </p:nvSpPr>
        <p:spPr>
          <a:xfrm>
            <a:off x="1039673" y="4454957"/>
            <a:ext cx="115214" cy="115214"/>
          </a:xfrm>
          <a:prstGeom prst="ellipse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225" y="4593214"/>
            <a:ext cx="238110" cy="199705"/>
          </a:xfrm>
          <a:prstGeom prst="ellipse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793" y="4693067"/>
            <a:ext cx="292974" cy="123817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22" name="Text 20"/>
          <p:cNvSpPr/>
          <p:nvPr/>
        </p:nvSpPr>
        <p:spPr>
          <a:xfrm>
            <a:off x="1691640" y="4187952"/>
            <a:ext cx="9784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365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Only two kinds of personal data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4645152"/>
            <a:ext cx="9784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① Employee identity (ID / email / department) — used for access control   ② Personal data that may appear inside business documents.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5989320"/>
            <a:ext cx="11201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E6CA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➜  Its personal-data risk surface is far smaller than a consumer data-collection system.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CORTEX Personal Data Protection  ·  Foxlink AI Integration Platform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20329" y="358811"/>
            <a:ext cx="204094" cy="269931"/>
          </a:xfrm>
          <a:prstGeom prst="rect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7066" y="439790"/>
            <a:ext cx="130620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7" name="Shape 5"/>
          <p:cNvSpPr/>
          <p:nvPr/>
        </p:nvSpPr>
        <p:spPr>
          <a:xfrm>
            <a:off x="657066" y="493776"/>
            <a:ext cx="130620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8" name="Shape 6"/>
          <p:cNvSpPr/>
          <p:nvPr/>
        </p:nvSpPr>
        <p:spPr>
          <a:xfrm>
            <a:off x="657066" y="547762"/>
            <a:ext cx="91842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9" name="Text 7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Legal &amp; Regulatory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2" name="Text 10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6CA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Customer concern   </a:t>
            </a:r>
            <a:r>
              <a:rPr lang="en-US" sz="1450" i="1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GDPR / CCPA alignment, consent, and cross-border transfer.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Our approach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Processes internal business data for legitimate work purposes only — no external collection or marketing use.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Designed around core privacy principles: minimal collection, purpose limitation, defined retention, and deletion on request.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Cross-border: AI runs on enterprise-grade Google / Microsoft clouds under contracts that exclude using data to train AI; data-residency region can be assessed per customer requirement.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CORTEX Personal Data Protection  ·  Foxlink AI Integration Platform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577535" y="348935"/>
            <a:ext cx="190927" cy="190927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8960" y="500360"/>
            <a:ext cx="118506" cy="118506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Data Collection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0" name="Text 8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6CA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Customer concern   </a:t>
            </a:r>
            <a:r>
              <a:rPr lang="en-US" sz="1450" i="1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Over-collection, unclear purpose, sensitive categories, covert tracking.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Our approach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Collects only the minimum data needed for operations and access control; employee identity comes from existing HR / account systems, not gathered anew.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Does not collect special categories such as health, biometric, or race / ethnicity data.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covert tracking — activity logs exist solely for security and traceability, as a transparent internal control.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CORTEX Personal Data Protection  ·  Foxlink AI Integration Platform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61148" y="380142"/>
            <a:ext cx="122456" cy="143853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3716" y="474025"/>
            <a:ext cx="177320" cy="9085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623621" y="474025"/>
            <a:ext cx="197510" cy="151425"/>
          </a:xfrm>
          <a:prstGeom prst="roundRect">
            <a:avLst>
              <a:gd name="adj" fmla="val 24155"/>
            </a:avLst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" y="519452"/>
            <a:ext cx="64008" cy="64008"/>
          </a:xfrm>
          <a:prstGeom prst="ellipse">
            <a:avLst/>
          </a:prstGeom>
          <a:solidFill>
            <a:srgbClr val="2E6CA8"/>
          </a:solidFill>
        </p:spPr>
      </p:sp>
      <p:sp>
        <p:nvSpPr>
          <p:cNvPr id="9" name="Text 7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Storage &amp; Security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2" name="Text 10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6CA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Customer concern   </a:t>
            </a:r>
            <a:r>
              <a:rPr lang="en-US" sz="1450" i="1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Encryption, who can access, retention length, breach response.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Our approach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Strict access control: each user sees only authorized data; business units are isolated from one another; confidential content is hidden even from system administrators.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All transmission is encrypted; system keys and credentials are stored in encrypted form.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carries retention limits and is auto-purged (general records ~90 days, sensitive-flagged records 1 year, temporary outputs ~7 days).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Full audit trail, centralized logging and health monitoring — anomalies are alerted to administrators in real time.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CORTEX Personal Data Protection  ·  Foxlink AI Integration Platform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13745" y="385145"/>
            <a:ext cx="217261" cy="217261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8924" y="385145"/>
            <a:ext cx="86905" cy="217261"/>
          </a:xfrm>
          <a:prstGeom prst="ellipse">
            <a:avLst/>
          </a:prstGeom>
          <a:ln w="17780">
            <a:solidFill>
              <a:srgbClr val="2E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3745" y="481889"/>
            <a:ext cx="217261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8" name="Text 6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Third Parties &amp; Data Flow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1" name="Text 9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6CA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Customer concern   </a:t>
            </a:r>
            <a:r>
              <a:rPr lang="en-US" sz="1450" i="1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Sharing with third parties, flow transparency, re-identification risk.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Our approach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is never sold or shared externally; the only outside services that touch data are the cloud AI providers (Google / Microsoft), all under enterprise contracts.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flows are clearly documented — a data-flow diagram can be provided for audit.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 do not rely on “anonymize-then-share” practices, so there is no re-identification risk.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CORTEX Personal Data Protection  ·  Foxlink AI Integration Platform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72998" y="362102"/>
            <a:ext cx="98755" cy="98755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329" y="480609"/>
            <a:ext cx="204094" cy="171176"/>
          </a:xfrm>
          <a:prstGeom prst="ellipse">
            <a:avLst/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2897" y="566196"/>
            <a:ext cx="258958" cy="10612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5. Data-Subject Rights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EAF1F9"/>
          </a:solidFill>
          <a:ln w="12700">
            <a:solidFill>
              <a:srgbClr val="CBDB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91440" cy="749808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1" name="Text 9"/>
          <p:cNvSpPr/>
          <p:nvPr/>
        </p:nvSpPr>
        <p:spPr>
          <a:xfrm>
            <a:off x="749808" y="1234440"/>
            <a:ext cx="10835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6CA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Customer concern   </a:t>
            </a:r>
            <a:r>
              <a:rPr lang="en-US" sz="1450" i="1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Whether individuals can access, correct, or delete their data.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365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Our approach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2724912"/>
            <a:ext cx="111099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Accounts and their data are centrally managed; on departure or request, an account can be disabled and all of its sessions revoked immediately.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is auto-deleted at end of retention, and specific data can be deleted on legitimate request.</a:t>
            </a:r>
            <a:endParaRPr lang="en-US" sz="1650" dirty="0"/>
          </a:p>
          <a:p>
            <a:pPr marL="0" indent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650" b="1" dirty="0">
                <a:solidFill>
                  <a:srgbClr val="4A90D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▪  </a:t>
            </a:r>
            <a:r>
              <a:rPr lang="en-US" sz="1650" dirty="0">
                <a:solidFill>
                  <a:srgbClr val="2B2B2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Each person’s accessible scope adjusts with their role and takes effect immediately.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CORTEX Personal Data Protection  ·  Foxlink AI Integration Platform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3365C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12192000" cy="457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4" name="Shape 2"/>
          <p:cNvSpPr/>
          <p:nvPr/>
        </p:nvSpPr>
        <p:spPr>
          <a:xfrm>
            <a:off x="411480" y="182880"/>
            <a:ext cx="603504" cy="60350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623621" y="392826"/>
            <a:ext cx="197510" cy="256764"/>
          </a:xfrm>
          <a:prstGeom prst="roundRect">
            <a:avLst>
              <a:gd name="adj" fmla="val 23148"/>
            </a:avLst>
          </a:prstGeom>
          <a:ln w="25400">
            <a:solidFill>
              <a:srgbClr val="2E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2874" y="337962"/>
            <a:ext cx="79004" cy="109728"/>
          </a:xfrm>
          <a:prstGeom prst="roundRect">
            <a:avLst>
              <a:gd name="adj" fmla="val 34722"/>
            </a:avLst>
          </a:prstGeom>
          <a:ln w="17780">
            <a:solidFill>
              <a:srgbClr val="2E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567" y="488012"/>
            <a:ext cx="64008" cy="64008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06575" y="396572"/>
            <a:ext cx="164592" cy="155448"/>
          </a:xfrm>
          <a:prstGeom prst="line">
            <a:avLst/>
          </a:prstGeom>
          <a:noFill/>
          <a:ln w="25400">
            <a:solidFill>
              <a:srgbClr val="2E6C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9173" y="474991"/>
            <a:ext cx="126407" cy="23774"/>
          </a:xfrm>
          <a:prstGeom prst="rect">
            <a:avLst/>
          </a:prstGeom>
          <a:solidFill>
            <a:srgbClr val="2E6CA8"/>
          </a:solidFill>
        </p:spPr>
      </p:sp>
      <p:sp>
        <p:nvSpPr>
          <p:cNvPr id="10" name="Text 8"/>
          <p:cNvSpPr/>
          <p:nvPr/>
        </p:nvSpPr>
        <p:spPr>
          <a:xfrm>
            <a:off x="1207008" y="0"/>
            <a:ext cx="10424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Summary: Four Principles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48640" y="1234440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13365C"/>
          </a:solidFill>
        </p:spPr>
      </p:sp>
      <p:sp>
        <p:nvSpPr>
          <p:cNvPr id="12" name="Shape 10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ln w="12700">
            <a:solidFill>
              <a:srgbClr val="4A9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24824" y="1561064"/>
            <a:ext cx="253472" cy="130576"/>
          </a:xfrm>
          <a:prstGeom prst="trapezoid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9673" y="1691640"/>
            <a:ext cx="23774" cy="11521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5" name="Text 13"/>
          <p:cNvSpPr/>
          <p:nvPr/>
        </p:nvSpPr>
        <p:spPr>
          <a:xfrm>
            <a:off x="1463040" y="1234440"/>
            <a:ext cx="166420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Collect minimally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3383280" y="1234440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13365C"/>
          </a:solidFill>
        </p:spPr>
      </p:sp>
      <p:sp>
        <p:nvSpPr>
          <p:cNvPr id="17" name="Shape 15"/>
          <p:cNvSpPr/>
          <p:nvPr/>
        </p:nvSpPr>
        <p:spPr>
          <a:xfrm>
            <a:off x="3566160" y="1371600"/>
            <a:ext cx="640080" cy="640080"/>
          </a:xfrm>
          <a:prstGeom prst="ellipse">
            <a:avLst/>
          </a:prstGeom>
          <a:ln w="1270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7219" y="1622511"/>
            <a:ext cx="138257" cy="138257"/>
          </a:xfrm>
          <a:prstGeom prst="ellipse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55476" y="1679753"/>
            <a:ext cx="192024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0" name="Shape 18"/>
          <p:cNvSpPr/>
          <p:nvPr/>
        </p:nvSpPr>
        <p:spPr>
          <a:xfrm>
            <a:off x="3986052" y="1679753"/>
            <a:ext cx="23774" cy="46086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1" name="Shape 19"/>
          <p:cNvSpPr/>
          <p:nvPr/>
        </p:nvSpPr>
        <p:spPr>
          <a:xfrm>
            <a:off x="4032138" y="1679753"/>
            <a:ext cx="23774" cy="69129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2" name="Text 20"/>
          <p:cNvSpPr/>
          <p:nvPr/>
        </p:nvSpPr>
        <p:spPr>
          <a:xfrm>
            <a:off x="4297680" y="1234440"/>
            <a:ext cx="166420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Strict access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13365C"/>
          </a:solidFill>
        </p:spPr>
      </p:sp>
      <p:sp>
        <p:nvSpPr>
          <p:cNvPr id="24" name="Shape 22"/>
          <p:cNvSpPr/>
          <p:nvPr/>
        </p:nvSpPr>
        <p:spPr>
          <a:xfrm>
            <a:off x="6400800" y="1371600"/>
            <a:ext cx="640080" cy="640080"/>
          </a:xfrm>
          <a:prstGeom prst="ellipse">
            <a:avLst/>
          </a:prstGeom>
          <a:ln w="12700">
            <a:solidFill>
              <a:srgbClr val="4A9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97945" y="1584472"/>
            <a:ext cx="245791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6" name="Shape 24"/>
          <p:cNvSpPr/>
          <p:nvPr/>
        </p:nvSpPr>
        <p:spPr>
          <a:xfrm>
            <a:off x="6682435" y="1580266"/>
            <a:ext cx="76810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7" name="Shape 25"/>
          <p:cNvSpPr/>
          <p:nvPr/>
        </p:nvSpPr>
        <p:spPr>
          <a:xfrm>
            <a:off x="6624828" y="1630192"/>
            <a:ext cx="192024" cy="192024"/>
          </a:xfrm>
          <a:prstGeom prst="trapezoid">
            <a:avLst/>
          </a:prstGeom>
          <a:ln w="25400">
            <a:solidFill>
              <a:srgbClr val="4A90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86276" y="1660916"/>
            <a:ext cx="23774" cy="11521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9" name="Shape 27"/>
          <p:cNvSpPr/>
          <p:nvPr/>
        </p:nvSpPr>
        <p:spPr>
          <a:xfrm>
            <a:off x="6740042" y="1660916"/>
            <a:ext cx="23774" cy="11521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0" name="Text 28"/>
          <p:cNvSpPr/>
          <p:nvPr/>
        </p:nvSpPr>
        <p:spPr>
          <a:xfrm>
            <a:off x="7132320" y="1234440"/>
            <a:ext cx="166420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Purge regularly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9052560" y="1234440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13365C"/>
          </a:solidFill>
        </p:spPr>
      </p:sp>
      <p:sp>
        <p:nvSpPr>
          <p:cNvPr id="32" name="Shape 30"/>
          <p:cNvSpPr/>
          <p:nvPr/>
        </p:nvSpPr>
        <p:spPr>
          <a:xfrm>
            <a:off x="9235440" y="1371600"/>
            <a:ext cx="640080" cy="640080"/>
          </a:xfrm>
          <a:prstGeom prst="ellipse">
            <a:avLst/>
          </a:prstGeom>
          <a:ln w="12700">
            <a:solidFill>
              <a:srgbClr val="4A90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44106" y="1584107"/>
            <a:ext cx="200473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4" name="Shape 32"/>
          <p:cNvSpPr/>
          <p:nvPr/>
        </p:nvSpPr>
        <p:spPr>
          <a:xfrm>
            <a:off x="9444106" y="1668597"/>
            <a:ext cx="200473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5" name="Shape 33"/>
          <p:cNvSpPr/>
          <p:nvPr/>
        </p:nvSpPr>
        <p:spPr>
          <a:xfrm>
            <a:off x="9444106" y="1753088"/>
            <a:ext cx="133649" cy="2377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6" name="Shape 34"/>
          <p:cNvSpPr/>
          <p:nvPr/>
        </p:nvSpPr>
        <p:spPr>
          <a:xfrm>
            <a:off x="9502609" y="1758208"/>
            <a:ext cx="64008" cy="64008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9566617" y="1666768"/>
            <a:ext cx="164592" cy="155448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66960" y="1234440"/>
            <a:ext cx="166420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Full audit trail</a:t>
            </a:r>
            <a:endParaRPr lang="en-US" sz="15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/>
        </p:nvGraphicFramePr>
        <p:xfrm>
          <a:off x="548640" y="2423160"/>
          <a:ext cx="11109960" cy="2962656"/>
        </p:xfrm>
        <a:graphic>
          <a:graphicData uri="http://schemas.openxmlformats.org/drawingml/2006/table">
            <a:tbl>
              <a:tblPr/>
              <a:tblGrid>
                <a:gridCol w="3566160"/>
                <a:gridCol w="7543800"/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Customer concern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CORTEX’s answer (in one line)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65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3365C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Collecting too much data?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Only the minimum needed for operations &amp; access — no sensitive categories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3365C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Is the data secure?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Strict access control + encrypted transit + confidential content hidden even from admins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3365C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Kept too long?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Everything has a retention limit and is auto-purged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3365C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Leaked to third parties?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Never sold or shared; only cloud providers under enterprise contracts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3365C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Can individuals manage their data?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B2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Can be disabled and deleted; access adjusts with role in real time</a:t>
                      </a:r>
                      <a:endParaRPr lang="en-US" sz="14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457200" y="6455664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CORTEX Personal Data Protection  ·  Foxlink AI Integration Platform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3707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4419</Words>
  <Application>WPS Presentation</Application>
  <PresentationFormat>On-screen Show (16:9)</PresentationFormat>
  <Paragraphs>136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新細明體</vt:lpstr>
      <vt:lpstr>Wingdings</vt:lpstr>
      <vt:lpstr>Segoe UI</vt:lpstr>
      <vt:lpstr>Segoe UI</vt:lpstr>
      <vt:lpstr>Segoe UI</vt:lpstr>
      <vt:lpstr>Calibri</vt:lpstr>
      <vt:lpstr>Microsoft YaHei</vt:lpstr>
      <vt:lpstr>SimSun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 — Personal Data (PII) Protection Statement</dc:title>
  <dc:creator>FOXLINK GPT (CORTEX)</dc:creator>
  <dc:subject>PptxGenJS Presentation</dc:subject>
  <cp:lastModifiedBy>rich_lai</cp:lastModifiedBy>
  <cp:revision>2</cp:revision>
  <dcterms:created xsi:type="dcterms:W3CDTF">2026-06-11T07:53:00Z</dcterms:created>
  <dcterms:modified xsi:type="dcterms:W3CDTF">2026-06-11T07:54:51Z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43599C63417F46018463D7B5BCD64582</vt:lpwstr>
  </property>
  <property fmtid="{D5CDD505-2E9C-101B-9397-08002B2CF9AE}" pid="3" name="KSOProductBuildVer">
    <vt:lpwstr>1028-11.8.2.11649</vt:lpwstr>
  </property>
</Properties>
</file>