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2C39A"/>
                </a:solidFill>
                <a:latin typeface="微軟正黑體" panose="020B0604030504040204" charset="-120"/>
              </a:rPr>
              <a:t>FOXLINK 正崴 · Cortex BOM × MVA</a:t>
            </a:r>
            <a:endParaRPr sz="1200" b="0">
              <a:solidFill>
                <a:srgbClr val="02C39A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軟正黑體" panose="020B0604030504040204" charset="-120"/>
              </a:rPr>
              <a:t>MVA 操作詳細手冊</a:t>
            </a:r>
            <a:endParaRPr sz="4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軟正黑體" panose="020B0604030504040204" charset="-120"/>
              </a:rPr>
              <a:t>Step-by-step 帶 EPM / DPM 完成 MVA 全流程</a:t>
            </a:r>
            <a:endParaRPr sz="20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10972800" cy="164592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2C39A"/>
                </a:solidFill>
                <a:latin typeface="微軟正黑體" panose="020B0604030504040204" charset="-120"/>
              </a:rPr>
              <a:t>本手冊涵蓋的 6 大 Step</a:t>
            </a:r>
            <a:endParaRPr sz="1400" b="1">
              <a:solidFill>
                <a:srgbClr val="02C39A"/>
              </a:solidFill>
              <a:latin typeface="微軟正黑體" panose="020B060403050404020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41148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軟正黑體" panose="020B0604030504040204" charset="-120"/>
              </a:rPr>
              <a:t>Step 1 · 案級製程輸入</a:t>
            </a:r>
            <a:endParaRPr sz="10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0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軟正黑體" panose="020B0604030504040204" charset="-120"/>
              </a:rPr>
              <a:t>Step 2 · IDL multiplier matrix</a:t>
            </a:r>
            <a:endParaRPr sz="10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5360" y="41148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軟正黑體" panose="020B0604030504040204" charset="-120"/>
              </a:rPr>
              <a:t>Step 3 · 案級設備 binding</a:t>
            </a:r>
            <a:endParaRPr sz="10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0160" y="45720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軟正黑體" panose="020B0604030504040204" charset="-120"/>
              </a:rPr>
              <a:t>Step 4 · 案級耗材 binding</a:t>
            </a:r>
            <a:endParaRPr sz="10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0" y="4572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37760" y="45720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軟正黑體" panose="020B0604030504040204" charset="-120"/>
              </a:rPr>
              <a:t>Step 5 · Compute Trace 5 區公式</a:t>
            </a:r>
            <a:endParaRPr sz="10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0" y="4572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572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6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5360" y="45720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軟正黑體" panose="020B0604030504040204" charset="-120"/>
              </a:rPr>
              <a:t>Step 6 · 9×9 結果矩陣</a:t>
            </a:r>
            <a:endParaRPr sz="10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2C39A"/>
                </a:solidFill>
                <a:latin typeface="微軟正黑體" panose="020B0604030504040204" charset="-120"/>
              </a:rPr>
              <a:t>對齊 SteelSeries Rival 3+ Wired Mouse 真實案例 · 9 製程 · 24 cells</a:t>
            </a:r>
            <a:endParaRPr sz="1200" b="0">
              <a:solidFill>
                <a:srgbClr val="02C39A"/>
              </a:solidFill>
              <a:latin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v2 詳細版 · 2026-06 · 對應 Cortex_互動Demo_v0.10.html §Cleansheet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微軟正黑體" panose="020B0604030504040204" charset="-120"/>
              </a:rPr>
              <a:t>操作流程全景</a:t>
            </a:r>
            <a:endParaRPr sz="24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軟正黑體" panose="020B0604030504040204" charset="-120"/>
              </a:rPr>
              <a:t>從進 §Cleansheet section → 6 Step 完整跑完 · 預估 30 分鐘</a:t>
            </a:r>
            <a:endParaRPr sz="12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🎬 操作 Pipeline (進 SteelSeries 案 → §Cleansheet section)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Chevron 5"/>
          <p:cNvSpPr/>
          <p:nvPr/>
        </p:nvSpPr>
        <p:spPr>
          <a:xfrm>
            <a:off x="365760" y="1691640"/>
            <a:ext cx="1783080" cy="822960"/>
          </a:xfrm>
          <a:prstGeom prst="chevron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1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軟正黑體" panose="020B0604030504040204" charset="-120"/>
              </a:rPr>
              <a:t>製程輸入</a:t>
            </a:r>
            <a:endParaRPr sz="11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~5 min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240279" y="1691640"/>
            <a:ext cx="1783080" cy="82296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79" y="1737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2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40279" y="2011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軟正黑體" panose="020B0604030504040204" charset="-120"/>
              </a:rPr>
              <a:t>IDL Matrix</a:t>
            </a:r>
            <a:endParaRPr sz="11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0279" y="2240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~3 min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4114800" y="1691640"/>
            <a:ext cx="1783080" cy="822960"/>
          </a:xfrm>
          <a:prstGeom prst="chevron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737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3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軟正黑體" panose="020B0604030504040204" charset="-120"/>
              </a:rPr>
              <a:t>設備 binding</a:t>
            </a:r>
            <a:endParaRPr sz="11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0" y="2240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~4 min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5989320" y="1691640"/>
            <a:ext cx="1783080" cy="822960"/>
          </a:xfrm>
          <a:prstGeom prst="chevron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737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4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89320" y="2011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軟正黑體" panose="020B0604030504040204" charset="-120"/>
              </a:rPr>
              <a:t>耗材 binding</a:t>
            </a:r>
            <a:endParaRPr sz="11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89320" y="2240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~2 min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7863840" y="1691640"/>
            <a:ext cx="1783080" cy="822960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1737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軟正黑體" panose="020B0604030504040204" charset="-120"/>
              </a:rPr>
              <a:t>Compute 5 區</a:t>
            </a:r>
            <a:endParaRPr sz="11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63840" y="2240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~10 min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9738360" y="1691640"/>
            <a:ext cx="1783080" cy="822960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737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6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38360" y="2011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軟正黑體" panose="020B0604030504040204" charset="-120"/>
              </a:rPr>
              <a:t>結果矩陣</a:t>
            </a:r>
            <a:endParaRPr sz="11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38360" y="2240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~5 min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760" y="2926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📚 本手冊每 Step 涵蓋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5760" y="3291840"/>
            <a:ext cx="3703320" cy="1417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760" y="3291840"/>
            <a:ext cx="3703320" cy="36576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337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Step 1 · 製程輸入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08960" y="33375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5 slides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374903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§A Excel 截圖對應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404164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可即時編輯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4334255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改 TAKT → DL 自動動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251960" y="3291840"/>
            <a:ext cx="3703320" cy="1417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51960" y="3291840"/>
            <a:ext cx="3703320" cy="36576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3337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Step 2 · IDL Matrix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95160" y="33375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4 slides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34840" y="374903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17 角色 × 9 製程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34840" y="404164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153 格 multiplier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434840" y="4334255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初始抄 Excel J64-Z83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138160" y="3291840"/>
            <a:ext cx="3703320" cy="1417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38160" y="3291840"/>
            <a:ext cx="3703320" cy="365760"/>
          </a:xfrm>
          <a:prstGeom prst="roundRect">
            <a:avLst>
              <a:gd name="adj" fmla="val 3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3337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Step 3 · 設備 binding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881360" y="33375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5 slides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1040" y="374903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廠 master 58 件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321040" y="404164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案內 28 件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21040" y="4334255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line_qty × qty_per_line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65760" y="4846320"/>
            <a:ext cx="3703320" cy="1417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65760" y="4846320"/>
            <a:ext cx="3703320" cy="365760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892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Step 4 · 耗材 binding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0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3 slides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8640" y="53035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17 件配置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8640" y="559612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annual_usage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48640" y="588873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對應 Consumables sheet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251960" y="4846320"/>
            <a:ext cx="3703320" cy="1417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251960" y="4846320"/>
            <a:ext cx="370332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0" y="4892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Step 5 · Compute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95160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10 slides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434840" y="53035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5 區公式逐步驟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434840" y="559612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A DL 9 / B IDL 4 / C Equip 6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434840" y="588873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D Fac 6 / E Others 4 / F Total 4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138160" y="4846320"/>
            <a:ext cx="3703320" cy="1417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38160" y="4846320"/>
            <a:ext cx="3703320" cy="36576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75320" y="4892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Step 6 · 結果矩陣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881360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4 slides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321040" y="53035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9×9 cost component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321040" y="559612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SMT/Assy roll-up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321040" y="588873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• Total Cost waterfall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微軟正黑體" panose="020B0604030504040204" charset="-120"/>
              </a:rPr>
              <a:t>開始前 · 必要前提</a:t>
            </a:r>
            <a:endParaRPr sz="24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軟正黑體" panose="020B0604030504040204" charset="-120"/>
              </a:rPr>
              <a:t>Step 1 之前 · Phase A/B/C 必須完成(本手冊不重複講 · 看 v1 手冊)</a:t>
            </a:r>
            <a:endParaRPr sz="12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703320" cy="4846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703320" cy="50292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🏗️  Phase A 廠 master 已建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4747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・ CN 廠 baseline 已 import
  (Rival 3+ Cleansheet xlsx → SupplierBaseInput / IDL 17 / 設備 58 / 耗材 17)
・ 製程目錄 10 項 enum 已建
・ MOUSE_STD 模板已建
→ 確認:Admin → Factory Baselines → CN-2024Q4 status=active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703320" cy="4846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703320" cy="50292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📂  Phase C 案 case_factory 已開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4747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・ BPM 已開 SteelSeries Rival 3+ project
・ case_factory 已建(CN baseline 鎖住)
・ process_template = MOUSE_STD
・ qty_scenarios 配 LOW(100K) + HIGH(418K)
・ pkg_versions 配 RETAIL(商包)+ BULK(工包)
→ 確認:project 開啟 · §customer 已填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703320" cy="48463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703320" cy="50292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📥  BOM xlsx 已 import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4747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・ RD 上傳 BOM xlsx
・ AI 解析 22 子料 + ERP 比對完
・ §variants 已標(EE BOM shared / ME BOM per_variant)
・ §BOM 採購策略已選定
→ 確認:§BOM section status = done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5760" y="5989320"/>
            <a:ext cx="11475720" cy="36576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63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92400E"/>
                </a:solidFill>
                <a:latin typeface="微軟正黑體" panose="020B0604030504040204" charset="-120"/>
              </a:rPr>
              <a:t>⚠️  若以上未完成 · 請先回 §workflow_checklist Phase A-C · 完成後再回 §Cleansheet 進 Step 1</a:t>
            </a:r>
            <a:endParaRPr sz="1000" b="1">
              <a:solidFill>
                <a:srgbClr val="92400E"/>
              </a:solidFill>
              <a:latin typeface="微軟正黑體" panose="020B060403050404020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3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1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案級製程輸入 · 概念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9 製程 × 22 欄位 · 對應 Rival 3+ Excel Cleansheet sheet §A 上半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💡 為什麼要這步?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3949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製程輸入是 MVA 計算的 source of truth — 系統靠這些
變數跑 DL/IDL/Equipment/Facility 4 區公式。
每個製程要填 22 個欄位,分 6 群組:
⏱  Staffed Hours (4 欄)
    working hr/day · days/wk · hrs/wk(計算)· shifts
⚡  Throughput (4 欄)
    TAKT · UPH(計算)· Yield · Efficiency
📊  Volume (4 欄,3 個計算)
    Annual demand · avg/wk · max/wk · 安全係數
👷  DL Config (4 欄)
    DL/shift · debug DL · functional DL · lines
👔  IDL Line-dep (4 欄)
    Line Leader · Tech · Supervisor · TAKT 來源
🕒  SEA Hours (4 欄,2 derived)
    SEA day/wk · 註記 · baseline 引用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📊 對應 Excel Cleansheet sheet §A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A. Direct Labor Cost: PCBA + Box Build + Debug
                       SMT   Wave  Router Laser BB-Assy
─── Staffed Hours ──────────────────────────────
Working hr/day         23    20    20     20    20
Working days/week      6.67  6.67  6.67   6.67  6.00
Working hr/week (calc) 153   133   133    133   120
Shifts per day         2     2     2      2     1
─── Throughput ─────────────────────────────────
TAKT time (s)          8.64  12.00 24.00  4.00  19.00
UPH (calc)             388   279   140    838   176
Yield %                98%   98%   98%    98%   98%
Efficiency %           95%   95%   95%    95%   95%
─── Volume ─────────────────────────────────────
Annual Demand          418,000 (per case_factory)
Avg weekly             8,360
Max weekly demand      10,032   ← Avg × 1.2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4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1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案級製程輸入 · 進入 UI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在 §Cleansheet section 內 · 找 [Step 1 製程輸入] step pill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點什麼:Cleansheet section → Step pill navigator → 「📋 Step 1 製程輸入」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2471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 panose="020B0609020204030204"/>
              </a:rPr>
              <a:t>┌────── §Cleansheet (MVA 計算 · v0.7 qty-aware) ──────────────────────────┐
│  [CN][VN][TW]  [📥 Re-import] [🔄 Compute] [🔒 Lock]                     │
│                                                                          │
│  CN Factory: CN-2024Q4 · Effective 2024-10-11 · DL wage $4.95/hr · ...   │
│                                                                          │
│  📊 Qty Scenario: [低批量 100K][高批量 418K ●]                            │
│                                                                          │
│  [MVA Total $1.8558]  [SGA+Profit $1.6855]  [SMT MVA]  [Assy MVA]        │
│                                                                          │
│  🎬 MVA 操作每一步展開 · 點 step 看該階段 EPM 實際輸入 / 系統實際算什麼  │
│                                                                          │
│  ╔════════════════════╗ ┌──────────┐ ┌──────────┐ ┌──────────┐ ┌──────┐ │
│  ║ 📋 Step 1 製程輸入 ║ │ 👥 Step 2│ │ 🏭 Step 3│ │ 📦 Step 4│ │⚙Step 5│ │
│  ║ ← 點這個            ║ │ IDL matrx│ │  設備    │ │  耗材    │ │Compute│ │
│  ╚════════════════════╝ └──────────┘ └──────────┘ └──────────┘ └──────┘ │
│                                                                          │
│  ━━━━━━━━━━ Panel 1 內容展開 ━━━━━━━━━━━━━━━━━━━━━━━━━━━━━━━━━━━━      │
└──────────────────────────────────────────────────────────────────────────┘</a:t>
            </a:r>
            <a:endParaRPr sz="10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5806440"/>
            <a:ext cx="11475720" cy="54864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63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微軟正黑體" panose="020B0604030504040204" charset="-120"/>
              </a:rPr>
              <a:t>✏️ Step pill 為 v0.10 新加 · 點任一 pill 切換顯示對應 panel · 預設停在 Step 1
💡 若 case 非 CN · Step pill 也會展示 · 但內容是唯讀(等真實 xlsx 後可編輯)</a:t>
            </a:r>
            <a:endParaRPr sz="1000" b="0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5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1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案級製程輸入 · 6 群組 22 欄位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Step 1 panel 內主體 · 每群組 4 欄 · derived 欄(紫色)系統自算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3749039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3749039" cy="32004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62456"/>
            <a:ext cx="3383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⏱  Staffed Hours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7393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Working hours per day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1760" y="17739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23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Working days per week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1760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6.67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2578608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151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Working hours per week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51760" y="26151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153.41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51760" y="277977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2999232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358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Shifts per day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1760" y="30358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2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06240" y="1325880"/>
            <a:ext cx="3749039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1325880"/>
            <a:ext cx="3749039" cy="32004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362456"/>
            <a:ext cx="3383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⚡  Throughput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43400" y="1737360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77393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TAKT time (s)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17739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8.64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43400" y="2157984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UPH (units/hour)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388.06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2359152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43400" y="2578608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6151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Yield %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2240" y="26151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0.98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343400" y="2999232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0358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Efficiency rate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92240" y="30358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0.95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046720" y="1325880"/>
            <a:ext cx="3749039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0" y="1325880"/>
            <a:ext cx="3749039" cy="320040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1362456"/>
            <a:ext cx="3383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📊  Volume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183880" y="1737360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77393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Annual demand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332720" y="17739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418,000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32720" y="1938528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183880" y="2157984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2194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Avg weekly demand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332720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8,360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332720" y="2359152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183880" y="2578608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26151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Max weekly demand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332720" y="26151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10,032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332720" y="277977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183880" y="2999232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20" y="30358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(Max = Avg × 1.2)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332720" y="30358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安全係數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332720" y="3200400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3703320"/>
            <a:ext cx="3749039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65760" y="3703320"/>
            <a:ext cx="3749039" cy="32004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3739896"/>
            <a:ext cx="3383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👷  DL Config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02920" y="4114800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151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DL / shift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651760" y="41513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10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02920" y="4535424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572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Debug DL / shift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651760" y="4572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3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02920" y="4956048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49926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Functional DL / shift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651760" y="499262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2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02920" y="5376672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54132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Lines / debug lines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51760" y="54132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1 / 0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51760" y="5577840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206240" y="3703320"/>
            <a:ext cx="3749039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206240" y="3703320"/>
            <a:ext cx="3749039" cy="32004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43400" y="3739896"/>
            <a:ext cx="3383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👔  IDL Line-dep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343400" y="4114800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34840" y="4151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Line Leader / shift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92240" y="41513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0.5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343400" y="4535424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34840" y="4572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Technician / shift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492240" y="4572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0.5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343400" y="4956048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34840" y="49926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Supervisor / day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492240" y="499262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0.25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343400" y="5376672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34840" y="54132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TAKT 來源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492240" y="54132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SMT Flow!I3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492240" y="5577840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046720" y="3703320"/>
            <a:ext cx="3749039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046720" y="3703320"/>
            <a:ext cx="3749039" cy="320040"/>
          </a:xfrm>
          <a:prstGeom prst="roundRect">
            <a:avLst>
              <a:gd name="adj" fmla="val 3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83880" y="3739896"/>
            <a:ext cx="3383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軟正黑體" panose="020B0604030504040204" charset="-120"/>
              </a:rPr>
              <a:t>🕒  SEA Hours</a:t>
            </a:r>
            <a:endParaRPr sz="11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183880" y="4114800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75320" y="4151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SEA hours / day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332720" y="41513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10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183880" y="4535424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75320" y="4572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SEA hours / week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332720" y="4572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0B1F3A"/>
                </a:solidFill>
                <a:latin typeface="Consolas" panose="020B0609020204030204"/>
              </a:rPr>
              <a:t>60</a:t>
            </a:r>
            <a:endParaRPr sz="10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183880" y="4956048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75320" y="49926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(SEA 常數)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332720" y="499262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註記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0332720" y="515721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183880" y="5376672"/>
            <a:ext cx="34747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75320" y="54132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baseline 引用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332720" y="54132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Consolas" panose="020B0609020204030204"/>
              </a:rPr>
              <a:t>✓ active</a:t>
            </a:r>
            <a:endParaRPr sz="1000" b="1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332720" y="5577840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3AED"/>
                </a:solidFill>
                <a:latin typeface="微軟正黑體" panose="020B0604030504040204" charset="-120"/>
              </a:rPr>
              <a:t>(derived)</a:t>
            </a:r>
            <a:endParaRPr sz="700" b="0">
              <a:solidFill>
                <a:srgbClr val="7C3AED"/>
              </a:solidFill>
              <a:latin typeface="微軟正黑體" panose="020B0604030504040204" charset="-12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6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1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案級製程輸入 · ✏️ 即時編輯 demo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改 TAKT / Yield → 自動重算 DL_CPU → 影響 §Step 6 矩陣 · v0.10 新加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🎬 操作步驟(以 SMT_MAIN 為例)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3949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1️⃣  點製程 tab「SMT 主板貼裝」(預設已選)
2️⃣  在「⚡ Throughput」群組找「TAKT time (s)」
    當前值 8.64 → 點 input 改成 10.00
3️⃣  系統立即:
    • UPH 自動重算 388 → 335 (derived 紫色)
    • 製程 tab「SMT」右上角出現橘色小圓點
    • 頂部出現「✏ 已改」徽章
4️⃣  下方「🎯 即時重算預覽」橫條:
    baseline DL/unit: $0.148
    → 新算:        $0.171 ↑ 15.5%
5️⃣  切到 Step 6 結果矩陣 ↘
    DL_CPU 列 SMT 欄位 自動同步 $0.148 → $0.171
    MVA Total 自動更新
6️⃣  不滿意 → 點「⟲ Reset 本製程」或
            「⟲ Reset ALL」清掉所有 override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🎯 即時重算預覽 UI mockup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 panose="020B0609020204030204"/>
              </a:rPr>
              <a:t>┌─ Throughput ─────────────────────────────┐
│ TAKT time (s)        [10.00  ▾ ] s       │  ← 改了 · 底色變黃
│ UPH (units/hour)     335.31    (derived) │  ← 紫色 · 自動算
│ Yield %              0.98                │
│ Efficiency rate      0.95                │
└──────────────────────────────────────────┘
┌─ 🎯 即時重算預覽 ────────────────────────┐
│ baseline DL/unit: $0.1480                │
│ → 新算: $0.1710  ↑ 15.5%                 │
│                          [⟲ Reset 本製程]│
└──────────────────────────────────────────┘
╔══ Step 6 · 9×9 結果矩陣 ═════════════════╗
║                  SMT      Wave   ...     ║
║ DL_CPU         $0.1710  $0.349  ...      ║  ← 自動同步
║              (改前 0.148)                ║
║ IDL_CPU        $0.044  ...               ║
║ ...                                      ║
║ MVA Σ          $1.879   ↑ vs $1.856      ║
╚══════════════════════════════════════════╝
✅ schema 邏輯:
   UPDATE bom_cs_case_process
   SET takt_seconds = 10.00
   WHERE case_factory_id = ? AND process_code = 'SMT_MAIN'
   → cs_run.dirty = 1 (等下次 Compute 重算)</a:t>
            </a:r>
            <a:endParaRPr sz="8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7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1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案級製程輸入 · 寫入 DB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對應 bom_cs_case_process schema · UPDATE 觸發 cs_run.dirty=1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🗄️ bom_cs_case_process — 案級製程設定主表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 panose="020B0609020204030204"/>
              </a:rPr>
              <a:t>-- Oracle 23 AI · NUMBER GENERATED ALWAYS AS IDENTITY
CREATE TABLE bom_cs_case_process (
  case_factory_id          NUMBER REFERENCES bom_cs_case_factory(case_factory_id) ON DELETE CASCADE,
  process_code             VARCHAR2(40) REFERENCES bom_process_catalog(process_code),
  step_order               NUMBER NOT NULL,
  -- ⏱ Staffed Hours (4 欄)
  working_hours_per_day    NUMBER(5,2),   -- 23  (SMT 23hr · BB 20hr)
  working_days_per_week    NUMBER(5,2),   -- 6.67 (SMT 6.67d · BB 6.00d)
  shifts_per_day           NUMBER(2),     -- 2   (SMT 2 shifts · BB 1 shift)
  -- ⚡ Throughput (3 欄,UPH derived)
  takt_seconds             NUMBER(10,4),  -- 8.64
  yield_pct                NUMBER(5,4),   -- 0.98
  efficiency_pct           NUMBER(5,4),   -- 0.95
  -- 👷 DL Config (5 欄)
  dl_per_shift             NUMBER(5,2),   -- 10
  debug_dl_per_shift       NUMBER(5,2),   -- 3
  functional_dl_per_shift  NUMBER(5,2),   -- 2
  lines_installed          NUMBER(3) DEFAULT 1,
  debug_lines_installed    NUMBER(3) DEFAULT 0,
  -- 👔 IDL Line-dep (3 欄)
  line_leader_per_shift    NUMBER(5,2),   -- 0.5
  technician_per_shift     NUMBER(5,2),   -- 0.5
  supervisor_per_day       NUMBER(5,2),   -- 0.25
  -- 🕒 SEA Hours (2 欄)
  sea_hours_per_day        NUMBER(5,2) DEFAULT 10,
  sea_hours_per_week       NUMBER(5,2) DEFAULT 60,
  -- TAKT 來源(文字註記)
  takt_source              VARCHAR2(80),  -- 'SMT Process Flow!I3'
  notes                    CLOB,
  PRIMARY KEY (case_factory_id, process_code)
);
-- Annual Demand 是 case_factory level(不在製程表)
-- → bom_cs_case_factory.annual_demand · 影響所有製程的 demand 計算</a:t>
            </a:r>
            <a:endParaRPr sz="9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8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2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IDL × 製程 multiplier matrix · 概念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17 角色 × 9 製程 = 153 個 multiplier · 案級配置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💡 為什麼要 matrix?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3949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IDL(Indirect Labor)= 間接人力 · 不直接動產線。
問題:廠 OPS 經理 1 個人,工廠所有製程都吃他的薪水
       怎麼分攤?
解法:設「multiplier」表示該角色花多少比例
       服務該製程。
範例:
  OPS_MGR(廠 OPS 經理 $60,320/年)
    × SMT 0.08 (花 8% 時間管 SMT)
    × Wave 0.04
    × BB Assy 0.125
    × ...
  → SMT 製程吃他 $60,320 × 0.08 = $4,826/年
17 個角色:
  • CENTRAL service(廠級共用)
    OPS_MGR · HR · FIN · IT · ADMIN · SECURITY ·
    JANITOR · CANTEEN · DRIVER · NURSE
  • MFG IDL(製造相關)
    SEC_MGR_SMT · SEC_MGR_BB · ENGINEER ·
    PE_ENG · QE_ENG · PLANNER · STOREKEEPER
每角色每製程一個 multiplier · 共 153 格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📊 matrix UI 示意(顏色越深 multiplier 越大)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74755"/>
                </a:solidFill>
                <a:latin typeface="Consolas" panose="020B0609020204030204"/>
              </a:rPr>
              <a:t>IDL Role     年薪     SMT   Wave  Router Laser BB-Assy
─────────────────────────────────────────────────────
OPS_MGR     $60,320   0.080 0.040 0.040  0.040 0.125
SEC_MGR_SMT $42,500   ███   0.200 0.150  0.100 —
SEC_MGR_BB  $42,500   —     —     —      —     ███
ENGINEER    $24,440   0.300 0.100 0.080  0.040 0.200
PE_ENG      $24,440   0.250 0.080 0.050  0.030 0.150
QE_ENG      $24,440   0.100 0.030 0.020  0.010 0.080
PLANNER     $19,000   0.060 0.030 0.020  0.010 0.080
STOREKEEPER $14,500   0.050 0.030 0.020  0.010 0.100
HR_MGR      $28,000   0.040 0.020 0.020  0.020 0.060
FIN_MGR     $32,000   0.025 0.015 0.015  0.015 0.040
IT_MGR      $30,000   0.030 0.015 0.015  0.015 0.050
ADMIN       $13,500   0.030 0.015 0.015  0.015 0.045
SECURITY    $9,800    0.020 0.015 0.015  0.015 0.030
JANITOR     $8,800    0.040 0.030 0.030  0.030 0.050
CANTEEN     $9,800    0.035 0.020 0.020  0.020 0.050
DRIVER      $12,000   0.020 0.010 0.010  0.010 0.030
NURSE       $14,000   0.015 0.010 0.010  0.010 0.025
─────────────────────────────────────────────────────
Col Σ                  1.10  0.63  0.49   0.39  1.32</a:t>
            </a:r>
            <a:endParaRPr sz="7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9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2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IDL matrix · UI 操作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進 Step 2 panel · 看 153 格 matrix · 顏色漸層輔助判讀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點什麼:Step 1 → Step pill「👥 Step 2 IDL Matrix」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24712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 panose="020B0609020204030204"/>
              </a:rPr>
              <a:t>╔════════════════════════════════════════════════════════════════════════════════╗
║ 👥 Step 2 · IDL × 製程 Multiplier Matrix                                       ║
║                            17 角色 × 9 製程 · 對應 Excel rows 64-83 · 案級配置 ║
║                                              17 角色 × 9 製程 = 153 格        ║
╠════════════════════════════════════════════════════════════════════════════════╣
║ IDL 角色          年薪 USD  SMT  Wave Router Laser BB-Assy BB-Test Mat Q-SMT Q-BB Row Σ║
║ ───────────────────────────────────────────────────────────────────────────────║
║ 廠 OPS 經理      $60,320   0.080 0.040 0.040 0.040 0.125  0.080 0.080 0.020 0.020 0.523║
║ SMT 段經理       $42,500   0.500 0.200 0.150 0.100 0      0     0     0.050 0     1.000║
║ ...              ...       ...                                              ...║
║                                                                                ║
║ Col Σ(per process)         1.10  0.63  0.49  0.39  1.32  ...                  ║
╚════════════════════════════════════════════════════════════════════════════════╝
📌 顏色漸層:multiplier 越大 → 紫色越深 · 0 → 灰色「—」
   → 一眼看出哪角色重押哪製程(如 SMT 段經理重押 SMT_MAIN)</a:t>
            </a:r>
            <a:endParaRPr sz="8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5349240"/>
            <a:ext cx="11475720" cy="100584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413248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💡 判讀技巧:
  • 每列 Row Σ = 該角色「總負載」· 不該 &gt; 1.0 (代表他超過自己 100% 工時 → 異常)
  • 每欄 Col Σ = 該製程吃多少 IDL · 跨案比較 / SMT 重複用同樣 IDL → 利用率好
  • 0(灰色)= 該角色完全不碰該製程(例 SMT 段經理不碰 BB Test)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10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2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IDL matrix · 初始化策略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首次開案 · 抄 Excel J64-Z83 · 後續 EPM 在 UI 編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153 格 multiplier 不可能從 0 填 · 系統提供 2 種 seed 策略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4572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✅ 策略 A:Excel import (首次)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• 首次開案,廠 EPM 的歷史 Cleansheet xlsx
  J64-Z83 已有完整 multiplier matrix
  (該廠之前所有案累積的經驗值)
• 系統 import 時自動抄這 153 格進
  bom_cs_case_idl_alloc 表
  (case_factory_id, process_code, role_code, multiplier)
• 後續若同廠開類似案 → 沿用相同 seed
• 適用:
  ✓ 廠級首份 baseline 已 import
  ✓ 案產品類型相近(都做滑鼠 / 都做鍵盤)
  ✓ EPM 信任歷史值
• 後續 EPM 在 UI 改 · 不回 Excel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623560" cy="4572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⚠️ 策略 B:模板 default (新類型)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3492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• 廠沒做過這類產品 / 案產品差異大
• 系統用 process_template 預設值:
  MOUSE_STD 模板 → SMT 重押 0.5,BB 輕押
  KEYBOARD_STD → 倒過來
  WHOOP_WEARABLE → 模組多 + FATP 重押
• EPM 需做更多手工調整
• 適用:
  ✗ 廠首次做這類產品
  ✗ 沒歷史可參考
  ✓ 新廠 import 後第一個案
• 警告:multiplier 可能太離譜 →
  Phase E Compute 後跑 regression test
  vs 廠平均 MVA · &gt; 30% 差異需 EPM 解釋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11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2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IDL matrix · 寫入 DB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案級 153 row · 廠級角色定義 + 案級 multiplier 兩層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🗄️ bom_factory_idl_role(廠級)+ bom_cs_case_idl_alloc(案級)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-- (1) 廠級 IDL 角色定義 · 17 列 / 廠 / baseline 版本
CREATE TABLE bom_factory_idl_role (
  baseline_id        NUMBER REFERENCES bom_factory_baseline(baseline_id) ON DELETE CASCADE,
  role_code          VARCHAR2(40),                  -- 'OPS_MGR', 'SEC_MGR_SMT', ...
  display_name_en    VARCHAR2(100),
  category           VARCHAR2(40),                  -- MFG_IDL / CENTRALIZED_SERVICE
  annual_rate_usd    NUMBER(15,2),                  -- $60,320 ← 廠 EPM 年度更新
  weekly_rate_usd    NUMBER(15,2),                  -- annual / 50
  PRIMARY KEY (baseline_id, role_code)
);
-- (2) 案級 multiplier matrix · 一案 153 列 (17 × 9)
CREATE TABLE bom_cs_case_idl_alloc (
  case_factory_id      NUMBER REFERENCES bom_cs_case_factory(case_factory_id) ON DELETE CASCADE,
  process_code         VARCHAR2(40) REFERENCES bom_process_catalog(process_code),
  role_code            VARCHAR2(40),                -- 對應 bom_factory_idl_role.role_code
  multiplier           NUMBER(10,6),                -- 0.08, 0.125, 0.005 ...
  PRIMARY KEY (case_factory_id, process_code, role_code)
);
-- Step 2 完成後 · 案級 153 列寫入
-- 計算引擎(Step 5 區 B) JOIN 兩表:
--   SELECT SUM(r.annual_rate_usd × a.multiplier) AS idl_annual_for_process
--   FROM bom_cs_case_idl_alloc a
--   JOIN bom_factory_idl_role r ON r.role_code = a.role_code
--   WHERE a.case_factory_id = ? AND a.process_code = ?
-- 範例:SMT_MAIN 製程的 IDL 年成本
--   = OPS_MGR $60,320 × 0.08
--   + SEC_MGR_SMT $42,500 × 0.500
--   + ENGINEER $24,440 × 0.300
--   + ... (17 角色 SUMPRODUCT)
--   = $51,234 / 年 → / 50 / weekly_output = $0.0436 / unit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12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3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案級設備 binding · 概念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廠 master 58 件 → 案級挑 28 件 · 每件設 line_qty × qty_per_line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💡 雙層架構 · 為什麼?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3949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廠 master(bom_factory_equipment)= 廠內所有設備
案級 binding(bom_cs_case_equipment)= 本案用多少
問題:DEK 印刷機是同一台 · SteelSeries 案吃 50%
       Razer 案吃 50% · capacity 怎麼算?
解法:廠級存設備本身 · 案級存「我這案佔用 line_qty」
範例(DEK 印刷機):
  廠 master:
    desc='DEK Horizon 03i Printer'
    acq_cost=$84,000 · life=6 yrs
  SteelSeries 案 binding:
    line_qty=1 · qty_per_line=1
  Razer 案 binding:
    line_qty=0.5 · qty_per_line=1 (共用)
→ 折舊算法:
  SteelSeries 案吃 $84k / 6 × 1×1 = $14k/年
  Razer 案吃 $84k / 6 × 0.5×1 = $7k/年
  合理分攤
→ 跨案分析:
  同款 DEK 跨多案 utilization 一秒可查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📊 設備分類(6 type)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349240" cy="64008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960120" cy="640080"/>
          </a:xfrm>
          <a:prstGeom prst="roundRect">
            <a:avLst>
              <a:gd name="adj" fmla="val 2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軟正黑體" panose="020B0604030504040204" charset="-120"/>
              </a:rPr>
              <a:t>EQUIPMENT</a:t>
            </a:r>
            <a:endParaRPr sz="9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軟正黑體" panose="020B0604030504040204" charset="-120"/>
              </a:rPr>
              <a:t>廠 28 件</a:t>
            </a:r>
            <a:endParaRPr sz="8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2360" y="17373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主機設備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360" y="20116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微軟正黑體" panose="020B0604030504040204" charset="-120"/>
              </a:rPr>
              <a:t>高額 · DEK / FUJI NXT / Reflow</a:t>
            </a:r>
            <a:endParaRPr sz="8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2404872"/>
            <a:ext cx="5349240" cy="64008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2404872"/>
            <a:ext cx="960120" cy="64008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50591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軟正黑體" panose="020B0604030504040204" charset="-120"/>
              </a:rPr>
              <a:t>FIXTURE</a:t>
            </a:r>
            <a:endParaRPr sz="9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272491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軟正黑體" panose="020B0604030504040204" charset="-120"/>
              </a:rPr>
              <a:t>廠 8 件</a:t>
            </a:r>
            <a:endParaRPr sz="8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52360" y="245059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治具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52360" y="27249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微軟正黑體" panose="020B0604030504040204" charset="-120"/>
              </a:rPr>
              <a:t>工裝 · ESD Tray / 模具</a:t>
            </a:r>
            <a:endParaRPr sz="8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3118104"/>
            <a:ext cx="5349240" cy="64008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55080" y="3118104"/>
            <a:ext cx="960120" cy="640080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16382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軟正黑體" panose="020B0604030504040204" charset="-120"/>
              </a:rPr>
              <a:t>TOOLING</a:t>
            </a:r>
            <a:endParaRPr sz="9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0" y="34381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軟正黑體" panose="020B0604030504040204" charset="-120"/>
              </a:rPr>
              <a:t>廠 5 件</a:t>
            </a:r>
            <a:endParaRPr sz="8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52360" y="316382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工具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52360" y="343814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微軟正黑體" panose="020B0604030504040204" charset="-120"/>
              </a:rPr>
              <a:t>Test fixture / Microscope</a:t>
            </a:r>
            <a:endParaRPr sz="8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55080" y="3831335"/>
            <a:ext cx="5349240" cy="64008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80" y="3831335"/>
            <a:ext cx="960120" cy="640080"/>
          </a:xfrm>
          <a:prstGeom prst="roundRect">
            <a:avLst>
              <a:gd name="adj" fmla="val 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877055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軟正黑體" panose="020B0604030504040204" charset="-120"/>
              </a:rPr>
              <a:t>CARRIER</a:t>
            </a:r>
            <a:endParaRPr sz="9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0" y="4151375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軟正黑體" panose="020B0604030504040204" charset="-120"/>
              </a:rPr>
              <a:t>廠 4 件</a:t>
            </a:r>
            <a:endParaRPr sz="8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52360" y="3877055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載具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52360" y="4151375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微軟正黑體" panose="020B0604030504040204" charset="-120"/>
              </a:rPr>
              <a:t>ESD Tray / Carrier (752 個/line)</a:t>
            </a:r>
            <a:endParaRPr sz="8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355080" y="4544568"/>
            <a:ext cx="5349240" cy="64008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55080" y="4544568"/>
            <a:ext cx="960120" cy="640080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5902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軟正黑體" panose="020B0604030504040204" charset="-120"/>
              </a:rPr>
              <a:t>STENCIL</a:t>
            </a:r>
            <a:endParaRPr sz="9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0" y="48646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軟正黑體" panose="020B0604030504040204" charset="-120"/>
              </a:rPr>
              <a:t>廠 3 件</a:t>
            </a:r>
            <a:endParaRPr sz="8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52360" y="45902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鋼網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52360" y="48646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微軟正黑體" panose="020B0604030504040204" charset="-120"/>
              </a:rPr>
              <a:t>SMT 印刷模板(壽命短)</a:t>
            </a:r>
            <a:endParaRPr sz="8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355080" y="5257800"/>
            <a:ext cx="5349240" cy="64008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55080" y="5257800"/>
            <a:ext cx="960120" cy="640080"/>
          </a:xfrm>
          <a:prstGeom prst="roundRect">
            <a:avLst>
              <a:gd name="adj" fmla="val 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30352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軟正黑體" panose="020B0604030504040204" charset="-120"/>
              </a:rPr>
              <a:t>MRO</a:t>
            </a:r>
            <a:endParaRPr sz="9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00800" y="557784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軟正黑體" panose="020B0604030504040204" charset="-120"/>
              </a:rPr>
              <a:t>廠 10 件</a:t>
            </a:r>
            <a:endParaRPr sz="8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52360" y="53035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MRO 物料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52360" y="55778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微軟正黑體" panose="020B0604030504040204" charset="-120"/>
              </a:rPr>
              <a:t>UPS / 壓縮空氣罐 / 廠級共用</a:t>
            </a:r>
            <a:endParaRPr sz="8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13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3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設備 binding · 廠 master view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v0.10 新加 · 點 [🏭 廠 master] toggle 看廠 58 件全清單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點什麼:Step 3 panel → toggle bar 切 [🏭 廠 master (58 件 · 可選用)]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 panose="020B0609020204030204"/>
              </a:rPr>
              <a:t>┌───────────────────────────────────────────────────────────────────────────┐
│  🏭 Step 3 · 設備 binding                                                 │
│   廠 master 58 件 · 對應 bom_factory_equipment(本案未用的灰色)            │
│   廠 58 件 · 廠 acq Σ $3.85M                                               │
│                                                                           │
│  [📋 案級 (28 件用於本案)]  [🏭 廠 master (58 件 · 可選用) ●]              │
│                                                                           │
│  ┌───────────────────────────────────────────────────────────────────────┐│
│  │ Equipment 描述              Type   Process    案內  Line  Qty  Life  ││
│  │ ───────────────────────────────────────────────────────────────────  ││
│  │ DEK Horizon 03i Printer    EQUIP  SMT_MAIN    ✓     1     1   6yr   ││ ← 案內(亮)
│  │ FUJI NXT M3S×6 + M6S×1     EQUIP  SMT_MAIN    ✓     1     1   6yr   ││
│  │ SPI TRI-7007               EQUIP  SMT_MAIN    ✓     1     1   6yr   ││
│  │ ...                                                                  ││
│  │ DEK ELA Auto Printer       EQUIP  SMT_MAIN    —     —     —   6yr   ││ ← 案外(灰)
│  │ Universal Genesis P&amp;P      EQUIP  SMT_MAIN    —     —     —   6yr   ││   廠 master · 本案未選
│  │ Koh-Young SPI 8030         EQUIP  SMT_MAIN    —     —     —   6yr   ││
│  │ ...                                                                  ││
│  └───────────────────────────────────────────────────────────────────────┘│
│                                                                           │
│  ↳ 廠 master schema: bom_factory_equipment 全廠 58 件                     │
└───────────────────────────────────────────────────────────────────────────┘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sz="8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6035040"/>
            <a:ext cx="11475720" cy="32004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微軟正黑體" panose="020B0604030504040204" charset="-120"/>
              </a:rPr>
              <a:t>💡 用途:看到「廠級有 30 件本案沒用」· 可能本案漏選 · 或證明本案精簡</a:t>
            </a:r>
            <a:endParaRPr sz="1000" b="0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14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3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設備 binding · 案級 view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預設視角 · 案內 28 件 · 每件設 line_qty / qty_per_line / 案內小計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247120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74755"/>
                </a:solidFill>
                <a:latin typeface="Consolas" panose="020B0609020204030204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┌──────────────────────────────────────────────────────────────────────────────────┐
│  🏭 Step 3 · 設備 binding · 案內 28 件 · 案內 acq Σ $1.6M                          │
│                                                                                  │
│  [📋 案級 (28 件用於本案) ●]  [🏭 廠 master (58 件 · 可選用)]                     │
│                                                                                  │
│  Equipment 描述               Type      Process     Line qty  Qty/line Life  Acq Cost   案內小計│
│  ──────────────────────────────────────────────────────────────────────────────  │
│  DEK Horizon 03i Printer     EQUIP     SMT_MAIN     1         1        6     $84,000   $84,000│
│  FUJI NXT M3S×6 + M6S×1      EQUIP     SMT_MAIN     1         1        6     $1,013k   $1,013k│
│  SPI TRI-7007 (Solder Paste) EQUIP     SMT_MAIN     1         1        6     $68,852   $68,852│
│  Heller Reflow Oven Mark5    EQUIP     SMT_MAIN     1         1        6     $158,000  $158k  │
│  ESD Tray (carrier)          CARRIER   SMT_MAIN     1         752      3     $18.5     $13,912│ ← qty/line=752
│  ...                                                                                          │
│  Wave Solder ERSA VS280-A    EQUIP     WAVE_SOLDER  1         1        8     $135,000  $135k  │
│  ...                                                                                          │
│  EMI/EMC Chamber (shared)    EQUIP     BB_TEST      0.3       1        10    $480,000  $144k  │ ← 跨案共用 30%
│  X-Ray Pass-thru (TR7500S)   EQUIP     Q_SMT        0.5       1        8     $285,000  $143k  │ ← 跨案 50%
└──────────────────────────────────────────────────────────────────────────────────┘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sz="7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" y="5029200"/>
            <a:ext cx="11475720" cy="132588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11247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💡 line_qty / qty_per_line 怎麼填?
  • line_qty:本案吃這台設備多少「線」· 跨案共用設備 → 用小數(0.3 = 吃 30% capacity)
  • qty_per_line:該線需要幾台這設備(ESD Tray 一線需 752 個 carrier · 設備數 ≠ 1)
  • life_yrs:可 override 廠 master default(汰換 / 客戶壓力提早攤提)
  • acq_cost:可 override(汰換 / 議價 / 客供設備 = $0)
→ 折舊算法(Step 5 區 C):depreciation = line_qty × qty_per_line × acq_cost / life_yrs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15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3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設備 binding · 怎麼挑 / 怎麼填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從廠 master 挑 → 設 line_qty/qty_per_line → 可 override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🎬 EPM 操作流程(以 SMT_MAIN 製程為例)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1147572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latin typeface="微軟正黑體" panose="020B0604030504040204" charset="-120"/>
              </a:rPr>
              <a:t>1️⃣</a:t>
            </a:r>
            <a:endParaRPr sz="1800" b="0"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1645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切到廠 master view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1920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看廠級 58 件 · 過濾 process=SMT_MAIN · 有 12 件 SMT 設備可選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2313432"/>
            <a:ext cx="1147572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780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latin typeface="微軟正黑體" panose="020B0604030504040204" charset="-120"/>
              </a:rPr>
              <a:t>2️⃣</a:t>
            </a:r>
            <a:endParaRPr sz="1800" b="0"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" y="235915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案內必選的「線級」設備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2633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DEK / FUJI NXT / SPI / Reflow / AOI · 一條 SMT 線必備 → 全勾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3026664"/>
            <a:ext cx="1147572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9125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latin typeface="微軟正黑體" panose="020B0604030504040204" charset="-120"/>
              </a:rPr>
              <a:t>3️⃣</a:t>
            </a:r>
            <a:endParaRPr sz="1800" b="0"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307238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案內必選的「個數型」設備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3346704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ESD Tray / Stencil → 用 qty_per_line(本案 PCB 一線需 752 個 ESD Tray)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5760" y="3739896"/>
            <a:ext cx="1147572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0448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latin typeface="微軟正黑體" panose="020B0604030504040204" charset="-120"/>
              </a:rPr>
              <a:t>4️⃣</a:t>
            </a:r>
            <a:endParaRPr sz="1800" b="0">
              <a:latin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" y="3785615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案內可選的「shared」設備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059935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X-Ray / EMI Chamber → line_qty &lt; 1(本案佔 50% / 30%)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5760" y="4453128"/>
            <a:ext cx="1147572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latin typeface="微軟正黑體" panose="020B0604030504040204" charset="-120"/>
              </a:rPr>
              <a:t>5️⃣</a:t>
            </a:r>
            <a:endParaRPr sz="1800" b="0">
              <a:latin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1560" y="449884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若廠級無此設備 → 先回廠 master 加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" y="477316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Admin → Factory Equipment → Add new equipment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5166360"/>
            <a:ext cx="1147572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30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latin typeface="微軟正黑體" panose="020B0604030504040204" charset="-120"/>
              </a:rPr>
              <a:t>6️⃣</a:t>
            </a:r>
            <a:endParaRPr sz="1800" b="0">
              <a:latin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1560" y="52120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可 override 廠 master default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51560" y="54864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微軟正黑體" panose="020B0604030504040204" charset="-120"/>
              </a:rPr>
              <a:t>acq_cost / life_yrs · 案內議價或壓力提早攤提時用</a:t>
            </a:r>
            <a:endParaRPr sz="95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16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3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設備 binding · 寫入 DB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廠 master + 案級 binding 兩層 schema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🗄️ bom_factory_equipment(廠級)+ bom_cs_case_equipment(案級)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 panose="020B0609020204030204"/>
              </a:rPr>
              <a:t>-- (1) 廠級設備 master · 跨案共用 · 58 列 / 廠
CREATE TABLE bom_factory_equipment (
  equipment_id            NUMBER GENERATED ALWAYS AS IDENTITY PRIMARY KEY,
  factory_code            VARCHAR2(10) REFERENCES bom_factory(factory_code),
  equipment_code          VARCHAR2(80),                  -- 廠內編號
  description             VARCHAR2(500),                 -- 'DEK Horizon 03i Printer'
  manufacturer            VARCHAR2(100),                 -- 'DEK'
  model                   VARCHAR2(100),                 -- 'Horizon 03i'
  part_no                 VARCHAR2(80),
  equipment_type          VARCHAR2(40),                  -- EQUIPMENT/FIXTURE/TOOLING/CARRIER/STENCIL/MRO
  custom_or_standard      VARCHAR2(20),                  -- CUSTOM / STANDARD
  default_process_code    VARCHAR2(40),                  -- 'SMT_MAIN'
  acquisition_cost_usd    NUMBER(15,2),                  -- $84,000 ← 廠 EPM 月度更新
  salvage_value_usd       NUMBER(15,2) DEFAULT 0,
  default_useful_life_yrs NUMBER(5,2),                   -- 6
  is_active               NUMBER(1) DEFAULT 1
);
-- (2) 案級設備 binding · 案內挑 + 設量 + 可 override · 28 列 / 案
CREATE TABLE bom_cs_case_equipment (
  case_factory_id              NUMBER REFERENCES bom_cs_case_factory(case_factory_id) ON DELETE CASCADE,
  equipment_id                 NUMBER REFERENCES bom_factory_equipment(equipment_id),
  process_code                 VARCHAR2(40),              -- 可改廠 master default
  line_qty                     NUMBER(5,2),               -- 1.0 / 0.5 / 0.3 ← 跨案共用比例
  qty_per_line                 NUMBER(5),                 -- 752 (ESD Tray)
  useful_life_override_yrs     NUMBER(5,2),               -- NULL → 用廠 default 6 yr
  acquisition_cost_override_usd NUMBER(15,2),             -- NULL → 用廠 default $84,000
  notes                        CLOB,
  PRIMARY KEY (case_factory_id, equipment_id)
);
-- (3) 計算引擎(Step 5 區 C)JOIN 兩表:
SELECT
  SUM(e.line_qty × e.qty_per_line ×
      COALESCE(e.acquisition_cost_override_usd, m.acquisition_cost_usd) ×
      0.05) AS annual_mro,                                              -- MRO 廠政策 5%
  SUM(e.line_qty × e.qty_per_line ×
      COALESCE(e.acquisition_cost_override_usd, m.acquisition_cost_usd) /
      COALESCE(e.useful_life_override_yrs, m.default_useful_life_yrs)) AS annual_depr
FROM bom_cs_case_equipment e
JOIN bom_factory_equipment m ON m.equipment_id = e.equipment_id
WHERE e.case_factory_id = ? AND e.process_code = ?;</a:t>
            </a:r>
            <a:endParaRPr sz="8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17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4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案級耗材 binding · 概念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17 件耗材 · annual_qty × unit_cost = 年成本 · /unit 計算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💡 為什麼分耗材跟設備?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3949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設備:資產 · 一次買進 · 折舊攤提 · cost 算 Equipment 區
耗材:消費 · 每年買掉 · 直接吃成本 · cost 算 Facility 區 D
       (Indirect Materials)
耗材特徵:
  • 用量大 (錫膏每年 280 KG)
  • 單價低 (錫膏 $52/KG)
  • 隨年量 scale(年量 × 2 → 耗材 × 2)
對比設備(DEK $84K · 6 年攤提 · 不隨年量變):
  耗材完全 demand-driven · 年量 100K → 耗材年成本 X
  年量 418K → 耗材年成本 4.18X
17 件耗材:
  • 錫膏 / 錫條 / 助焊劑 (SMT 必備)
  • 螺絲 / 熱熔膠 / OPP 袋 (BB Assy)
  • 測試 cable / 校正器材 (BB Test)
  • Pallet / 纏繞膜 (Material Mgmt)
  • Probe / 樣品袋 (Quality)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📊 17 件耗材對 SteelSeries 案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5349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374755"/>
                </a:solidFill>
                <a:latin typeface="Consolas" panose="020B0609020204030204"/>
              </a:rPr>
              <a:t>Consumable                       UOM  Proc    Annual qty Unit$  年成本
─────────────────────────────────────────────────────────────────────
錫膏 Solder Paste SAC305 (500g) KG   SMT     280       $52.00 $14,560
清潔劑(鋼網)                     L    SMT      85      $8.50    $722
錫條 Wave Solder Bar             KG   Wave    420     $28.00 $11,760
助焊劑 Flux                      L    Wave     65     $12.50    $812
分板膠 / 刀片                    PCS  Router 1,200      $3.20  $3,840
雷射護目鏡                       PCS  Laser    24     $35.00    $840
螺絲 M2×6mm                      PCS  BB-Assy 2,508,000 $0.005 $12,040
熱熔膠條                          KG   BB-Assy   180     $6.20  $1,116
OPP 防靜電袋                     PCS  BB-Assy 418,000  $0.018  $7,524
氣動工具油                       L    BB-Assy    24     $22.00   $528
測試 cable (USB-A)               PCS  BB-Test    60      $3.50   $210
校正器材                          PCS  BB-Test    12     $85.00 $1,020
Pallet 棧板                       PCS  Mat-Mgmt  800      $8.50 $6,800
纏繞膜                            ROLL Mat-Mgmt  240     $12.00 $2,880
ICT Probe                         PCS  Q-SMT     600      $1.20    $720
品保樣品袋                       PCS  Q-BB       60      $0.45     $27
X-Ray 底片                       PCS  Q-SMT     480     $12.00  $5,760
Σ Total 年成本                                                  $71,159
÷ Annual Demand 418,000                                              -
= per unit                                                       $0.0017</a:t>
            </a:r>
            <a:endParaRPr sz="6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18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4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耗材 binding · UI + 操作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Step 4 panel · 17 件 list + 年總成本 Σ + per unit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操作流程:從廠 master 17 件耗材 binding 進案 · 設 annual_qty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943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76072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 panose="020B0609020204030204"/>
              </a:rPr>
              <a:t>┌─ 📦 Step 4 · 案級耗材 binding ────────────────────────────────────┐
│  17 件耗材 · 年總成本 Σ $71.2k                                    │
│                                                                   │
│  ID  Description           UOM  Proc       Annual qty  Unit cost  │
│  ────────────────────────────────────────────────────────────────  │
│  C01 錫膏 Solder Paste     KG   SMT_MAIN     280       $52.0000   │
│  C02 清潔劑(鋼網)          L    SMT_MAIN      85        $8.5000   │
│  C03 錫條 Wave Solder      KG   WAVE_SOLDER  420       $28.0000   │
│  C04 助焊劑 Flux           L    WAVE_SOLDER   65       $12.5000   │
│  C05 分板膠 / 刀片         PCS  ROUTER...   1,200       $3.2000   │
│  ...                                                              │
│                                                                   │
│  Σ TOTAL                                              $71,159     │
│  ÷ Annual 418K                                       $0.0017/unit │
└───────────────────────────────────────────────────────────────────┘</a:t>
            </a:r>
            <a:endParaRPr sz="8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92240" y="1554480"/>
            <a:ext cx="5349240" cy="4572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5349240" cy="365760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🎬 操作步驟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50749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1️⃣  廠 EPM 第一次 import 時
    Consumables sheet → 系統自動建廠 master
    17 件 unit_cost / UOM / annual_usage_default
2️⃣  案級 binding 預設帶入廠 master 17 件
    annual_qty 從 default 帶 · EPM 視案調整
    (年量大 → 耗材按比例增)
3️⃣  動態欄位
    • annual_qty:本案年用量
      (預設 = 廠 default · 可改)
    • unit_cost_override_usd:可改
      (供應商換 / 議價 / 客供 = 0)
4️⃣  系統算
    年成本 = annual_qty × COALESCE(override,
                                    廠 master.unit_cost)
    Σ → / Annual demand → /unit
5️⃣  跑 Step 5 區 D · 寫入 IND_MAT
    cost_per_unit_usd
6️⃣  若耗材廠裡新增 → 先回廠 master 加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19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4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耗材 binding · 寫入 DB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bom_factory_consumable + bom_cs_case_consumable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🗄️ bom_factory_consumable(廠級)+ bom_cs_case_consumable(案級)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-- (1) 廠級耗材 master · 跨案共用
CREATE TABLE bom_factory_consumable (
  consumable_id          NUMBER GENERATED ALWAYS AS IDENTITY PRIMARY KEY,
  factory_code           VARCHAR2(10) REFERENCES bom_factory(factory_code),
  consumable_code        VARCHAR2(80),
  description            VARCHAR2(500),                 -- '錫膏 Solder Paste SAC305 (500g)'
  default_process_code   VARCHAR2(40),                  -- 'SMT_MAIN'
  unit_cost_usd          NUMBER(15,4),                  -- $52.0000 / KG ← 廠 EPM 月度更新
  unit_of_measure        VARCHAR2(20),                  -- KG/L/PCS/ROLL
  annual_usage_default   NUMBER,                        -- 280 (廠級每年消耗量,參考)
  is_active              NUMBER(1) DEFAULT 1
);
-- (2) 案級耗材 binding · 案內 17 件
CREATE TABLE bom_cs_case_consumable (
  case_factory_id         NUMBER REFERENCES bom_cs_case_factory(case_factory_id) ON DELETE CASCADE,
  consumable_id           NUMBER REFERENCES bom_factory_consumable(consumable_id),
  process_code            VARCHAR2(40),
  annual_usage_qty        NUMBER(15,4),                  -- 280 ← 案級可改 · 年量大 → 多用
  unit_cost_override_usd  NUMBER(15,4),                  -- NULL → 用廠 default · 議價時 override
  notes                   CLOB,
  PRIMARY KEY (case_factory_id, consumable_id)
);
-- (3) 計算引擎(Step 5 區 D · IND_MAT)JOIN:
SELECT
  SUM(c.annual_usage_qty × COALESCE(c.unit_cost_override_usd, m.unit_cost_usd))
  AS annual_indirect_materials
FROM bom_cs_case_consumable c
JOIN bom_factory_consumable m ON m.consumable_id = c.consumable_id
WHERE c.case_factory_id = ? AND c.process_code = ?;
-- → / Annual demand → per unit
-- 範例 SMT_MAIN:錫膏 + 清潔劑 = ($14,560 + $722) / 418,000 = $0.0365/unit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20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Compute Trace · 5 區公式 overview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A DL · B IDL · C Equipment · D Facility · E Others · F Total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🧮 6 個 zone tabs · 對應 Cleansheet Excel 5 區公式 + 1 個 Total Roll-up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1097280" cy="6400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 panose="020B0604030504040204" charset="-120"/>
              </a:rPr>
              <a:t>區 A</a:t>
            </a:r>
            <a:endParaRPr sz="1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9 步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54480" y="1600200"/>
            <a:ext cx="1028700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645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👷 Direct Labor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4960" y="1645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891B2"/>
                </a:solidFill>
                <a:latin typeface="Consolas" panose="020B0609020204030204"/>
              </a:rPr>
              <a:t>→ schema: DL_CPU</a:t>
            </a:r>
            <a:endParaRPr sz="900" b="0">
              <a:solidFill>
                <a:srgbClr val="0891B2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Excel ref: C58 (對應 Excel)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91640" y="194767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DL_wage × SEA × Total_DL × mult1 × mult2 / weekly_output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2377440"/>
            <a:ext cx="1097280" cy="6400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23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 panose="020B0604030504040204" charset="-120"/>
              </a:rPr>
              <a:t>區 B</a:t>
            </a:r>
            <a:endParaRPr sz="1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4 步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554480" y="2377440"/>
            <a:ext cx="1028700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423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👥 Indirect Labor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94960" y="2423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891B2"/>
                </a:solidFill>
                <a:latin typeface="Consolas" panose="020B0609020204030204"/>
              </a:rPr>
              <a:t>→ schema: IDL_CPU</a:t>
            </a:r>
            <a:endParaRPr sz="900" b="0">
              <a:solidFill>
                <a:srgbClr val="0891B2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Excel ref: Y70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91640" y="272491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Σ(role.annual × multiplier) / 50 / weekly_output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5760" y="3154680"/>
            <a:ext cx="1097280" cy="6400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004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 panose="020B0604030504040204" charset="-120"/>
              </a:rPr>
              <a:t>區 C</a:t>
            </a:r>
            <a:endParaRPr sz="1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" y="35204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6 步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554480" y="3154680"/>
            <a:ext cx="1028700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320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🏭 Equipment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94960" y="3200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891B2"/>
                </a:solidFill>
                <a:latin typeface="Consolas" panose="020B0609020204030204"/>
              </a:rPr>
              <a:t>→ schema: EQUIP_MRO + DEPR</a:t>
            </a:r>
            <a:endParaRPr sz="900" b="0">
              <a:solidFill>
                <a:srgbClr val="0891B2"/>
              </a:solidFill>
              <a:latin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320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Excel ref: H90/H91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350215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(Σ acq×5% + Σ acq/life) × line_qty × qty/line / annual_output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65760" y="3931920"/>
            <a:ext cx="1097280" cy="6400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977639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 panose="020B0604030504040204" charset="-120"/>
              </a:rPr>
              <a:t>區 D</a:t>
            </a:r>
            <a:endParaRPr sz="1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5760" y="42976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6 步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554480" y="3931920"/>
            <a:ext cx="1028700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397763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🏗️ Facility + Ind Mat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94960" y="39776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891B2"/>
                </a:solidFill>
                <a:latin typeface="Consolas" panose="020B0609020204030204"/>
              </a:rPr>
              <a:t>→ schema: FACILITY + IND_MAT</a:t>
            </a:r>
            <a:endParaRPr sz="900" b="0">
              <a:solidFill>
                <a:srgbClr val="0891B2"/>
              </a:solidFill>
              <a:latin typeface="Consolas" panose="020B0609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397763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Excel ref: J100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91640" y="42793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(sqft × $/sqft + Σ consumable_annual) / annual_output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65760" y="4709160"/>
            <a:ext cx="1097280" cy="6400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 panose="020B0604030504040204" charset="-120"/>
              </a:rPr>
              <a:t>區 E</a:t>
            </a:r>
            <a:endParaRPr sz="1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5074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4 步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554480" y="4709160"/>
            <a:ext cx="1028700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91640" y="4754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📦 Others (Common)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94960" y="47548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891B2"/>
                </a:solidFill>
                <a:latin typeface="Consolas" panose="020B0609020204030204"/>
              </a:rPr>
              <a:t>→ schema: FREIGHT + VAT + LOSS</a:t>
            </a:r>
            <a:endParaRPr sz="900" b="0">
              <a:solidFill>
                <a:srgbClr val="0891B2"/>
              </a:solidFill>
              <a:latin typeface="Consolas" panose="020B0609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29600" y="4754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Excel ref: J107 / J110 / J114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91640" y="50566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freight/demand + motherboard×vat/18 + motherboard×loss · 全廠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65760" y="5486400"/>
            <a:ext cx="1097280" cy="6400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5321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 panose="020B0604030504040204" charset="-120"/>
              </a:rPr>
              <a:t>區 F</a:t>
            </a:r>
            <a:endParaRPr sz="1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5760" y="5852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軟正黑體" panose="020B0604030504040204" charset="-120"/>
              </a:rPr>
              <a:t>4 步</a:t>
            </a:r>
            <a:endParaRPr sz="900" b="0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554480" y="5486400"/>
            <a:ext cx="10287000" cy="6400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91640" y="5532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💰 Total Roll-up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94960" y="5532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891B2"/>
                </a:solidFill>
                <a:latin typeface="Consolas" panose="020B0609020204030204"/>
              </a:rPr>
              <a:t>→ schema: TC</a:t>
            </a:r>
            <a:endParaRPr sz="900" b="0">
              <a:solidFill>
                <a:srgbClr val="0891B2"/>
              </a:solidFill>
              <a:latin typeface="Consolas" panose="020B0609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29600" y="5532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Excel ref: C125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91640" y="583387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 panose="020B0609020204030204"/>
              </a:rPr>
              <a:t>motherboard + MVA + motherboard×sga% + (MVA+motherboard)×profit%</a:t>
            </a:r>
            <a:endParaRPr sz="8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21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區 A · Direct Labor · 9 步驟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compute_dl_cost(SMT_MAIN) · 用 CN $4.95/hr · 對應 SD §7.2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EPM 點「▶ 下一步」9 次 · 系統逐步揭露中間值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16093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UPH (units / hour)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16093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Cleansheet!C14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18653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3600 / TAKT × Yield × Eff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3600 / 8.64 × 98% × 95% = 388.06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99048" y="15544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9048" y="16002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6002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01968" y="16093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Max output / line / week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08208" y="16093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Cleansheet!C21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1968" y="18653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Working hr/wk × UPH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01968" y="21031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153.41 × 388.06 = 59,531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5760" y="24688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25146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5146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25237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Demand max/wk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4920" y="2523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Cleansheet!C18-20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" y="27797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Annual / 50 × 1.2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" y="30175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418,000 / 50 × 1.2 = 10,032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99048" y="24688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99048" y="25146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25146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01968" y="25237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Lines installed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808208" y="2523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Cleansheet!C23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01968" y="27797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ROUNDUP(max / max_output_per_line)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01968" y="30175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ROUNDUP(10,032 / 59,531) = 1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65760" y="33832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34290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4290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5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68680" y="34381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Weekly output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74920" y="34381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Cleansheet!C24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8680" y="36941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max_output_per_line × lines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68680" y="39319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59,531 × 1 = 59,531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099048" y="33832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99048" y="34290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9048" y="34290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6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01968" y="34381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Total DL / day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08208" y="34381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Cleansheet!C33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01968" y="36941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(DL×lines×shifts) + (debug×debug_lines×shifts) + (functional×shifts)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01968" y="39319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(10×1×2) + (3×0×2) + (2×2) = 24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65760" y="42976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" y="43434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3434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7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68680" y="43525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Multiplier 1 + 2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74920" y="43525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C50, C51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68680" y="46085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mult1 = (Whr/2 × 6) / SEA_wk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68680" y="4846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mult1 = (23/2 × 6)/60 = 1.15  mult2 = (10×6.67)/60 = 1.112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099048" y="42976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99048" y="43434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9048" y="43434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8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01968" y="43525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DL cost / week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808208" y="43525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Cleansheet!C56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01968" y="46085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DL_wage × SEA_wk × Total_DL × mult2 × mult1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601968" y="4846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$4.95 × 60 × 24 × 1.112 × 1.15 = $9,116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365760" y="5212080"/>
            <a:ext cx="566928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65760" y="5257800"/>
            <a:ext cx="411480" cy="7498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57800"/>
            <a:ext cx="4114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 panose="020B0604030504040204" charset="-120"/>
              </a:rPr>
              <a:t>9</a:t>
            </a:r>
            <a:endParaRPr sz="16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68680" y="526694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微軟正黑體" panose="020B0604030504040204" charset="-120"/>
              </a:rPr>
              <a:t>DL cost / unit</a:t>
            </a:r>
            <a:endParaRPr sz="10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74920" y="52669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onsolas" panose="020B0609020204030204"/>
              </a:rPr>
              <a:t>Cleansheet!C58 (FINAL)</a:t>
            </a:r>
            <a:endParaRPr sz="7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68680" y="552297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 panose="020B0609020204030204"/>
              </a:rPr>
              <a:t>公式: (DL/wk + IDL_line_dep) / weekly_output</a:t>
            </a:r>
            <a:endParaRPr sz="8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68680" y="5760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($9,116 + $645) / 59,531 = $0.1640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22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區 B · Indirect Labor · 4 步驟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compute_idl_cost(SMT_MAIN) · 17 角色 SUMPRODUCT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切到 zone B → 跑 4 步 → 寫入 IDL_CPU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17 角色 × multiplier × 年薪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24160" y="1600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 rows 64-83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1874519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Σ (role.annual × multiplier(role, process))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2121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OPS_MGR $60,320 × 0.080 = $4,826  +
SEC_MGR_SMT $42,500 × 0.500 = $21,250 +
ENGINEER $24,440 × 0.300 = $7,332 + ...
(17 角色 SUMPRODUCT) = $51,234 / yr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2697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43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IDL per week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24160" y="2743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Cleansheet!Y70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" y="3017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IDL_annual / 50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3264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$51,234 / 50 = $1,025 / wk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3886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86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3886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Weekly output (從 §A.5 帶)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424160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§A Step 5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" y="4160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Whr/wk × UPH × lines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" y="4407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153.41 × 388.06 × 1 = 59,531 u/wk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5760" y="4983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" y="5029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029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7280" y="5029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IDL cost / unit (FINAL)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24160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Cleansheet!Y70/C24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97280" y="5303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IDL_per_week / weekly_output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7280" y="5550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$1,025 / 59,531 = $0.0172 / unit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23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區 C · Equipment · 6 步驟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compute_equipment_cost(SMT_MAIN) · MRO 5% + Depreciation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1362456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抽 process 名下的設備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1362456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bom_cs_case_equipment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1600200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WHERE proc = SMT_MAIN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180136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DEK + FUJI NXT + SPI + Reflow + AOI + ESD Tray + Stencil = 7 件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2167128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212848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12848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2203704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總 acquisition cost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0" y="2203704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Equipment List col P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2441448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Σ (line_qty × qty_per_line × acq_cost)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264261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DEK $84k×1×1 + FUJI $1,013k + SPI $69k + Reflow $158k + AOI $92k
+ ESD Tray $18.5×752 + Stencil $550×6 = $1,433k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5760" y="3008376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3054096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054096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" y="3044952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Annual Depreciation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0" y="3044952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Cleansheet!H91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3282696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Σ (acq / useful_life)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348386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$1,433k / 6 yrs ≈ $238,883 / yr (按各設備 life 加權)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3849624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3895344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895344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3886200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Annual MRO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58400" y="388620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Cleansheet!H90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0120" y="4123944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acq × 5% (廠 maintenance policy)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0120" y="432511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$1,433k × 5% = $71,650 / yr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65760" y="4690872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4736592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736592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5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0120" y="4727448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Annual output ratio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58400" y="4727448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Cleansheet!C20/C24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0120" y="4965192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weekly_output × 50 (從 §A.5)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0120" y="516636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59,531 × 50 = 2,976,550 u/yr (&gt;&gt;418K 因 capacity 大)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65760" y="5532120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5760" y="5577840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577840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6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0120" y="5568696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MRO + Depr / unit (FINAL)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58400" y="5568696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Cleansheet!H90+H91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0120" y="5806440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(MRO + Depr) / annual_output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0120" y="600760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($71,650 + $238,883) / 2,976,550 = $0.1043 / unit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24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區 D · Facility + Indirect Materials · 6 步驟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compute_facility_cost(SMT_MAIN) · sqft + 耗材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1362456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廠 floor $/sqft (baseline)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1362456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SupplierBaseInput!B12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1600200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baseline.floor_sqft_prod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180136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CN baseline = $14.4276 / sqft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2167128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212848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12848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2203704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Process 佔用 sqft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0" y="2203704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 rows 95-103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2441448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allocation_per_process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264261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SMT_MAIN = 800 sqft (SMT 主板貼裝佔大)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5760" y="3008376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3054096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054096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" y="3044952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Annual Facility cost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0" y="3044952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Cleansheet!J100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3282696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sqft × $/sqft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348386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800 × $14.4276 = $11,542 / yr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3849624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3895344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895344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3886200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Annual Indirect Materials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58400" y="388620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Consumables sheet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0120" y="4123944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Σ (consumable.annual_qty × unit_cost) WHERE proc = SMT_MAIN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0120" y="432511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錫膏 $14,560 + 清潔劑 $722 = $15,282 / yr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65760" y="4690872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4736592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736592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5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0120" y="4727448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Annual output (從 §A.5)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58400" y="4727448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Cleansheet!C24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0120" y="4965192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weekly_output × 50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0120" y="516636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59,531 × 50 = 2,976,550 u/yr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65760" y="5532120"/>
            <a:ext cx="11475720" cy="758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5760" y="5577840"/>
            <a:ext cx="502920" cy="66751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577840"/>
            <a:ext cx="50292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6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0120" y="5568696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微軟正黑體" panose="020B0604030504040204" charset="-120"/>
              </a:rPr>
              <a:t>Facility + IM / unit (FINAL)</a:t>
            </a:r>
            <a:endParaRPr sz="11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58400" y="5568696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Cleansheet!J100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0120" y="5806440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onsolas" panose="020B0609020204030204"/>
              </a:rPr>
              <a:t>公式: (facility + ind_mat) / annual_output</a:t>
            </a:r>
            <a:endParaRPr sz="85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0120" y="600760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3AED"/>
                </a:solidFill>
                <a:latin typeface="Consolas" panose="020B0609020204030204"/>
              </a:rPr>
              <a:t>↳ ($11,542 + $15,282) / 2,976,550 = $0.0090 / unit</a:t>
            </a:r>
            <a:endParaRPr sz="85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25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區 E · Others (Common) · 4 步驟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compute_others_cost · Freight + VAT + Loss · 全廠通用,不分製程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Inbound Freight / unit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1600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Cleansheet!J107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874519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inbound_freight_annual / annual_demand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2121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$2,500 / 418,000 = $0.00598 / unit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2697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743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2743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VAT / unit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424160" y="2743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Cleansheet!J114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motherboard × VAT_rate / 18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" y="3264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$8.683 × 17% / 18 = $0.082 / unit  (CN 17% VAT)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5760" y="3840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3886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86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3886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Loss factor / unit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24160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Cleansheet!J110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280" y="4160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motherboard × loss_factor_pct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" y="4407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$8.683 × 0.08% = $0.00695 / unit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4983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5029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029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" y="5029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Others Total (FINAL)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424160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Cleansheet!Common 欄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5303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Freight + VAT + Loss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97280" y="5550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$0.00598 + $0.082 + $0.00695 = $0.09493 / unit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26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區 F · Total Roll-up · 4 步驟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compute_total · MVA + SGA + Profit → TC · 全廠通用 · 對應 C125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MVA Σ (9 製程 × 9 component)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1600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Cleansheet!C118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874519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Σ cs_run_cell.cost_per_unit_usd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2121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9×9 matrix SUM = $1.8558 / unit (CN 案 baseline)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2697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743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2743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SG&amp;A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424160" y="2743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Cleansheet!J121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motherboard × baseline.sga_pct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" y="3264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$8.683 × 2.0% = $0.1737 / unit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5760" y="3840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3886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86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3886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Profit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24160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Cleansheet!J121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280" y="4160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(MVA + motherboard) × baseline.profit_pct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" y="4407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($1.8558 + $8.683) × 14.0% = $1.4754 / unit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4983480"/>
            <a:ext cx="114757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5029200"/>
            <a:ext cx="594360" cy="9601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029200"/>
            <a:ext cx="594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2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" y="5029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Total Cost / unit (TC) FINAL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424160" y="5029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Cleansheet!C125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530352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 panose="020B0609020204030204"/>
              </a:rPr>
              <a:t>公式: Material + MVA + SGA + Profit</a:t>
            </a:r>
            <a:endParaRPr sz="900" b="0">
              <a:solidFill>
                <a:srgbClr val="6B7280"/>
              </a:solidFill>
              <a:latin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97280" y="5550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Consolas" panose="020B0609020204030204"/>
              </a:rPr>
              <a:t>↳ $8.683 + $1.8558 + $0.1737 + $1.4754 = $12.1879 / unit</a:t>
            </a:r>
            <a:endParaRPr sz="900" b="0">
              <a:solidFill>
                <a:srgbClr val="7C3AED"/>
              </a:solidFill>
              <a:latin typeface="Consolas" panose="020B0609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27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Compute Trace · UI 操作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zone tabs 切換 + ▶ 下一步 動畫 + 底部全 5 區 final 並列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🎯 完整操作流程 demo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4800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2471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 panose="020B0609020204030204"/>
              </a:rPr>
              <a:t>┌─ ⚙️ Step 5 · Compute Trace — 5 區公式 (SMT 主板貼裝) ───────────────────────┐
│                                                                              │
│  ┌──────────────────── zone tabs(6 區並列) ─────────────────────────────┐  │
│  │ [👷 區 A · DL 9 步●] [👥 區 B · IDL 4] [🏭 區 C · Equip 6] ...        │  │
│  │ [🏗️ 區 D · Fac 6]   [📦 區 E · Others 4] [💰 區 F · Total 4]          │  │
│  └─────────────────────────────────────────────────────────────────────────┘ │
│                                                                              │
│  ┌─ ▶ 區 A · A. Direct Labor ─────────────────────────────────────────────┐ │
│  │ 公式:DL_wage × SEA × Total_DL × mult1 × mult2 / weekly_output  3/9 步 │ │
│  │            [⟲ Reset]  [▶ 下一步]  [⏭ 全部跑完]                          │ │
│  └─────────────────────────────────────────────────────────────────────────┘ │
│                                                                              │
│  ┌─ 步驟逐步揭露區(紅底) ────────────────────────────────────────────────┐ │
│  │ ① UPH         3600/8.64×98%×95% = 388.06                              │ │
│  │ ② Max output  153.41 × 388.06 = 59,531        ← 已揭露                │ │
│  │ ③ Demand      418k/50×1.2 = 10,032            ← 已揭露(current)      │ │
│  │ ④ Lines       (尚未揭露,淡灰)                                          │ │
│  │ ⑤-⑨...        (尚未揭露)                                                │ │
│  └─────────────────────────────────────────────────────────────────────────┘ │
│                                                                              │
│  📊 5 區公式狀態(全廠)                                                    │
│  ┌── 區 A ── 區 B ── 區 C ── 區 D ── 區 E ── 區 F ──┐                     │
│  │ $0.164  $0.017  $0.104  $0.009  $0.095  $12.188 │  ← 跑完每區同步     │
│  └──────────────────────────────────────────────────┘                     │
└──────────────────────────────────────────────────────────────────────────────┘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sz="8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28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Compute · 寫入 DB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bom_cs_run + bom_cs_run_cell · 一案多 run · 一 run 多 cell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🗄️ bom_cs_run(snapshot 主表)+ bom_cs_run_cell(matrix 細胞)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 panose="020B0609020204030204"/>
              </a:rPr>
              <a:t>-- (1) Run snapshot · 一案一廠多 run(可多版本 reprice)
CREATE TABLE bom_cs_run (
  run_id                  NUMBER GENERATED ALWAYS AS IDENTITY PRIMARY KEY,
  case_factory_id         NUMBER REFERENCES bom_cs_case_factory(case_factory_id) ON DELETE CASCADE,
  run_label               VARCHAR2(80),                  -- 'v1' / '客戶議價 #2'
  status                  VARCHAR2(20) DEFAULT 'computing', -- computing/ready/archived/failed
  compute_engine          VARCHAR2(20) DEFAULT 'db_v1',
  computed_at             TIMESTAMP,
  computed_by             NUMBER REFERENCES users(id),
  motherboard_cost_usd    NUMBER(15,6),                  -- from BOM main board
  errors_json             CLOB,
  warnings_json           CLOB,
  raw_inputs_json         CLOB,                          -- 整份 input snapshot 備查
  created_at              TIMESTAMP DEFAULT SYSTIMESTAMP
);
-- (2) cs_run_cell · 9 製程 × 9 component matrix · 多 qty_scenario 寫多份
CREATE TABLE bom_cs_run_cell (
  run_id                  NUMBER REFERENCES bom_cs_run(run_id) ON DELETE CASCADE,
  qty_scenario_code       VARCHAR2(40) DEFAULT 'BASELINE',
  process_code            VARCHAR2(40),                  -- 'SMT_MAIN' / 'COMMON'
  component_code          VARCHAR2(40),                  -- 'DL_CPU' / 'IDL_CPU' / 'EQUIP_MRO' / ...
  cost_per_unit_usd       NUMBER(15,6),                  -- 每格的 $ / unit
  formula_text            VARCHAR2(500),                 -- '(C56+C55)/C24'
  source_cell_ref         VARCHAR2(80),                  -- 'Cleansheet!C58'
  intermediate_json       CLOB,                          -- 步驟 1-9 中間值備查
  PRIMARY KEY (run_id, qty_scenario_code, process_code, component_code)
);
-- Step 5 寫入範例(區 A SMT_MAIN DL):
INSERT INTO bom_cs_run_cell VALUES (
  run_id=1, qty_scenario_code='HIGH', process_code='SMT_MAIN',
  component_code='DL_CPU', cost_per_unit_usd=0.1640,
  formula_text='(DL_wk + IDL_line_dep_wk) / weekly_output',
  source_cell_ref='Cleansheet!C58',
  intermediate_json='{"uph":388.06,"max_output":59531,"lines":1,"dl_wk":9116,"idl_line_dep":645}'
);</a:t>
            </a:r>
            <a:endParaRPr sz="80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29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6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結果矩陣 · 9×9 view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對應 Excel Price Summary table · 一眼看 MVA 構成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📊 Step 6 panel · 9 cost component × 9 process matrix · MVA 整體拆解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24712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74755"/>
                </a:solidFill>
                <a:latin typeface="Consolas" panose="020B0609020204030204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┌────────────────────────────────────────────────────────────────────────────────────┐
│ Cost Component × Process Matrix · 9 × 9 · MATRIX                                  │
├────────────────────────────────────────────────────────────────────────────────────┤
│ Cost Component         SMT    Wave   Router Laser  BB-Assy BB-Test Mat   Q-SMT Q-BB COMMON │
│ ───────────────────────────────────────────────────────────────────────────────── │
│ DL_CPU                0.164  0.349  0.082  0.025  0.362  0.131  0.082  0.020 0.029 —     │
│ IDL_CPU               0.017  0.005  0.003  0.002  0.028  0.012  0.006  0.001 0.002 —     │
│ EQUIP_MRO             0.005  0.001  0.001  0.001  0.005  0.001  0.001  0.001 0.001 —     │
│ EQUIP_DEPR            0.099  0.025  0.009  0.012  0.005  0.005  0.001  0.001 0.001 —     │
│ IND_MAT               0.363  0.082  0.006  0.002  0.018  0.001  0.020  0.002 —     —     │
│ FACILITY              0.008  0.003  0.001  0.001  0.027  0.011  0.039  0.005 0.008 —     │
│ FREIGHT (Common only) —      —      —      —      —      —      —      —     —     0.006 │
│ VAT (Common only)     —      —      —      —      —      —      —      —     —     0.000 │
│ LOSS (Common only)    —      —      —      —      —      —      —      —     —     0.007 │
│ ───────────────────────────────────────────────────────────────────────────────── │
│ MVA Subtotal          0.656  0.465  0.102  0.043  0.445  0.161  0.149  0.030 0.041 0.013 │ → $1.8558 (Total)
└────────────────────────────────────────────────────────────────────────────────────┘
📊 Total MVA = $1.8558 / unit  ✓ 對齊 Excel Price Summary (ε &lt; 0.01)</a:t>
            </a:r>
            <a:endParaRPr sz="7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5623560"/>
            <a:ext cx="11475720" cy="73152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💡 判讀技巧:
  • SMT 列 IND_MAT = $0.363 最大 → 錫膏耗材成本高 · 可砍?
  • BB-Assy DL_CPU = $0.362 最大 → 人工密集 · 可自動化?
  • Common 欄(VAT 0.000)只在 Common only 行有值 · 不分製程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30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6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結果 · SMT / Assy roll-up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兩大群組 MVA 分布 · 哪邊吃 cost 大?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📊 MVA $1.8558 = SMT $1.279 (68.9%) + Assy + Common $0.577 (31.1%)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4572000"/>
          </a:xfrm>
          <a:prstGeom prst="roundRect">
            <a:avLst>
              <a:gd name="adj" fmla="val 3000"/>
            </a:avLst>
          </a:prstGeom>
          <a:solidFill>
            <a:srgbClr val="EEF2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5669280" cy="411480"/>
          </a:xfrm>
          <a:prstGeom prst="roundRect">
            <a:avLst>
              <a:gd name="adj" fmla="val 3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 panose="020B0604030504040204" charset="-120"/>
              </a:rPr>
              <a:t>📦 SMT-side MVA  $1.2791  ·  68.9% of MVA</a:t>
            </a:r>
            <a:endParaRPr sz="13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949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 panose="020B0609020204030204"/>
              </a:rPr>
              <a:t>SMT_MAIN          $0.656 · 35.4%  ███████████████████
WAVE_SOLDER       $0.465 · 25.0%  █████████████
ROUTER_OFFLINE    $0.102 ·  5.5%  ███
LASER_ETCH        $0.043 ·  2.3%  █
Q_SMT             $0.013 ·  0.7%
→ SMT_MAIN + WAVE_SOLDER = 60.4% (重押)
→ ROUTER + LASER + Q-SMT = 8.5% (相對輕)
→ EPM 改善焦點:SMT 主板貼裝 IND_MAT $0.363
   (錫膏耗材成本最大 · 可議錫膏單價或換 SAC)</a:t>
            </a:r>
            <a:endParaRPr sz="9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623560" cy="4572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623560" cy="41148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 panose="020B0604030504040204" charset="-120"/>
              </a:rPr>
              <a:t>🔧 Assy + Common MVA  $0.5767  ·  31.1% of MVA</a:t>
            </a:r>
            <a:endParaRPr sz="13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53492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 panose="020B0609020204030204"/>
              </a:rPr>
              <a:t>BB_ASSY           $0.445 · 24.0%  ████████████
BB_TEST           $0.161 ·  8.7%  █████
MAT_MGMT          $0.149 ·  8.0%  ████
Q_BB              $0.041 ·  2.2%  █
COMMON            $0.013 ·  0.7%   (Freight + VAT + Loss)
→ BB_ASSY 一支獨秀 24% · 主因 DL_CPU $0.362
   (BB Assy 22 DL/shift × 1 shift = 22 人/日)
→ EPM 改善焦點:
   ✓ 自動鎖螺絲機 → 砍 5-10 DL
   ✓ AGV / Conveyor → 砍 Material Mgmt
   ✓ 客戶 buy-in:壓減 Test 站數
→ BB Test 8.7% 不算高(其實 standalone test 不貴)</a:t>
            </a:r>
            <a:endParaRPr sz="950" b="0">
              <a:solidFill>
                <a:srgbClr val="374755"/>
              </a:solidFill>
              <a:latin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31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6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結果 · Total Cost waterfall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Material + MVA + SGA + Profit → TC · per unit · CN baseline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💰 Total Cost per Unit (Ex-Factory · 計算明細)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微軟正黑體" panose="020B0604030504040204" charset="-120"/>
              </a:rPr>
              <a:t>Motherboard Material (from BOM)</a:t>
            </a:r>
            <a:endParaRPr sz="12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0B1F3A"/>
                </a:solidFill>
                <a:latin typeface="Consolas" panose="020B0609020204030204"/>
              </a:rPr>
              <a:t>$8.6830</a:t>
            </a:r>
            <a:endParaRPr sz="13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0" y="1737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 panose="020B0604030504040204" charset="-120"/>
              </a:rPr>
              <a:t>✓ Material 從 BOM 採購策略總和帶入</a:t>
            </a:r>
            <a:endParaRPr sz="10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3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微軟正黑體" panose="020B0604030504040204" charset="-120"/>
              </a:rPr>
              <a:t>+ MVA (9 製程合計)</a:t>
            </a:r>
            <a:endParaRPr sz="12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3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02C39A"/>
                </a:solidFill>
                <a:latin typeface="Consolas" panose="020B0609020204030204"/>
              </a:rPr>
              <a:t>$1.8558</a:t>
            </a:r>
            <a:endParaRPr sz="1300" b="1">
              <a:solidFill>
                <a:srgbClr val="02C39A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0" y="2377439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 panose="020B0604030504040204" charset="-120"/>
              </a:rPr>
              <a:t>✓ 從 Step 5 區 A-E 寫入 cs_run_cell · Σ</a:t>
            </a:r>
            <a:endParaRPr sz="10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微軟正黑體" panose="020B0604030504040204" charset="-120"/>
              </a:rPr>
              <a:t>+ SG&amp;A (2.0% × motherboard)</a:t>
            </a:r>
            <a:endParaRPr sz="12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0" y="3017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0B1F3A"/>
                </a:solidFill>
                <a:latin typeface="Consolas" panose="020B0609020204030204"/>
              </a:rPr>
              <a:t>$0.1737</a:t>
            </a:r>
            <a:endParaRPr sz="13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 panose="020B0604030504040204" charset="-120"/>
              </a:rPr>
              <a:t>✓ 從 baseline.sga_pct</a:t>
            </a:r>
            <a:endParaRPr sz="10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365759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微軟正黑體" panose="020B0604030504040204" charset="-120"/>
              </a:rPr>
              <a:t>+ Profit (14.0% × (MVA+motherboard))</a:t>
            </a:r>
            <a:endParaRPr sz="12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0" y="365759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0B1F3A"/>
                </a:solidFill>
                <a:latin typeface="Consolas" panose="020B0609020204030204"/>
              </a:rPr>
              <a:t>$1.4754</a:t>
            </a:r>
            <a:endParaRPr sz="1300" b="1">
              <a:solidFill>
                <a:srgbClr val="0B1F3A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3657599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 panose="020B0604030504040204" charset="-120"/>
              </a:rPr>
              <a:t>✓ 從 baseline.profit_pct</a:t>
            </a:r>
            <a:endParaRPr sz="10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4251959"/>
            <a:ext cx="11201400" cy="640080"/>
          </a:xfrm>
          <a:prstGeom prst="rect">
            <a:avLst/>
          </a:prstGeom>
          <a:solidFill>
            <a:srgbClr val="CFF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97679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2C39A"/>
                </a:solidFill>
                <a:latin typeface="微軟正黑體" panose="020B0604030504040204" charset="-120"/>
              </a:rPr>
              <a:t>═══ Transformation Cost (TC) ═══</a:t>
            </a:r>
            <a:endParaRPr sz="1400" b="1">
              <a:solidFill>
                <a:srgbClr val="02C39A"/>
              </a:solidFill>
              <a:latin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0" y="4297679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02C39A"/>
                </a:solidFill>
                <a:latin typeface="Consolas" panose="020B0609020204030204"/>
              </a:rPr>
              <a:t>$12.1879</a:t>
            </a:r>
            <a:endParaRPr sz="1600" b="1">
              <a:solidFill>
                <a:srgbClr val="02C39A"/>
              </a:solidFill>
              <a:latin typeface="Consolas" panose="020B0609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5760" y="5349240"/>
            <a:ext cx="11475720" cy="10058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63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13248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💡 注意:
  • TC ≠ 客戶報價(報價 = TC × markup% by mfg + tier · v0.7 雙價結構)
  • 改 Qty scenario(High → Low):lines util 下降 → MVA × 1.41 → TC 跳 $13.5(看 §factory_matrix)
  • CN $12.19 vs VN $11.76(wage 便宜)vs TW $13.91(自動化高但 labor 貴)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32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6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微軟正黑體" panose="020B0604030504040204" charset="-120"/>
              </a:rPr>
              <a:t>結果 · Lock &amp; Propagate</a:t>
            </a:r>
            <a:endParaRPr sz="2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軟正黑體" panose="020B0604030504040204" charset="-120"/>
              </a:rPr>
              <a:t>滿意 → DPM Lock → 寫 cs_run_result fact table · 進 §factory_matrix</a:t>
            </a:r>
            <a:endParaRPr sz="11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微軟正黑體" panose="020B0604030504040204" charset="-120"/>
              </a:rPr>
              <a:t>🔒 DPM 滿意計算結果 → 按「🔒 Lock」進報價階段</a:t>
            </a:r>
            <a:endParaRPr sz="12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105156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685800" cy="9601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685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2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微軟正黑體" panose="020B0604030504040204" charset="-120"/>
              </a:rPr>
              <a:t>🔍 DPM review §Cleansheet 結果</a:t>
            </a:r>
            <a:endParaRPr sz="13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2011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看 9×9 matrix · SMT/Assy roll-up · TC waterfall · 對齊預期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2697480"/>
            <a:ext cx="11475720" cy="105156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743200"/>
            <a:ext cx="685800" cy="9601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685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2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2788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微軟正黑體" panose="020B0604030504040204" charset="-120"/>
              </a:rPr>
              <a:t>🔒 DPM 按 Step 6 區頂部「Lock」按鈕</a:t>
            </a:r>
            <a:endParaRPr sz="13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720" y="3154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cs_run.status = ready → 開 BOM lock 預檢查(料齊 / cs_run 齊 / 雙價齊)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5760" y="3840480"/>
            <a:ext cx="11475720" cy="105156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3886200"/>
            <a:ext cx="685800" cy="9601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86200"/>
            <a:ext cx="685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2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8720" y="3931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微軟正黑體" panose="020B0604030504040204" charset="-120"/>
              </a:rPr>
              <a:t>⚡ 系統自動 propagate</a:t>
            </a:r>
            <a:endParaRPr sz="13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20" y="4297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寫 cs_run_result × 24 列(3 factor × 2 variant × 2 qty × 2 pkg)
Material × MVA × SGA × Profit 全部寫入 fact table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" y="4983480"/>
            <a:ext cx="11475720" cy="105156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5029200"/>
            <a:ext cx="685800" cy="9601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029200"/>
            <a:ext cx="685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24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8720" y="5074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微軟正黑體" panose="020B0604030504040204" charset="-120"/>
              </a:rPr>
              <a:t>📈 進 §factory_matrix 看 24 cells pivot</a:t>
            </a:r>
            <a:endParaRPr sz="13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8720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BPM / 採購主管 / finance 切 qty/pkg/variant toggle 看 6 cells 主表
Margin Analysis heatmap 顯示 Top Markup Items / per PKG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33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微軟正黑體" panose="020B0604030504040204" charset="-120"/>
              </a:rPr>
              <a:t>速查 Checklist — 6 Step 一頁帶走</a:t>
            </a:r>
            <a:endParaRPr sz="24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軟正黑體" panose="020B0604030504040204" charset="-120"/>
              </a:rPr>
              <a:t>備忘:跑完一個案的 §Cleansheet 全流程 · 6 Step × 細項</a:t>
            </a:r>
            <a:endParaRPr sz="12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3749039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3749039" cy="384048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1 · 製程輸入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9 製程 tab 依序進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6 群組(Staffed/Throughput/Volume/DL/IDL/SEA)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改 takt/yield 即時看 DL 動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機密欄 (DL/IDL config) 確認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749039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749039" cy="384048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716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2 · IDL Matrix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17 角色 × 9 製程 multiplier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4840" y="22402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從 Excel J64-Z83 seed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2651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Row Σ 檢查 ≤ 1.0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34840" y="30632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Col Σ 檢查跨製程合理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749039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325880"/>
            <a:ext cx="3749039" cy="384048"/>
          </a:xfrm>
          <a:prstGeom prst="roundRect">
            <a:avLst>
              <a:gd name="adj" fmla="val 3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3716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3 · 設備 binding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廠 master view 看 58 件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案級 view 挑 28 件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21040" y="2651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line_qty / qty_per_line 填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40" y="30632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shared 設備(&lt;1)記得標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65760" y="3794760"/>
            <a:ext cx="3749039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794760"/>
            <a:ext cx="3749039" cy="384048"/>
          </a:xfrm>
          <a:prstGeom prst="roundRect">
            <a:avLst>
              <a:gd name="adj" fmla="val 3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4048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4 · 耗材 binding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17 件耗材 annual_qty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unit_cost override (議價時)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年總成本 Σ 合理性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5532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proc 分類正確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251960" y="3794760"/>
            <a:ext cx="3749039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51960" y="3794760"/>
            <a:ext cx="3749039" cy="38404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84048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5 · Compute Trace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34840" y="4297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區 A DL 9 步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34840" y="4709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區 B IDL 4 步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34840" y="5120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區 C Equip 6 步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34840" y="5532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區 D Fac 6 步 / E Others 4 / F Total 4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38160" y="3794760"/>
            <a:ext cx="3749039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8160" y="3794760"/>
            <a:ext cx="3749039" cy="384048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384048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軟正黑體" panose="020B0604030504040204" charset="-120"/>
              </a:rPr>
              <a:t>Step 6 · 結果 + Lock</a:t>
            </a:r>
            <a:endParaRPr sz="12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21040" y="4297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9×9 matrix 對齊預期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21040" y="4709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SMT/Assy roll-up % 合理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21040" y="5120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TC waterfall 看 Total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21040" y="5532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微軟正黑體" panose="020B0604030504040204" charset="-120"/>
              </a:rPr>
              <a:t>☐ DPM Lock + Propagate</a:t>
            </a:r>
            <a:endParaRPr sz="10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34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微軟正黑體" panose="020B0604030504040204" charset="-120"/>
              </a:rPr>
              <a:t>常見問題 · 注意事項</a:t>
            </a:r>
            <a:endParaRPr sz="240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軟正黑體" panose="020B0604030504040204" charset="-120"/>
              </a:rPr>
              <a:t>EPM / DPM 操作 §Cleansheet 時的雷區</a:t>
            </a:r>
            <a:endParaRPr sz="120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411480" cy="150876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41148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1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微軟正黑體" panose="020B0604030504040204" charset="-120"/>
              </a:rPr>
              <a:t>🚨 改了 Step 1 製程輸入,矩陣不動?</a:t>
            </a:r>
            <a:endParaRPr sz="105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Step 1 可即時 preview DL_CPU 變化,但 Step 6 矩陣其他 component(IDL/Equip/Fac/Others)不會即時動 · 需要按 Step 5 「Compute」按鈕重跑各區公式才會完全 sync · 否則只有 DL_CPU 即時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9048" y="13258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9048" y="1371600"/>
            <a:ext cx="411480" cy="150876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1371600"/>
            <a:ext cx="41148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2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01968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微軟正黑體" panose="020B0604030504040204" charset="-120"/>
              </a:rPr>
              <a:t>⚠️ Row Σ &gt; 1.0 在 IDL Matrix?</a:t>
            </a:r>
            <a:endParaRPr sz="105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1737360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OPS_MGR 總和 0.523 &lt; 1.0 → 合理 · 若某角色 Row Σ &gt; 1.0 = 該角色超時 · 公司沒這人 · 改 multiplier 或 split 角色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301752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063239"/>
            <a:ext cx="411480" cy="150876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63239"/>
            <a:ext cx="41148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3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06323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微軟正黑體" panose="020B0604030504040204" charset="-120"/>
              </a:rPr>
              <a:t>⚠️ 設備 acq cost 跨案重複計算?</a:t>
            </a:r>
            <a:endParaRPr sz="105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DEK 1 台跨多案共用 → 各案 line_qty 加總應 = 1.0 · 系統不會幫你檢查 · DPM 跨案查 utilization 看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99048" y="301752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99048" y="3063239"/>
            <a:ext cx="411480" cy="150876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3063239"/>
            <a:ext cx="41148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4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01968" y="306323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微軟正黑體" panose="020B0604030504040204" charset="-120"/>
              </a:rPr>
              <a:t>⚠️ qty scenario LOW MVA 變高 +40%?</a:t>
            </a:r>
            <a:endParaRPr sz="105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01968" y="3429000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正常 · 低量 → lines util ↓ → DL fixed cost 攤少量 → /unit 高 · v0.7 已 demo · 業務報低量單時要警告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65760" y="470916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4754880"/>
            <a:ext cx="411480" cy="150876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54880"/>
            <a:ext cx="41148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5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微軟正黑體" panose="020B0604030504040204" charset="-120"/>
              </a:rPr>
              <a:t>🚨 Step 5 區 A-D 看到負值 / 0?</a:t>
            </a:r>
            <a:endParaRPr sz="105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5120640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csComputeXxxSteps 用 case_process 輸入 · 若 takt = 0 或 yield = 0 會 division by zero · UI 應 validate · 沒 validate 就會 NaN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099048" y="470916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99048" y="4754880"/>
            <a:ext cx="411480" cy="150876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8" y="4754880"/>
            <a:ext cx="41148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 panose="020B0604030504040204" charset="-120"/>
              </a:rPr>
              <a:t>6</a:t>
            </a:r>
            <a:endParaRPr sz="1800" b="1">
              <a:solidFill>
                <a:srgbClr val="FFFFFF"/>
              </a:solidFill>
              <a:latin typeface="微軟正黑體" panose="020B060403050404020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01968" y="47548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微軟正黑體" panose="020B0604030504040204" charset="-120"/>
              </a:rPr>
              <a:t>⚠️ Compute 完跑 regression test fail?</a:t>
            </a:r>
            <a:endParaRPr sz="1050" b="1">
              <a:solidFill>
                <a:srgbClr val="0B1F3A"/>
              </a:solidFill>
              <a:latin typeface="微軟正黑體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01968" y="5120640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微軟正黑體" panose="020B0604030504040204" charset="-120"/>
              </a:rPr>
              <a:t>cs_run.status=failed · warnings_json 記每 cell vs Excel 差距 · ε &gt; 0.01 表示某公式抄錯 · EPM 要回去 trace 哪個 component 不對</a:t>
            </a:r>
            <a:endParaRPr sz="900" b="0">
              <a:solidFill>
                <a:srgbClr val="374755"/>
              </a:solidFill>
              <a:latin typeface="微軟正黑體" panose="020B060403050404020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Cortex MVA 操作手冊 v2 · 對齊 Cortex_互動Demo_v0.10.html §Cleansheet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微軟正黑體" panose="020B0604030504040204" charset="-120"/>
              </a:rPr>
              <a:t>35 / 36</a:t>
            </a:r>
            <a:endParaRPr sz="850" b="0">
              <a:solidFill>
                <a:srgbClr val="6B7280"/>
              </a:solidFill>
              <a:latin typeface="微軟正黑體" panose="020B060403050404020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45066</Words>
  <Application>WPS Presentation</Application>
  <PresentationFormat>On-screen Show (4:3)</PresentationFormat>
  <Paragraphs>1376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新細明體</vt:lpstr>
      <vt:lpstr>Wingdings</vt:lpstr>
      <vt:lpstr>Arial</vt:lpstr>
      <vt:lpstr>微軟正黑體</vt:lpstr>
      <vt:lpstr>Consolas</vt:lpstr>
      <vt:lpstr>Calibri</vt:lpstr>
      <vt:lpstr>SimSun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rich_lai</cp:lastModifiedBy>
  <cp:revision>2</cp:revision>
  <dcterms:created xsi:type="dcterms:W3CDTF">2013-01-27T09:14:00Z</dcterms:created>
  <dcterms:modified xsi:type="dcterms:W3CDTF">2026-06-17T06:19:50Z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C407740AC2CF48F5BB02C6C5B34D4E89</vt:lpwstr>
  </property>
  <property fmtid="{D5CDD505-2E9C-101B-9397-08002B2CF9AE}" pid="3" name="KSOProductBuildVer">
    <vt:lpwstr>1028-11.8.2.11649</vt:lpwstr>
  </property>
</Properties>
</file>