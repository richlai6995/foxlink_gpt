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2C39A"/>
                </a:solidFill>
                <a:latin typeface="Microsoft JhengHei"/>
              </a:rPr>
              <a:t>FOXLINK GPT · Cortex BOM 模組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Cortex MVA 操作流程說明手冊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JhengHei"/>
              </a:rPr>
              <a:t>Cleansheet × Manufacturing Value Add — 細部操作指南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🖱️  SteelSeries Rival 3+ Wired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JhengHei"/>
              </a:rPr>
              <a:t>MOUSE_STD 模板 · 1-BOM · 9 製程
3 廠 × 2 variant × 2 qty × 2 pkg = 24 result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⌚  WHOOP Gen4 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2519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9D5FF"/>
                </a:solidFill>
                <a:latin typeface="Microsoft JhengHei"/>
              </a:rPr>
              <a:t>WHOOP_WEARABLE · 8 sub-BOM · FATP 7 stations
5 PKG SKU × 8 module 矩陣 = 40 點配置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2C39A"/>
                </a:solidFill>
                <a:latin typeface="Microsoft JhengHei"/>
              </a:rPr>
              <a:t>Phase A → G · 33 操作步驟 · 兩案差異對照 · 內部討論用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v1 · 2026-06 · 對應 cleansheet-mva-sd v0.3 + bom-collection-sd v0.4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本手冊涵蓋什麼?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7 個 Phase · 33 步驟 · 兩案視角整合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26464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Phase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公司 / 廠級一次性建置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👥 IT + Admin EPM(per 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⏱️ 初始 · 一次性 · ~2 週/廠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Microsoft JhengHei"/>
              </a:rPr>
              <a:t>📋 6 素材 · 🎯 8 步驟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26464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Phase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7451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月度 Baseline 維護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40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👥 各廠 EPM + admin 簽核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14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⏱️ 每月底 · ~1 天/廠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8346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Microsoft JhengHei"/>
              </a:rPr>
              <a:t>📋 3 素材 · 🎯 7 步驟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426464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Phase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87451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新案開立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40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👥 BPM + 三廠 EPM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14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⏱️ 案啟動 · 1 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8346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Microsoft JhengHei"/>
              </a:rPr>
              <a:t>📋 5 素材 · 🎯 6 步驟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37160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98280" y="137160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426464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Phase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87451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案級配置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240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👥 各廠 EPM(自家廠)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514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⏱️ 案級填單 · 3-5 天 / 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8346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891B2"/>
                </a:solidFill>
                <a:latin typeface="Microsoft JhengHei"/>
              </a:rPr>
              <a:t>📋 6 素材 · 🎯 6 步驟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365760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712463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Phase 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計算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526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👥 EPM 觸發 · 系統執行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⏱️ 配置完按鈕 · 30 秒 / case_factory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1206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Microsoft JhengHei"/>
              </a:rPr>
              <a:t>📋 4 素材 · 🎯 10 步驟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365760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337560" y="365760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3712463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Phase 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BOM Lock Propagate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526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👥 DPM(觸發)+ 系統(自動)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800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⏱️ DPM gate · 5 分鐘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1206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Microsoft JhengHei"/>
              </a:rPr>
              <a:t>📋 5 素材 · 🎯 9 步驟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3657600"/>
            <a:ext cx="27432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17920" y="365760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712463"/>
            <a:ext cx="24688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Phase 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報價 + Margin 分析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45262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👥 業務 + BPM + 採購主管 + finance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800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icrosoft JhengHei"/>
              </a:rPr>
              <a:t>⏱️ 業務 Gate · 4 小時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51206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333EA"/>
                </a:solidFill>
                <a:latin typeface="Microsoft JhengHei"/>
              </a:rPr>
              <a:t>📋 4 素材 · 🎯 6 步驟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 / 37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MVA 是什麼?為什麼要做?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spec cleansheet-mva-sd §0 · §1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84632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C7293"/>
                </a:solidFill>
                <a:latin typeface="Microsoft JhengHei"/>
              </a:rPr>
              <a:t>💡 MVA = Manufacturing Value 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74755"/>
                </a:solidFill>
                <a:latin typeface="Microsoft JhengHei"/>
              </a:rPr>
              <a:t>製造轉換成本(廠端把料變成品的所有費用)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51206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TC = Material + MVA + SG&amp;A +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MVA = DL + IDL + Equipment(MRO+Depr) + Indirect Mat
        + Facility + Inbound Freight + VAT + Loss
        ━━━━━━━━━━━━━━━━━━━━━━━━━━
        9 個 cost component × N 個製程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🎯 分工: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• Material → BOM 端算(per variant · 跨廠共用採購)
• MVA → Cleansheet 端算(per factory · 跨色共用)
• SG&amp;A + Profit → 廠 baseline(集團政策可統一)
• Total → §factory_matrix UI 整合呈現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486400" cy="48463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Microsoft JhengHei"/>
              </a:rPr>
              <a:t>🔥 EPM Excel 現況的 5 個痛點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0116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檔案分散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0428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每案每廠 EPM 各自一份 xlsx · 公司無 master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7889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7889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人走人重做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8152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計算引擎 1500 行 Excel 公式 · 新 EPM 看不懂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5661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61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月度更新漏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85876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wage/設備異動 → 各 EPM 手動同步 · 常漏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3434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434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3434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跨案無比對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63600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同款 DEK 跨案 utilization 無法查詢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51206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1206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1206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改料人工 propagate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4132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BOM 變動 → Cleansheet 不自動更新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 / 37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兩個案子的差異 (Why both?)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本手冊整合 SteelSeries (MOUSE_STD) 與 WHOOP (WEARABLE) 兩種模板視角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577840" cy="484632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🖱️  SteelSeries Rival 3+ Wired Mouse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產品類別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9202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Wired Mouse · 消費電子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4086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process_template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4086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MOUSE_STD(9 製程)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61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BOM 結構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614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1-BOM(單層 EE/ME merge)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8211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Sub-BOM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18211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無(單一主板組裝)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02736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變體 (variants)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60273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black / white(2 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PKG 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0233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商包(16 item) · 工包(3 item)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4398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Qty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44398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Low=100K(US) · High=418K(global)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646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result cells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8646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3 廠 × 2 variant × 2 qty × 2 pkg =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8523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CN baseline MVA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528523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$1.86 / 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05856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369A1"/>
                </a:solidFill>
                <a:latin typeface="Microsoft JhengHei"/>
              </a:rPr>
              <a:t>採購來源 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70585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Rival 3+ Wired Mouse Cleansheet_China-20241011-19S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280160"/>
            <a:ext cx="5486400" cy="484632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</a:rPr>
              <a:t>⌚  WHOOP Gen4 MP(可穿戴)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92024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產品類別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9202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Wearable Device · 健康追蹤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34086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process_template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34086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WHOOP_WEARABLE(模組化)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761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BOM 結構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76148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Multi-Sub-BOM(8 模組層)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18211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Sub-BOM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18211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8 個 bom_module(各自 SMT)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602736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變體 (variants)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60273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3 色款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02336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PKG 版本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0233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5 PKG SKU × 8 module 包含矩陣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44398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Qty Scenarios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44398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TBD(視 MP 拍板)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8646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result cells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8646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~120(5 SKU × 24 multi-dim)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28523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Process 特色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28523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Module Integ + Final Assy + FATP 7 station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705856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21A8"/>
                </a:solidFill>
                <a:latin typeface="Microsoft JhengHei"/>
              </a:rPr>
              <a:t>採購來源 xlsx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70585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WHOOP_Gen4 MP quotation book_ for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4 / 37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MVA 5-Layer 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spec cleansheet-mva-sd §2 · 全結構化取代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3E8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463040" cy="59436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904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製程目錄 + 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7922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公司級 · 跨案共用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9047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bom_process_catalog · bom_process_template · bom_process_template_step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3172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468879"/>
            <a:ext cx="1463040" cy="594360"/>
          </a:xfrm>
          <a:prstGeom prst="roundRect">
            <a:avLst>
              <a:gd name="adj" fmla="val 4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68879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50591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廠級資產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75234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per factory · SCD Type 2 月度更新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450591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bom_factory_baseline · bom_factory_idl_role · bom_factory_equipment · bom_factory_consumable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4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D1FAE5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429000"/>
            <a:ext cx="1463040" cy="59436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Layer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4107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案級配置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7124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案 × 廠 × variant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41071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bom_cs_case_factory · bom_cs_case_process · bom_cs_case_equipment · bom_cs_case_pkg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5196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4389120"/>
            <a:ext cx="1463040" cy="59436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8912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Layer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37083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計算結果 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6725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一次 compute · 可多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37083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bom_cs_run · bom_cs_run_cell · bom_cs_run_result(v0.3 加 fact table)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1208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5349240"/>
            <a:ext cx="1463040" cy="59436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Layer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533095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Microsoft JhengHei"/>
              </a:rPr>
              <a:t>Audit + Propagate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56327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JhengHei"/>
              </a:rPr>
              <a:t>記錄變更 · BOM lock 自動展開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33095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bom_cs_audit_log · bom_cs_baseline_diff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7293"/>
                </a:solidFill>
                <a:latin typeface="Microsoft JhengHei"/>
              </a:rPr>
              <a:t>👉 本手冊 Phase A 建 Layer 1+2 · Phase C-D 建 Layer 3 · Phase E 算 Layer 4 · Phase F 寫 Layer 4+5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5 / 37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7572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PHASE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公司 / 廠級一次性建置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👥 主負責: IT + Admin EPM(per 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⏱️ 時程: 初始 · 一次性 · ~2 週/廠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89920" cy="1188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Microsoft JhengHei"/>
              </a:rPr>
              <a:t>建立公司級主檔(製程目錄 / 模板)+ 各廠首份 baseline(SupplierBaseInput / IDL 17 角色 / 設備庫 / 耗材庫)。完成後其他案才能開。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輸入素材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操作步驟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影響表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Phase A 開始 · Cortex MVA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6 /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① 需要準備的素材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A · 公司 / 廠級一次性建置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進此 Phase 前必須備齊 · 共 6 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📄 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廠 EPM Cleansheet xlsx 原檔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本 demo: Rival 3+ Wired Mouse Cleansheet_China-20241011-19S.xlsx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📄 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設備折舊年限政策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各分類年限 SMT / SMT_TEST / BB_ASSY / BB_TEST /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IDL 17 種薪資表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Ops Mgr / Section Mgr / Engineer / Tech 等 17 角色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廠別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CN/VN/TW 幣別 + ledger book_id (對齊 ERP)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9525">
            <a:solidFill>
              <a:srgbClr val="9D1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6576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657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📐 政策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6393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9 製程目錄 enum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977639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SMT/Wave/Router/Laser/BB Assy/BB Test/Mat Mgmt/Q-SMT/Q-BB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52044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9525">
            <a:solidFill>
              <a:srgbClr val="9D1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36576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657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📐 政策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6393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產品模板初始(2 種)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77639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MOUSE_STD + WHOOP_WEARABLE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7 / 37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② 操作步驟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A · 公司 / 廠級一次性建置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8 步 · 預估總計 220 分鐘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廠基本資料建檔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Admin · ⏱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CN/VN/TW 各一列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916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INSERT bom_factory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67128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212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9 製程目錄 enum 初始化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5973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Admin · ⏱ 60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12848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依 SD §3.2 · 10 列(含 COMMON)· 三語言名稱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2585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INSERT bom_process_catalog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34056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779776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97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797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2 產品模板(含 step list)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0266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Admin · ⏱ 90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79776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MOUSE: SMT→Wave→Router→Laser→BB Assy→Test→Mat→Q · WHOOP: Multi-Module SMT→Module Integ→Final Assy→FATP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82549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INSERT bom_process_template + ..._step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00984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346703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46703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34670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廠 EPM 上傳首份 Cleansheet xlsx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1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CN EPM Andy · ⏱ 10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346703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SupplierBaseInput / Equipment / Consumables / Cleansheet / Price Summary 5 sheet 必備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39242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multer upload → stage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2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3913632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13632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系統解析 → 寫 baseline + IDL + 折舊年限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1605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13632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INSERT bom_factory_baseline (status=draft) + bom_factory_idl_role × 17 + bom_factory_dep_years × 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959352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bom_cs_baseline_import.py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34840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480559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80559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48055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系統解析 Equipment List → upsert 廠設備庫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7274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5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480559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58 件設備 · bucket/type/desc/manuf/model/pn/useful_life/acq_cost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526279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INSERT/UPDATE bom_factory_equipment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001768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" y="5047488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04748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50474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系統解析 Consumables → 廠耗材庫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529437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5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5047488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17 種耗材 · unit_cost / annual_usage / UOM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5093207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INSERT bom_factory_consumable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568696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7200" y="5614416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61441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A8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561441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Admin approve baseline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86130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Admin · ⏱ 15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5614416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設 effective_from = today · 該廠首份 active baseline 鎖定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566013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7C3AED"/>
                </a:solidFill>
                <a:latin typeface="Consolas"/>
              </a:rPr>
              <a:t>UPDATE baseline status=active + effective_from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8 / 37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③④ 兩案差異 + 影響的 DB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A · 公司 / 廠級一次性建置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292608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🖱️ SteelSeries (MOUSE_STD)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CN baseline: DL $4.95/hr · 58 equipment · 17 consumable · 17 IDL roles · 9 製程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⌚ WHOOP (WEARABLE)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同廠 baseline 共用(不重建)· template 用 WHOOP_WEARABLE · FATP 7 station 設備庫獨立加 7 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🗄️ 本 Phase 結束後 · 以下 DB 表的狀態被改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220724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2207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bom_factory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5084" y="4983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5084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bom_factory_baseline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2483" y="4983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2483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bom_factory_idl_role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9883" y="4983480"/>
            <a:ext cx="1997964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9883" y="498348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bom_factory_dep_years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4983480"/>
            <a:ext cx="1997964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498348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bom_factory_equipment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2075688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bom_factory_consumable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70048" y="5486400"/>
            <a:ext cx="1842516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0048" y="5486400"/>
            <a:ext cx="18425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bom_process_catalog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49724" y="548640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9724" y="54864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bom_process_template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07124" y="5486400"/>
            <a:ext cx="230886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7124" y="5486400"/>
            <a:ext cx="23088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bom_process_template_step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9 / 37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7572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PHASE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月度 Baseline 維護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👥 主負責: 各廠 EPM + admin 簽核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⏱️ 時程: 每月底 · ~1 天/廠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89920" cy="1188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Microsoft JhengHei"/>
              </a:rPr>
              <a:t>廠級 wage / 設備購置 / 耗材單價 月度異動 · SCD Type 2 切版 · 不影響已 lock 案,僅 draft 案 EPM 自選 reprice。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輸入素材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操作步驟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影響表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Phase B 開始 · Cortex MVA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10 /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① 需要準備的素材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B · 月度 Baseline 維護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進此 Phase 前必須備齊 · 共 3 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📄 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新月 Cleansheet 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EPM 本月更新版 · 主異動:SupplierBaseInput + Equipment + Consumables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現行 active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SELECT WHERE factory_code=? AND status=active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9525">
            <a:solidFill>
              <a:srgbClr val="9D1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📐 政策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Diff 比對策略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wage 漲&gt;5% / 設備 acq&gt;10% / 折舊年限改 → EPM+廠財雙簽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11 / 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② 操作步驟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B · 月度 Baseline 維護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7 步 · 預估總計 75 分鐘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EPM 上傳新版 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廠 EPM · ⏱ 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建 draft baseline · 不影響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916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EA5E9"/>
                </a:solidFill>
                <a:latin typeface="Consolas"/>
              </a:rPr>
              <a:t>POST /api/cs/baselines/import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67128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212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系統解析 + Diff 比對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5973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3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12848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wage/IDL/設備/耗材/折舊 5 維度 · ADDED/CHANGED/RETIRED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2585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EA5E9"/>
                </a:solidFill>
                <a:latin typeface="Consolas"/>
              </a:rPr>
              <a:t>bom_cs_baseline_diff 寫入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34056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779776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97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797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Diff Preview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0266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20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79776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卡片式: DL $4.95→$5.20(+5.05%) · DEK acq $84k→$92k · 新增 FUJI M6S · 汰換 TR7500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82549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EA5E9"/>
                </a:solidFill>
                <a:latin typeface="Consolas"/>
              </a:rPr>
              <a:t>GET /api/cs/baselines/:id/diff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00984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346703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46703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34670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EPM 逐項勾選 approve / reject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1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15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346703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單獨勾選 · 沒勾不套用 · 漲幅&gt;5% 系統高亮需二簽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39242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EA5E9"/>
                </a:solidFill>
                <a:latin typeface="Consolas"/>
              </a:rPr>
              <a:t>PATCH /api/cs/baselines/:id/items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2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3913632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13632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admin / 廠財務 sign-off(漲幅大者)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1605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廠財務+admin · ⏱ 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13632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漲幅&gt;5% block 直到二簽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959352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EA5E9"/>
                </a:solidFill>
                <a:latin typeface="Consolas"/>
              </a:rPr>
              <a:t>audit_log entry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34840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480559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80559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48055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SCD Type 2 切版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7274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480559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today/today+1 切割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526279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EA5E9"/>
                </a:solidFill>
                <a:latin typeface="Consolas"/>
              </a:rPr>
              <a:t>UPDATE old effective_to + status=superseded · UPDATE new status=active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001768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" y="5047488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04748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B7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50474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影響案 notify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529437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5047488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推 chip 給所有 draft case_factory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5093207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EA5E9"/>
                </a:solidFill>
                <a:latin typeface="Consolas"/>
              </a:rPr>
              <a:t>user_notifications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12 / 37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③④ 兩案差異 + 影響的 DB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B · 月度 Baseline 維護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292608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🖱️ SteelSeries (MOUSE_STD)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本案 draft → EPM 收 chip · 可選 reprice 或保留(baseline_locked_manually=1)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⌚ WHOOP (WEARABLE)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同 SteelSeries · 但 reprice 觸發 8 sub-BOM × 24 cells 重算 · ~3x 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🗄️ 本 Phase 結束後 · 以下 DB 表的狀態被改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bom_factory_baseline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983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bom_cs_baseline_diff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983480"/>
            <a:ext cx="1609344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9834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bom_cs_audit_log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4983480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498348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user_notifications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13 / 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7572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PHASE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新案開立 (Case Setup)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👥 主負責: BPM + 三廠 EPM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⏱️ 時程: 案啟動 · 1 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89920" cy="1188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Microsoft JhengHei"/>
              </a:rPr>
              <a:t>從 project 出發建 case_factory · 選 process_template · 配 qty_scenarios + pkg_versions + variants(色款)。此 phase 結束才能進案級配置。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輸入素材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操作步驟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影響表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Phase C 開始 · Cortex MVA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14 /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① 需要準備的素材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C · 新案開立 (Case Setup)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進此 Phase 前必須備齊 · 共 5 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project 主表已建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customer_id / BPN / annual_demand / 期望出貨地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variants 清單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SteelSeries: black/white · WHOOP: 3 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qty_scenarios 拍板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Low/High(本案 100K/418K)+ region 適用範圍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pkg_versions 拍板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SteelSeries: 商包+工包 · WHOOP: 5 PKG SKU × 8 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9525">
            <a:solidFill>
              <a:srgbClr val="9D1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6576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657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📐 政策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6393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廠別配置範圍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977639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3 廠都跑 / 只 CN+VN / 只 TW · BPM 決定 RFQ scope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15 / 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② 操作步驟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C · 新案開立 (Case Setup)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6 步 · 預估總計 110 分鐘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BPM 開 project + customer/BPN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BPM Lisa · ⏱ 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§customer 填完 →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916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6A34A"/>
                </a:solidFill>
                <a:latin typeface="Consolas"/>
              </a:rPr>
              <a:t>INSERT projects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67128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212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RD 上傳 BOM xlsx → 抽 variants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5973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RD Troy · ⏱ 60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12848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AI 解析 EE/ME BOM · §variants 標 shared/per_variant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2585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6A34A"/>
                </a:solidFill>
                <a:latin typeface="Consolas"/>
              </a:rPr>
              <a:t>§BOM 流程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34056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779776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97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797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BPM 建 case_factory × 3 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0266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BPM · ⏱ 10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79776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baseline_id 鎖當前 active · status=draft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82549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6A34A"/>
                </a:solidFill>
                <a:latin typeface="Consolas"/>
              </a:rPr>
              <a:t>INSERT bom_cs_case_factory ×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00984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346703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46703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C4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34670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選 process_template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1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BPM + EPM · ⏱ 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346703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MOUSE → MOUSE_STD · 可穿戴 → WHOOP_WEARABLE · 自訂 → CUSTOM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39242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6A34A"/>
                </a:solidFill>
                <a:latin typeface="Consolas"/>
              </a:rPr>
              <a:t>UPDATE bom_cs_case_factory.process_template_id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2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3913632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13632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C5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設 qty_scenarios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1605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BPM · ⏱ 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13632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本 demo: LOW=100K(US) · HIGH=418K(global) · is_baseline=HIGH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959352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6A34A"/>
                </a:solidFill>
                <a:latin typeface="Consolas"/>
              </a:rPr>
              <a:t>INSERT bom_cs_case_qty_scenario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34840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480559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80559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C6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48055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設 pkg_versions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7274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BPM + PKG 採購 Ken · ⏱ 10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480559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RETAIL=商包(retail+online) · BULK=工包(spare+b2b)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526279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16A34A"/>
                </a:solidFill>
                <a:latin typeface="Consolas"/>
              </a:rPr>
              <a:t>INSERT bom_cs_case_pkg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16 / 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③④ 兩案差異 + 影響的 DB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C · 新案開立 (Case Setup)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292608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🖱️ SteelSeries (MOUSE_STD)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MOUSE_STD · 1-BOM · 3 廠 × 2 variant × 2 qty × 2 pkg = 24 cells /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⌚ WHOOP (WEARABLE)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WHOOP_WEARABLE · 8 sub-BOM (bom_module) · 5 PKG SKU × 8 module 矩陣 · FATP 7 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🗄️ 本 Phase 結束後 · 以下 DB 表的狀態被改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842516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8425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bom_cs_case_factory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6876" y="4983480"/>
            <a:ext cx="2231136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6876" y="4983480"/>
            <a:ext cx="22311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bom_cs_case_qty_scenario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5172" y="4983480"/>
            <a:ext cx="153162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5172" y="4983480"/>
            <a:ext cx="15316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bom_cs_case_pkg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4983480"/>
            <a:ext cx="987552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4983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projects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17 / 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7572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PHASE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案級配置 (Case-Level Config)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👥 主負責: 各廠 EPM(自家廠)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⏱️ 時程: 案級填單 · 3-5 天 / 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89920" cy="1188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Microsoft JhengHei"/>
              </a:rPr>
              <a:t>從模板帶入製程清單 → 各製程調 9 個變數 · IDL × 製程 multiplier matrix · 設備與耗材 binding(line_qty/qty_per_line)· PKG items 上傳。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輸入素材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操作步驟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影響表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Phase D 開始 · Cortex MVA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18 /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① 需要準備的素材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D · 案級配置 (Case-Level Config)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進此 Phase 前必須備齊 · 共 6 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廠 master 已建(Phase A 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設備/耗材庫必須存在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case_factory + qty/pkg (Phase 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process_template_id 已選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📄 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RD Process Flow xlsx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takt 來源 · 文字 ref (takt_source 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📄 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EE BOM Cleansheet 工時 章節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industrial engineer 給的標準工時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6576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657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6393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廠設備 master 子集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977639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案內 line_qty / qty_per_line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52044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36576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657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📄 文件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6393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PKG BOM xlsx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77639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商包 16 item / 工包 3 item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19 / 37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② 操作步驟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D · 案級配置 (Case-Level Config)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6 步 · 預估總計 250 分鐘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從 template 帶入製程清單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一鍵 copy · 9 製程 · 帶 step_order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916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Consolas"/>
              </a:rPr>
              <a:t>INSERT bom_cs_case_process FROM ..._template_step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67128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D2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212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EPM 調各製程 9 變數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5973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60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12848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takt/yield/eff/工時/工作日/shifts/DL/debug DL/functional DL/lines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2585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Consolas"/>
              </a:rPr>
              <a:t>UPDATE bom_cs_case_process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34056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779776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97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D3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797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IDL × 製程 multiplier matrix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0266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90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79776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17 role × 9 process · 首次抄 Excel J64/L64/N64...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82549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Consolas"/>
              </a:rPr>
              <a:t>INSERT bom_cs_case_idl_alloc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00984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346703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46703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D4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34670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案級設備 binding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1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30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346703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從廠 master 選 32 件 · 設 line_qty/qty_per_line · 可 override life/acq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39242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Consolas"/>
              </a:rPr>
              <a:t>INSERT bom_cs_case_equipment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2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3913632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13632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D5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案級耗材 binding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1605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20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13632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從廠 master 選 · 設 annual_usage_qty · 可 override unit_cost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959352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Consolas"/>
              </a:rPr>
              <a:t>INSERT bom_cs_case_consumable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34840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480559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80559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D6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48055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PKG items 上傳(per pkg_version)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7274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PKG 採購 Ken · ⏱ 45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480559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商包 16 / 工包 3 · qty/unit/spec/vendor/true_cost/quote_price/markup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526279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0891B2"/>
                </a:solidFill>
                <a:latin typeface="Consolas"/>
              </a:rPr>
              <a:t>INSERT bom_cs_case_pkg_item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20 / 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③④ 兩案差異 + 影響的 DB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D · 案級配置 (Case-Level Config)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292608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🖱️ SteelSeries (MOUSE_STD)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9 製程 × 17 IDL · 32 設備 binding · 17 耗材 · 商包 16 + 工包 3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⌚ WHOOP (WEARABLE)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每 sub-BOM(8 module)各自 SMT 配置 · FATP 7 station 串接 · PKG SKU × Module 矩陣 5×8=40 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🗄️ 本 Phase 結束後 · 以下 DB 表的狀態被改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842516" cy="36576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8425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36876" y="4983480"/>
            <a:ext cx="1997964" cy="36576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6876" y="498348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bom_cs_case_idl_alloc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983480"/>
            <a:ext cx="1997964" cy="36576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983480"/>
            <a:ext cx="19979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bom_cs_case_equipment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7124" y="4983480"/>
            <a:ext cx="2075688" cy="36576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7124" y="4983480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bom_cs_case_consumable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9972" y="49834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972" y="4983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bom_cs_case_pkg_item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21 / 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7572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PHASE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計算 (Compute)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👥 主負責: EPM 觸發 · 系統執行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⏱️ 時程: 配置完按鈕 · 30 秒 / case_factory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89920" cy="1188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Microsoft JhengHei"/>
              </a:rPr>
              <a:t>5 區公式跑(DL / IDL / Equip+Facility / Others / Total)· 寫 cs_run header + cs_run_cell × (process × component × qty_scenario) · Regression test vs Excel &lt; 0.01ε。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輸入素材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操作步驟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影響表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Phase E 開始 · Cortex MVA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22 /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① 需要準備的素材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E · 計算 (Compute)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進此 Phase 前必須備齊 · 共 4 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Phase D 全完成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case_process/idl_alloc/equipment/consumable/pkg_item 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BOM main board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motherboard_cost_ref ≈ $8.683 · 算 VAT 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⚙️ 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compute engine 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db_v1 · 對齊 §App-A 100+ Excel 公式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⚙️ 設定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Regression test 容差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每 cell vs Excel · ε&lt;0.01 PASS · &gt;0.01 → run.status=failed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23 / 37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② 操作步驟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E · 計算 (Compute)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10 步 · 預估總計 27 分鐘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75720" cy="4572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EPM 按 「🔄 Compute」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EPM · ⏱ 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新 cs_run(status=computing) · case_factory.dirty=0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91640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POST /api/cs/case-factories/:id/compute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93976"/>
            <a:ext cx="11475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139696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396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96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compute_dl_cost(per process × qty)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38658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396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UPH → max_output → lines → weekly_output → DL/day → multipliers → /unit · C58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18541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compute_dl_cost.py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87752"/>
            <a:ext cx="11475720" cy="4572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633472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6334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compute_idl_cost(per process × qty)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88036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334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centralized + line-dep IDL · rows 64-83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679192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compute_idl_cost.py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81528"/>
            <a:ext cx="11475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127248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272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127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compute_equipment_cost(MRO + Depr)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37413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3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1272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SUM(P:P) × (annual / weekly) · H90/H91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17296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compute_equipment_cost.py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75304"/>
            <a:ext cx="11475720" cy="4572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3621024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62102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6210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compute_facility + ind_materials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386791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3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62102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sqft × $unit × IDL multiplier × (annual / weekly) · J100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666744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compute_facility_cost.py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069080"/>
            <a:ext cx="11475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11480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1148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compute_others(Freight+VAT+Loss)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36168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2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114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inbound_freight/annual · motherboard×vat/18 · loss×material · J107/J110/J114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160520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compute_others_cost.py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562856"/>
            <a:ext cx="11475720" cy="4572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" y="4608576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6085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46085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寫 cs_run_cell × N rows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48554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60857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9 process × 9 component × qty_scenarios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465429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INSERT bom_cs_run_cell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056632"/>
            <a:ext cx="11475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7200" y="5102352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1023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51023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Roll-up MVA + SGA + Profit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3492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51023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MVA = SUM(cell) · SGA = motherboard × 0.02 · Profit = (MVA+motherboard) × 0.14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5148072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compute_mva_total + compute_sga_profit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550408"/>
            <a:ext cx="11475720" cy="4572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7200" y="5596128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59612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20" y="55961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Regression test vs Excel(自動)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720" y="584301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CI · ⏱ 5 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55961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每 cell vs Excel · ε&gt;0.01 → status=failed + warnings_json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564184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pytest test_compute_regression.py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6044184"/>
            <a:ext cx="11475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6089904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608990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E10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88720" y="60899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cs_run.status = ready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88720" y="633679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0" y="608990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computed_at + 觸發 notification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32720" y="6135624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DC2626"/>
                </a:solidFill>
                <a:latin typeface="Consolas"/>
              </a:rPr>
              <a:t>UPDATE bom_cs_run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24 / 37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③④ 兩案差異 + 影響的 DB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E · 計算 (Compute)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292608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🖱️ SteelSeries (MOUSE_STD)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本案 = 3 廠 × 2 qty = 6 cs_run · 各 ~50 cell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⌚ WHOOP (WEARABLE)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6 cs_run · 但每 run 含 8 sub-BOM × 各自 SMT process · FATP 7 station · ~300+ cell rows · compute ~3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🗄️ 本 Phase 結束後 · 以下 DB 表的狀態被改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4983480"/>
            <a:ext cx="1531620" cy="36576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15316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bom_cs_run_cell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25 / 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7572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PHASE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BOM Lock Propagate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👥 主負責: DPM(觸發)+ 系統(自動)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⏱️ 時程: DPM gate · 5 分鐘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89920" cy="1188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Microsoft JhengHei"/>
              </a:rPr>
              <a:t>BOM 鎖版時自動跑 material × MVA × SGA × Profit 整合 · 寫 cs_run_result fact table(SteelSeries:24 列 · WHOOP:依 PKG×module 展開)· True/Quote 雙價 + Margin via Oracle GENERATED VIRTUAL。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輸入素材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操作步驟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影響表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Phase F 開始 · Cortex MVA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26 /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① 需要準備的素材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F · BOM Lock Propagate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進此 Phase 前必須備齊 · 共 5 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cs_run 已 ready (Phase 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各廠各 qty · status≠failed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BOM 採購策略已選定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每 item 已 select_mfg + select_tier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PKG BOM items 雙價齊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商包 16 / 工包 3 各 true/quote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⚙️ 設定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variant scope 對齊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shared / per_variant · 影響 cell material 算法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9525">
            <a:solidFill>
              <a:srgbClr val="9D1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65760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657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📐 政策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63931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multi-PKG lock 順序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977639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全 lock / 只 primary · DPM UI 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27 / 37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② 操作步驟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F · BOM Lock Propagate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9 步 · 預估總計 16 分鐘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75720" cy="512064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DPM 按 「🔒 Lock BOM」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DPM Mike · ⏱ 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前置 check(run ready / 雙價齊 / variant 對) · pass propagate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91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POST /api/bom/:id/lock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48840"/>
            <a:ext cx="1147572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19456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9456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945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列每 case_factory 維度組合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414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9456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variants × qty × pkg × factory · SteelSeries=24 · WHOOP 視 SKU 矩陣展開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2402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in-memory 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97480"/>
            <a:ext cx="11475720" cy="512064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74320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4320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432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compute_material_per_combo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99008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4320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tier: qty_min≤target≤qty_max · 出 true/quote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7889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SUMPRODUCT(item × tier match × variant)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46120"/>
            <a:ext cx="1147572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29184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918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291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取 PKG cost(per pkg_version)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3872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29184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Phase D 已算 · 商包 $0.706 / 工包 $0.182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3375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SELECT bom_cs_case_pkg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94760"/>
            <a:ext cx="11475720" cy="512064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384048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84048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840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取 MVA(per qty_scenario)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08736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84048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Phase E 已算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88620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SUM(bom_cs_run_cell WHERE run_id AND qty)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43400"/>
            <a:ext cx="1147572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38912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38912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389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算 SGA + Profit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63600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38912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sga = motherboard × 0.02 · profit = (MVA+motherboard) × 0.14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4348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公式 hard-code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892040"/>
            <a:ext cx="11475720" cy="512064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7200" y="493776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93776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4937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UPSERT bom_cs_run_result × N rows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" y="51846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2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493776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UNIQUE (run, factory, variant, qty, pkg) · 24 列 · Margin/Total GENERATED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49834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MERGE INTO bom_cs_run_result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440680"/>
            <a:ext cx="1147572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7200" y="548640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48640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" y="54864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audit_log 寫 PROPAGATE event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8720" y="573328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548640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event=BOM_PROPAGATE · payload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55321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INSERT bom_cs_audit_log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989320"/>
            <a:ext cx="11475720" cy="512064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57200" y="6035040"/>
            <a:ext cx="640080" cy="420624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035040"/>
            <a:ext cx="640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F9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720" y="60350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notify 影響干係人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720" y="628192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系統 · ⏱ 1 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6035040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EPM/BPM/採購主管 各 chip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60807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45309"/>
                </a:solidFill>
                <a:latin typeface="Consolas"/>
              </a:rPr>
              <a:t>user_notifications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28 / 37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③④ 兩案差異 + 影響的 DB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F · BOM Lock Propagate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292608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🖱️ SteelSeries (MOUSE_STD)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propagate 寫 24 列 · pivot view 直接看 6 cells (3 廠 × 2 variant)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⌚ WHOOP (WEARABLE)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propagate 寫多 PKG × 多 module · 5 SKU × 24 cells = 120 列 · 看 module 攤分(由 SKU_MODULE_MATRIX 加權)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🗄️ 本 Phase 結束後 · 以下 DB 表的狀態被改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687068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6870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bom_cs_run_result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1428" y="4983480"/>
            <a:ext cx="1609344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1428" y="498348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bom_cs_audit_log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7932" y="4983480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7932" y="4983480"/>
            <a:ext cx="17647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user_notifications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29 / 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1147572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PHASE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B1F3A"/>
                </a:solidFill>
                <a:latin typeface="Microsoft JhengHei"/>
              </a:rPr>
              <a:t>報價 + Margin 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👥 主負責: 業務 + BPM + 採購主管 + 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303520" cy="457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74755"/>
                </a:solidFill>
                <a:latin typeface="Microsoft JhengHei"/>
              </a:rPr>
              <a:t>⏱️ 時程: 業務 Gate · 4 小時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10789920" cy="1188720"/>
          </a:xfrm>
          <a:prstGeom prst="roundRect">
            <a:avLst>
              <a:gd name="adj" fmla="val 3000"/>
            </a:avLst>
          </a:prstGeom>
          <a:solidFill>
            <a:srgbClr val="FAFBFC"/>
          </a:solidFill>
          <a:ln w="254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Microsoft JhengHei"/>
              </a:rPr>
              <a:t>Factory matrix pivot view · 24 cells 切 qty/pkg/variant 動態 refresh · True Cost 走 VIEW_TRUE_COST 權限(finance/採購主管/dpm 可見)· 業務只看 Quote · 議價時走 reprice / unlock 開新 cs_run cycle。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輸入素材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操作步驟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177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7091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JhengHei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21208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15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EFEFE"/>
                </a:solidFill>
                <a:latin typeface="Microsoft JhengHei"/>
              </a:rPr>
              <a:t>影響表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Phase G 開始 · Cortex MVA 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30 /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① 需要準備的素材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G · 報價 + Margin 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進此 Phase 前必須備齊 · 共 4 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BOM 已 lock (Phase 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cs_run_result 已有 24 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9525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7373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🔐 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19072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VIEW_TRUE_COST 已分配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finance/dpm/採購主管/EPM · 一般業務 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📊 資料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競品 / 客戶歷史報價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BPM 從 CRM 拉 · 對齊 markup % 上下限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577840" cy="868680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9525">
            <a:solidFill>
              <a:srgbClr val="9D1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697479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9D1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97479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📐 政策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679191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Microsoft JhengHei"/>
              </a:rPr>
              <a:t>reprice 觸發條件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01752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議價 → 新 cs_run · 舊 archived · UI 只列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31 / 37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② 操作步驟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G · 報價 + Margin 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6 步 · 預估總計 55 分鐘 · 含循環步驟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G1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§factory_matrix UI 開啟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92807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BPM/採購主管/finance · ⏱ 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24 cells × {factory,variant,qty,pkg,true,quote,mva,margin%}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9164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333EA"/>
                </a:solidFill>
                <a:latin typeface="Consolas"/>
              </a:rPr>
              <a:t>GET /api/cs/cases/:id/matrix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67128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G2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212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Qty/PKG/Variant toggle 切換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45973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用戶 · ⏱ 10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212848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v07.qty / v07.pkg → re-fetch · 6 cell 主表 refresh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22585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333EA"/>
                </a:solidFill>
                <a:latin typeface="Consolas"/>
              </a:rPr>
              <a:t>前端 state pivot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34056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779776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797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G3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277977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Margin Heatmap 視角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0266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finance/採購主管 · ⏱ 15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79776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24 cells heatmap · margin% 顏色 · Top Markup Items per PKG · 需 VIEW_TRUE_COST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82549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333EA"/>
                </a:solidFill>
                <a:latin typeface="Consolas"/>
              </a:rPr>
              <a:t>GET /api/cs/margin/:run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00984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346703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46703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G4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34670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BPM 匯出 RFQ Cost Excel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1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BPM Lisa · ⏱ 20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346703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只匯 Quote(True/Margin strip)· region/qty/pkg 分頁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392424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333EA"/>
                </a:solidFill>
                <a:latin typeface="Consolas"/>
              </a:rPr>
              <a:t>POST /api/quotes/:id/export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67912"/>
            <a:ext cx="11475720" cy="53035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" y="3913632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13632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G5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39136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業務/BPM 簽核 submit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416052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業務+BPM · ⏱ 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13632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submit quote · 系統建 RFQ record · audit log · status=submitted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959352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333EA"/>
                </a:solidFill>
                <a:latin typeface="Consolas"/>
              </a:rPr>
              <a:t>INSERT rfq_submissions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34840"/>
            <a:ext cx="114757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4480559"/>
            <a:ext cx="640080" cy="438912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80559"/>
            <a:ext cx="640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G6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448055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Microsoft JhengHei"/>
              </a:rPr>
              <a:t>(議價)客戶回 → 採購 reprice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7274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Microsoft JhengHei"/>
              </a:rPr>
              <a:t>👤 採購+EPM · ⏱ 循環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4480559"/>
            <a:ext cx="4114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374755"/>
                </a:solidFill>
                <a:latin typeface="Microsoft JhengHei"/>
              </a:rPr>
              <a:t>改 tier or mfg · 新 compute · 舊 archived · 新 run 接續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526279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9333EA"/>
                </a:solidFill>
                <a:latin typeface="Consolas"/>
              </a:rPr>
              <a:t>POST /api/cs/case-factories/:id/reprice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32 / 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③④ 兩案差異 + 影響的 DB 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Phase G · 報價 + Margin 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64240" y="292608"/>
            <a:ext cx="777240" cy="384048"/>
          </a:xfrm>
          <a:prstGeom prst="roundRect">
            <a:avLst>
              <a:gd name="adj" fmla="val 3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30175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Phase 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577840" cy="2926080"/>
          </a:xfrm>
          <a:prstGeom prst="roundRect">
            <a:avLst>
              <a:gd name="adj" fmla="val 2000"/>
            </a:avLst>
          </a:prstGeom>
          <a:solidFill>
            <a:srgbClr val="F0F9FF"/>
          </a:solidFill>
          <a:ln w="25400">
            <a:solidFill>
              <a:srgbClr val="0369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577840" cy="502920"/>
          </a:xfrm>
          <a:prstGeom prst="roundRect">
            <a:avLst>
              <a:gd name="adj" fmla="val 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🖱️ SteelSeries (MOUSE_STD)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349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BPM 用 §factory_matrix toggle 24 cells · finance 看 §margin_analysis heatmap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000"/>
            </a:avLst>
          </a:prstGeom>
          <a:solidFill>
            <a:srgbClr val="FAF5FF"/>
          </a:solidFill>
          <a:ln w="25400">
            <a:solidFill>
              <a:srgbClr val="6B2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28016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5331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</a:rPr>
              <a:t>⌚ WHOOP (WEARABLE)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257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74755"/>
                </a:solidFill>
                <a:latin typeface="Microsoft JhengHei"/>
              </a:rPr>
              <a:t>同 SteelSeries · 但 §whoop_summary 用 5 SKU 拆解視角 · 看「同 module 跨 SKU 攤分」效應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JhengHei"/>
              </a:rPr>
              <a:t>🗄️ 本 Phase 結束後 · 以下 DB 表的狀態被改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83480"/>
            <a:ext cx="1687068" cy="36576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6870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bom_cs_run_result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1428" y="4983480"/>
            <a:ext cx="1531620" cy="36576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1428" y="4983480"/>
            <a:ext cx="15316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rfq_submissions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4983480"/>
            <a:ext cx="3241548" cy="36576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4983480"/>
            <a:ext cx="32415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ai_data_policy_rules (VIEW_TRUE_COST)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33 / 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端到端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從 IT 建置 → 案級配置 → 計算 → 報價 · 時程一覽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97480"/>
            <a:ext cx="11247120" cy="3657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3365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365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885" y="1828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Microsoft JhengHei"/>
              </a:rPr>
              <a:t>一次性建置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885" y="210312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7C3AED"/>
                </a:solidFill>
                <a:latin typeface="Microsoft JhengHei"/>
              </a:rPr>
              <a:t>2 週/廠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885" y="23317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Microsoft JhengHei"/>
              </a:rPr>
              <a:t>初始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0097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0097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8617" y="2971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Microsoft JhengHei"/>
              </a:rPr>
              <a:t>月度維護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8617" y="324612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EA5E9"/>
                </a:solidFill>
                <a:latin typeface="Microsoft JhengHei"/>
              </a:rPr>
              <a:t>1 天/廠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8617" y="34747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Microsoft JhengHei"/>
              </a:rPr>
              <a:t>每月底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16828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16828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5348" y="1828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Microsoft JhengHei"/>
              </a:rPr>
              <a:t>新案開立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5348" y="210312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Microsoft JhengHei"/>
              </a:rPr>
              <a:t>1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5348" y="23317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Microsoft JhengHei"/>
              </a:rPr>
              <a:t>案啟動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971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Microsoft JhengHei"/>
              </a:rPr>
              <a:t>案級配置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24612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891B2"/>
                </a:solidFill>
                <a:latin typeface="Microsoft JhengHei"/>
              </a:rPr>
              <a:t>3-5 天/廠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4747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Microsoft JhengHei"/>
              </a:rPr>
              <a:t>主要工作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30291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0291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8811" y="1828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Microsoft JhengHei"/>
              </a:rPr>
              <a:t>計算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8811" y="210312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DC2626"/>
                </a:solidFill>
                <a:latin typeface="Microsoft JhengHei"/>
              </a:rPr>
              <a:t>30 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8811" y="23317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Microsoft JhengHei"/>
              </a:rPr>
              <a:t>按鈕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37022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7022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5542" y="2971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Microsoft JhengHei"/>
              </a:rPr>
              <a:t>BOM 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5542" y="324612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B45309"/>
                </a:solidFill>
                <a:latin typeface="Microsoft JhengHei"/>
              </a:rPr>
              <a:t>5 分鐘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5542" y="34747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Microsoft JhengHei"/>
              </a:rPr>
              <a:t>DPM gate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43754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3754" y="25328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2274" y="1828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F3A"/>
                </a:solidFill>
                <a:latin typeface="Microsoft JhengHei"/>
              </a:rPr>
              <a:t>報價 +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2274" y="210312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9333EA"/>
                </a:solidFill>
                <a:latin typeface="Microsoft JhengHei"/>
              </a:rPr>
              <a:t>4 小時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2274" y="23317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Microsoft JhengHei"/>
              </a:rPr>
              <a:t>業務 gate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114800"/>
            <a:ext cx="11247120" cy="219456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Microsoft JhengHei"/>
              </a:rPr>
              <a:t>💡 整體建議排程(以本 SteelSeries 案為例)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663440"/>
            <a:ext cx="10972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74755"/>
                </a:solidFill>
                <a:latin typeface="Microsoft JhengHei"/>
              </a:rPr>
              <a:t>• Week -2 ~ -1:Phase A 公司+CN 廠首建(IT/Admin 人力)
• Week 0:案啟動 → Phase C(BPM 開案 1 天)
• Week 1-2:Phase D 三廠 EPM 並行(各 3-5 天)
• Week 2:Phase E EPM 按 Compute(各 30 秒)+ regression test
• Week 3 結束前:Phase F DPM lock + propagate(5 分鐘)
• Week 3:Phase G 業務 gate + 客戶議價(4 小時 ~ 數天迭代)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34 / 37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🎯 操作 Checklist 速查表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對齊 Cortex_互動Demo_v0.9.html §mva_workflow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914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371600"/>
            <a:ext cx="3200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主負責人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371600"/>
            <a:ext cx="18288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時程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11887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716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輸入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371600"/>
            <a:ext cx="11887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3716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步驟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371600"/>
            <a:ext cx="320040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371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影響表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28800"/>
            <a:ext cx="914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192024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9202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182880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1828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IT + Admin EPM(per 廠)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828800"/>
            <a:ext cx="18288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8288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初始 · 一次性 · ~2 週/廠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82880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288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182880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8288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182880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1828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423160"/>
            <a:ext cx="914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251460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5146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242316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4231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各廠 EPM + admin 簽核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242316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24231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每月底 · ~1 天/廠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423160"/>
            <a:ext cx="1188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42316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0" y="2423160"/>
            <a:ext cx="1188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242316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242316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24231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017520"/>
            <a:ext cx="914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2920" y="310896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1089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301752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3017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BPM + 三廠 EPM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3017520"/>
            <a:ext cx="18288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30175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案啟動 · 1 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01752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0175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80" y="301752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0" y="30175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301752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30175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611880"/>
            <a:ext cx="914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2920" y="370332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703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80160" y="361188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71600" y="3611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各廠 EPM(自家廠)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361188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0" y="3611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案級填單 · 3-5 天 / 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3611880"/>
            <a:ext cx="1188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36118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3611880"/>
            <a:ext cx="1188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9520" y="36118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0" y="361188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0" y="3611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206240"/>
            <a:ext cx="914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02920" y="4297679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4297679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80160" y="420624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EPM 觸發 · 系統執行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80560" y="4206240"/>
            <a:ext cx="18288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0" y="420624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配置完按鈕 · 30 秒 / case_factory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420624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42062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98080" y="420624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89520" y="42062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800" y="420624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78240" y="42062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800600"/>
            <a:ext cx="914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02920" y="489204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48920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80160" y="480060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71600" y="4800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DPM(觸發)+ 系統(自動)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80560" y="4800600"/>
            <a:ext cx="18288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0" y="480060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DPM gate · 5 分鐘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09360" y="4800600"/>
            <a:ext cx="1188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0" y="48006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0" y="4800600"/>
            <a:ext cx="1188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89520" y="480060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0" y="4800600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778240" y="48006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394960"/>
            <a:ext cx="914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02920" y="5486400"/>
            <a:ext cx="640080" cy="365760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2920" y="5486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280160" y="539496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業務 + BPM + 採購主管 + finance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480560" y="5394960"/>
            <a:ext cx="18288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0" y="53949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業務 Gate · 4 小時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09360" y="539496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0" y="539496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98080" y="5394960"/>
            <a:ext cx="118872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89520" y="539496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686800" y="5394960"/>
            <a:ext cx="3200400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78240" y="5394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755"/>
                </a:solidFill>
                <a:latin typeface="Microsoft JhengHei"/>
              </a:rPr>
              <a:t>3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65760" y="5989320"/>
            <a:ext cx="11521440" cy="548640"/>
          </a:xfrm>
          <a:prstGeom prst="roundRect">
            <a:avLst>
              <a:gd name="adj" fmla="val 40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8640" y="5989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JhengHei"/>
              </a:rPr>
              <a:t>  TOTAL · 7 Phase · 33 輸入素材 · 52 操作步驟 · 影響 30 個 DB 表 entries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35 / 37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JhengHei"/>
              </a:rPr>
              <a:t>Backup: Excel 公式 → DB Service 對照(摘錄)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icrosoft JhengHei"/>
              </a:rPr>
              <a:t>spec cleansheet-mva-sd Appendix A · 100+ 條完整對應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55448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Excel 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32918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280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公式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280160"/>
            <a:ext cx="3657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80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DB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280160"/>
            <a:ext cx="32004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280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對應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45920"/>
            <a:ext cx="155448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645920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Cleansheet!C14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645920"/>
            <a:ext cx="329184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164592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=3600/C13*C15*C16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645920"/>
            <a:ext cx="36576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1645920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compute_uph(case_factory, process)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645920"/>
            <a:ext cx="32004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1645920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UPH/hr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93392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1993392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Cleansheet!C21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1993392"/>
            <a:ext cx="32918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1993392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=C10*C14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1993392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1993392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compute_max_output_per_line(...)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1993392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42832" y="199339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max output / week / 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340864"/>
            <a:ext cx="155448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340864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Cleansheet!C23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2340864"/>
            <a:ext cx="329184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2340864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=ROUNDUP(C20/C21, 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2340864"/>
            <a:ext cx="36576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5232" y="2340864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compute_lines_installed(...)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340864"/>
            <a:ext cx="32004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2340864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lines installed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688336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2688336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Cleansheet!C58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688336"/>
            <a:ext cx="32918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93392" y="2688336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=(C56+C55)/C24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2688336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85232" y="2688336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compute_dl_cost(...)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2688336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2688336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DL cost / unit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035808"/>
            <a:ext cx="155448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035808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Cleansheet!H90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3035808"/>
            <a:ext cx="329184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93392" y="3035808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=SUM('Equipment List'!P3:P7)*(C20/C24)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80" y="3035808"/>
            <a:ext cx="36576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85232" y="3035808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compute_equipment_mro(...)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3035808"/>
            <a:ext cx="32004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42832" y="3035808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Equip MRO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383280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383280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Cleansheet!H91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3383280"/>
            <a:ext cx="32918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93392" y="338328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=SUM('Equipment List'!P8:P34)*(C20/C24)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12080" y="3383280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85232" y="3383280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compute_equipment_depr(...)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69680" y="338328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42832" y="3383280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Equip Depr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730752"/>
            <a:ext cx="155448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3730752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Cleansheet!J100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20240" y="3730752"/>
            <a:ext cx="329184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93392" y="3730752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=(I100*$C$100/$C$18)*I97*(C20/C24)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3730752"/>
            <a:ext cx="36576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85232" y="3730752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compute_facility_cost(...)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69680" y="3730752"/>
            <a:ext cx="32004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42832" y="373075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Facility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078224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4078224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Cleansheet!J107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4078224"/>
            <a:ext cx="32918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93392" y="4078224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=C107/I107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12080" y="4078224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85232" y="4078224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compute_inbound_freight(...)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69680" y="4078224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42832" y="4078224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Freight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425696"/>
            <a:ext cx="155448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4425696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Cleansheet!J110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4425696"/>
            <a:ext cx="329184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93392" y="4425696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=I110*C110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12080" y="4425696"/>
            <a:ext cx="36576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85232" y="4425696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compute_loss_factor(...)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869680" y="4425696"/>
            <a:ext cx="32004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42832" y="4425696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Loss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4773168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8912" y="4773168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Cleansheet!J114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20240" y="4773168"/>
            <a:ext cx="32918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93392" y="4773168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=C114*I114/C18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12080" y="4773168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85232" y="4773168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compute_vat(...)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69680" y="477316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42832" y="4773168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VAT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120640"/>
            <a:ext cx="155448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8912" y="5120640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Cleansheet!C118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20240" y="5120640"/>
            <a:ext cx="329184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93392" y="51206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=J112+J109+X103+X94+X83+Y70+L58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12080" y="5120640"/>
            <a:ext cx="36576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85232" y="5120640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compute_mva_total(...)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69680" y="5120640"/>
            <a:ext cx="32004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42832" y="5120640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MVA total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5468112"/>
            <a:ext cx="155448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8912" y="5468112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Cleansheet!J121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20240" y="5468112"/>
            <a:ext cx="329184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993392" y="5468112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=I121*(C121+C120)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212080" y="5468112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285232" y="5468112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compute_sga_profit(...)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869680" y="5468112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42832" y="546811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SGA+Profit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5815584"/>
            <a:ext cx="155448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8912" y="5815584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Cleansheet!C125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20240" y="5815584"/>
            <a:ext cx="329184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993392" y="5815584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374755"/>
                </a:solidFill>
                <a:latin typeface="Consolas"/>
              </a:rPr>
              <a:t>=J120+C118+J121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212080" y="5815584"/>
            <a:ext cx="36576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285232" y="5815584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Consolas"/>
              </a:rPr>
              <a:t>compute_total_tc(...)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69680" y="5815584"/>
            <a:ext cx="3200400" cy="347472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42832" y="5815584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755"/>
                </a:solidFill>
                <a:latin typeface="Microsoft JhengHei"/>
              </a:rPr>
              <a:t>TC total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Cortex MVA 操作流程 v1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JhengHei"/>
              </a:rPr>
              <a:t>36 / 37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5760" y="6446520"/>
            <a:ext cx="1147572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2C39A"/>
                </a:solidFill>
                <a:latin typeface="Microsoft JhengHei"/>
              </a:rPr>
              <a:t>Q&amp;A · Internal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10972800" cy="3200400"/>
          </a:xfrm>
          <a:prstGeom prst="roundRect">
            <a:avLst>
              <a:gd name="adj" fmla="val 4000"/>
            </a:avLst>
          </a:prstGeom>
          <a:solidFill>
            <a:srgbClr val="14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2C39A"/>
                </a:solidFill>
                <a:latin typeface="Microsoft JhengHei"/>
              </a:rPr>
              <a:t>🔗 相關資源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515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JhengHei"/>
              </a:rPr>
              <a:t>• HTML demo:Cortex_互動Demo_v0.9.html(新增 §MVA 操作流程 section)
• 設計文件:cleansheet-mva-sd v0.3(14 表 schema · 5 Layer · 7 Phase 完整流程)
• 對應 BOM SD:bom-collection-sd v0.4(§17 multi-PKG · §18 qty scenario · §19 dual price · §20 VIEW_TRUE_COST)
• 兩案範本:
    - Rival 3+ Wired Mouse Cleansheet_China-20241011-19S.xlsx
    - WHOOP_Gen4 MP quotation book_ for AI.xlsx
• 開發 Roadmap:6.5 sprint ≈ 26 天(Phase 1-6 詳見 SD §13)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</a:rPr>
              <a:t>Cortex MVA 操作流程說明手冊 v1 · 2026-06 · FOXLINK 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