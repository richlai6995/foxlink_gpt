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6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Shape 1"/>
          <p:cNvSpPr/>
          <p:nvPr/>
        </p:nvSpPr>
        <p:spPr>
          <a:xfrm>
            <a:off x="9052560" y="914400"/>
            <a:ext cx="2468880" cy="2468880"/>
          </a:xfrm>
          <a:prstGeom prst="ellipse">
            <a:avLst/>
          </a:prstGeom>
          <a:ln w="76200">
            <a:solidFill>
              <a:srgbClr val="2446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43846" y="2148840"/>
            <a:ext cx="320954" cy="320954"/>
          </a:xfrm>
          <a:prstGeom prst="line">
            <a:avLst/>
          </a:prstGeom>
          <a:noFill/>
          <a:ln w="76200">
            <a:solidFill>
              <a:srgbClr val="244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064801" y="1901952"/>
            <a:ext cx="790042" cy="790042"/>
          </a:xfrm>
          <a:prstGeom prst="line">
            <a:avLst/>
          </a:prstGeom>
          <a:noFill/>
          <a:ln w="76200">
            <a:solidFill>
              <a:srgbClr val="2446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3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9144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個人資料保護說明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14400" y="3456432"/>
            <a:ext cx="347472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9" name="Text 7"/>
          <p:cNvSpPr/>
          <p:nvPr/>
        </p:nvSpPr>
        <p:spPr>
          <a:xfrm>
            <a:off x="886968" y="3639312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BD2E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回應客戶資安稽核　·　個人資料（PII）面向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589788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A0C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正崴 AI 整合平台　·　2026-06-11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03870" y="375270"/>
            <a:ext cx="237012" cy="237012"/>
          </a:xfrm>
          <a:prstGeom prst="ellipse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89194" y="441633"/>
            <a:ext cx="37922" cy="85324"/>
          </a:xfrm>
          <a:prstGeom prst="line">
            <a:avLst/>
          </a:prstGeom>
          <a:noFill/>
          <a:ln w="25400">
            <a:solidFill>
              <a:srgbClr val="2E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460594"/>
            <a:ext cx="42662" cy="80584"/>
          </a:xfrm>
          <a:prstGeom prst="line">
            <a:avLst/>
          </a:prstGeom>
          <a:noFill/>
          <a:ln w="25400">
            <a:solidFill>
              <a:srgbClr val="2E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是什麼？會碰到哪些個資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11201400" cy="1097280"/>
          </a:xfrm>
          <a:prstGeom prst="roundRect">
            <a:avLst>
              <a:gd name="adj" fmla="val 5000"/>
            </a:avLst>
          </a:prstGeom>
          <a:solidFill>
            <a:srgbClr val="EAF1F9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80160"/>
            <a:ext cx="10698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3365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是正崴「內部員工使用」的 AI 工作平台，協助處理公司營運資料（訂單、採購、BOM、生產資訊）。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3365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它不是對外蒐集消費者個資的系統。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11201400" cy="1207008"/>
          </a:xfrm>
          <a:prstGeom prst="roundRect">
            <a:avLst>
              <a:gd name="adj" fmla="val 4545"/>
            </a:avLst>
          </a:prstGeom>
          <a:solidFill>
            <a:srgbClr val="F4F8FC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935224"/>
            <a:ext cx="640080" cy="640080"/>
          </a:xfrm>
          <a:prstGeom prst="ellipse">
            <a:avLst/>
          </a:prstGeom>
          <a:solidFill>
            <a:srgbClr val="13365C"/>
          </a:solidFill>
        </p:spPr>
      </p:sp>
      <p:sp>
        <p:nvSpPr>
          <p:cNvPr id="13" name="Shape 11"/>
          <p:cNvSpPr/>
          <p:nvPr/>
        </p:nvSpPr>
        <p:spPr>
          <a:xfrm>
            <a:off x="959023" y="3117007"/>
            <a:ext cx="276515" cy="276515"/>
          </a:xfrm>
          <a:prstGeom prst="ellipse">
            <a:avLst/>
          </a:prstGeom>
          <a:ln w="254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0500" y="3158484"/>
            <a:ext cx="193560" cy="19356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834640"/>
            <a:ext cx="9784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65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不追蹤、不販售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91640" y="3291840"/>
            <a:ext cx="9784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沒有廣告追蹤、不販售，也不對外分享任何個人資料。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4005072"/>
            <a:ext cx="11201400" cy="1207008"/>
          </a:xfrm>
          <a:prstGeom prst="roundRect">
            <a:avLst>
              <a:gd name="adj" fmla="val 4545"/>
            </a:avLst>
          </a:prstGeom>
          <a:solidFill>
            <a:srgbClr val="F4F8FC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288536"/>
            <a:ext cx="640080" cy="640080"/>
          </a:xfrm>
          <a:prstGeom prst="ellipse">
            <a:avLst/>
          </a:prstGeom>
          <a:solidFill>
            <a:srgbClr val="13365C"/>
          </a:solidFill>
        </p:spPr>
      </p:sp>
      <p:sp>
        <p:nvSpPr>
          <p:cNvPr id="19" name="Shape 17"/>
          <p:cNvSpPr/>
          <p:nvPr/>
        </p:nvSpPr>
        <p:spPr>
          <a:xfrm>
            <a:off x="1039673" y="4454957"/>
            <a:ext cx="115214" cy="115214"/>
          </a:xfrm>
          <a:prstGeom prst="ellipse">
            <a:avLst/>
          </a:prstGeom>
          <a:ln w="25400">
            <a:solidFill>
              <a:srgbClr val="4A9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225" y="4593214"/>
            <a:ext cx="238110" cy="199705"/>
          </a:xfrm>
          <a:prstGeom prst="ellipse">
            <a:avLst/>
          </a:prstGeom>
          <a:ln w="25400">
            <a:solidFill>
              <a:srgbClr val="4A9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793" y="4693067"/>
            <a:ext cx="292974" cy="123817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22" name="Text 20"/>
          <p:cNvSpPr/>
          <p:nvPr/>
        </p:nvSpPr>
        <p:spPr>
          <a:xfrm>
            <a:off x="1691640" y="4187952"/>
            <a:ext cx="9784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65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只碰兩類個資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691640" y="4645152"/>
            <a:ext cx="9784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① 員工身份（工號 / Email / 部門）— 用於權限控管　② 業務文件中可能夾帶的個資。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5989320"/>
            <a:ext cx="11201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6CA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➜　個資風險面，遠小於一般對外蒐集個資的系統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個人資料保護說明　·　正崴 AI 整合平台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20329" y="358811"/>
            <a:ext cx="204094" cy="269931"/>
          </a:xfrm>
          <a:prstGeom prst="rect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7066" y="439790"/>
            <a:ext cx="130620" cy="23774"/>
          </a:xfrm>
          <a:prstGeom prst="rect">
            <a:avLst/>
          </a:prstGeom>
          <a:solidFill>
            <a:srgbClr val="2E6CA8"/>
          </a:solidFill>
        </p:spPr>
      </p:sp>
      <p:sp>
        <p:nvSpPr>
          <p:cNvPr id="7" name="Shape 5"/>
          <p:cNvSpPr/>
          <p:nvPr/>
        </p:nvSpPr>
        <p:spPr>
          <a:xfrm>
            <a:off x="657066" y="493776"/>
            <a:ext cx="130620" cy="23774"/>
          </a:xfrm>
          <a:prstGeom prst="rect">
            <a:avLst/>
          </a:prstGeom>
          <a:solidFill>
            <a:srgbClr val="2E6CA8"/>
          </a:solidFill>
        </p:spPr>
      </p:sp>
      <p:sp>
        <p:nvSpPr>
          <p:cNvPr id="8" name="Shape 6"/>
          <p:cNvSpPr/>
          <p:nvPr/>
        </p:nvSpPr>
        <p:spPr>
          <a:xfrm>
            <a:off x="657066" y="547762"/>
            <a:ext cx="91842" cy="23774"/>
          </a:xfrm>
          <a:prstGeom prst="rect">
            <a:avLst/>
          </a:prstGeom>
          <a:solidFill>
            <a:srgbClr val="2E6CA8"/>
          </a:solidFill>
        </p:spPr>
      </p:sp>
      <p:sp>
        <p:nvSpPr>
          <p:cNvPr id="9" name="Text 7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一、法規遵循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02920" y="12344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EAF1F9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234440"/>
            <a:ext cx="91440" cy="74980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2" name="Text 10"/>
          <p:cNvSpPr/>
          <p:nvPr/>
        </p:nvSpPr>
        <p:spPr>
          <a:xfrm>
            <a:off x="749808" y="1234440"/>
            <a:ext cx="10835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CA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客戶關注　</a:t>
            </a:r>
            <a:r>
              <a:rPr lang="en-US" sz="1500" i="1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是否符合 GDPR／CCPA、有無取得同意、會不會跨境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65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我們的做法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4360" y="2724912"/>
            <a:ext cx="1110996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處理的是公司內部營運資料，基於員工執行職務所需使用，不做對外蒐集或行銷。</a:t>
            </a:r>
            <a:endParaRPr lang="en-US" sz="170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設計遵循個資保護核心原則：最少蒐集、限定用途、設定保留期限、可依要求刪除。</a:t>
            </a:r>
            <a:endParaRPr lang="en-US" sz="170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跨境：AI 運算採 Google／Microsoft 企業級雲端，合約含「不用於訓練 AI」；資料存放區域可依客戶要求評估。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個人資料保護說明　·　正崴 AI 整合平台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577535" y="348935"/>
            <a:ext cx="190927" cy="190927"/>
          </a:xfrm>
          <a:prstGeom prst="ellipse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8960" y="500360"/>
            <a:ext cx="118506" cy="118506"/>
          </a:xfrm>
          <a:prstGeom prst="line">
            <a:avLst/>
          </a:prstGeom>
          <a:noFill/>
          <a:ln w="25400">
            <a:solidFill>
              <a:srgbClr val="2E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二、蒐集方式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EAF1F9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34440"/>
            <a:ext cx="91440" cy="74980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0" name="Text 8"/>
          <p:cNvSpPr/>
          <p:nvPr/>
        </p:nvSpPr>
        <p:spPr>
          <a:xfrm>
            <a:off x="749808" y="1234440"/>
            <a:ext cx="10835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CA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客戶關注　</a:t>
            </a:r>
            <a:r>
              <a:rPr lang="en-US" sz="1500" i="1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是否蒐集過多、用途清不清楚、有無敏感個資、會不會暗中追蹤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65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我們的做法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94360" y="2724912"/>
            <a:ext cx="1110996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只蒐集營運與權限所需的最少資料；員工身份來自公司既有人事／帳號系統，並非額外蒐集。</a:t>
            </a:r>
            <a:endParaRPr lang="en-US" sz="170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不蒐集健康、生物特徵、種族等特殊敏感類別個資。</a:t>
            </a:r>
            <a:endParaRPr lang="en-US" sz="170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沒有任何暗中追蹤；操作紀錄僅為資安與事後可追溯，屬透明的內部控管措施。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個人資料保護說明　·　正崴 AI 整合平台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61148" y="380142"/>
            <a:ext cx="122456" cy="143853"/>
          </a:xfrm>
          <a:prstGeom prst="ellipse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3716" y="474025"/>
            <a:ext cx="177320" cy="9085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623621" y="474025"/>
            <a:ext cx="197510" cy="151425"/>
          </a:xfrm>
          <a:prstGeom prst="roundRect">
            <a:avLst>
              <a:gd name="adj" fmla="val 24155"/>
            </a:avLst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" y="519452"/>
            <a:ext cx="64008" cy="64008"/>
          </a:xfrm>
          <a:prstGeom prst="ellipse">
            <a:avLst/>
          </a:prstGeom>
          <a:solidFill>
            <a:srgbClr val="2E6CA8"/>
          </a:solidFill>
        </p:spPr>
      </p:sp>
      <p:sp>
        <p:nvSpPr>
          <p:cNvPr id="9" name="Text 7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三、儲存與安全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02920" y="12344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EAF1F9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234440"/>
            <a:ext cx="91440" cy="74980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2" name="Text 10"/>
          <p:cNvSpPr/>
          <p:nvPr/>
        </p:nvSpPr>
        <p:spPr>
          <a:xfrm>
            <a:off x="749808" y="1234440"/>
            <a:ext cx="10835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CA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客戶關注　</a:t>
            </a:r>
            <a:r>
              <a:rPr lang="en-US" sz="1500" i="1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有無加密、誰能存取、會不會留太久、外洩怎麼辦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65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我們的做法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4360" y="2724912"/>
            <a:ext cx="1110996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嚴格分權：每人只看到被授權的資料，不同事業單位彼此隔離；機密資料連系統管理員都看不到內容。</a:t>
            </a:r>
            <a:endParaRPr lang="en-US" sz="170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傳輸全程加密，系統各項金鑰與憑證皆以加密方式保存。</a:t>
            </a:r>
            <a:endParaRPr lang="en-US" sz="170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資料設有保留期限、到期自動清除（一般約 90 天、含敏感字保留一年、暫存檔約 7 天）。</a:t>
            </a:r>
            <a:endParaRPr lang="en-US" sz="170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具備完整稽核軌跡、集中式日誌與健康監控，發現異常可即時通報管理員。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個人資料保護說明　·　正崴 AI 整合平台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13745" y="385145"/>
            <a:ext cx="217261" cy="217261"/>
          </a:xfrm>
          <a:prstGeom prst="ellipse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8924" y="385145"/>
            <a:ext cx="86905" cy="217261"/>
          </a:xfrm>
          <a:prstGeom prst="ellipse">
            <a:avLst/>
          </a:prstGeom>
          <a:ln w="17780">
            <a:solidFill>
              <a:srgbClr val="2E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3745" y="481889"/>
            <a:ext cx="217261" cy="23774"/>
          </a:xfrm>
          <a:prstGeom prst="rect">
            <a:avLst/>
          </a:prstGeom>
          <a:solidFill>
            <a:srgbClr val="2E6CA8"/>
          </a:solidFill>
        </p:spPr>
      </p:sp>
      <p:sp>
        <p:nvSpPr>
          <p:cNvPr id="8" name="Text 6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四、第三方與資料流向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EAF1F9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34440"/>
            <a:ext cx="91440" cy="74980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1" name="Text 9"/>
          <p:cNvSpPr/>
          <p:nvPr/>
        </p:nvSpPr>
        <p:spPr>
          <a:xfrm>
            <a:off x="749808" y="1234440"/>
            <a:ext cx="10835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CA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客戶關注　</a:t>
            </a:r>
            <a:r>
              <a:rPr lang="en-US" sz="1500" i="1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會不會給第三方、流向清不清楚、匿名化後會不會被反推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65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我們的做法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2724912"/>
            <a:ext cx="1110996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不對外販售或分享資料；唯一會接觸資料的外部服務，僅限提供 AI 運算的雲端供應商（Google／Microsoft），且均有企業合約。</a:t>
            </a:r>
            <a:endParaRPr lang="en-US" sz="170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資料流向清楚，可提供「資料流向說明圖」供稽核檢視。</a:t>
            </a:r>
            <a:endParaRPr lang="en-US" sz="170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不採用「匿名化後再對外分享」這類做法，因此沒有被反推回個人身份（再識別）的風險。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個人資料保護說明　·　正崴 AI 整合平台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72998" y="362102"/>
            <a:ext cx="98755" cy="98755"/>
          </a:xfrm>
          <a:prstGeom prst="ellipse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329" y="480609"/>
            <a:ext cx="204094" cy="171176"/>
          </a:xfrm>
          <a:prstGeom prst="ellipse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897" y="566196"/>
            <a:ext cx="258958" cy="10612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五、當事人權利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EAF1F9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34440"/>
            <a:ext cx="91440" cy="74980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1" name="Text 9"/>
          <p:cNvSpPr/>
          <p:nvPr/>
        </p:nvSpPr>
        <p:spPr>
          <a:xfrm>
            <a:off x="749808" y="1234440"/>
            <a:ext cx="10835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CA8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客戶關注　</a:t>
            </a:r>
            <a:r>
              <a:rPr lang="en-US" sz="1500" i="1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個人能否查詢、更正、刪除自己的資料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65C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我們的做法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2724912"/>
            <a:ext cx="1110996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帳號與其資料由管理者統一管理；員工離職或提出要求時，可停用帳號並讓其所有登入立即失效。</a:t>
            </a:r>
            <a:endParaRPr lang="en-US" sz="170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資料保留到期會自動刪除，亦可依正當請求刪除特定資料。</a:t>
            </a:r>
            <a:endParaRPr lang="en-US" sz="170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4A90D9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▪  </a:t>
            </a:r>
            <a:r>
              <a:rPr lang="en-US" sz="1700" dirty="0">
                <a:solidFill>
                  <a:srgbClr val="2B2B2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每個人可存取的資料範圍，會隨職務調整即時生效。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個人資料保護說明　·　正崴 AI 整合平台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23621" y="392826"/>
            <a:ext cx="197510" cy="256764"/>
          </a:xfrm>
          <a:prstGeom prst="roundRect">
            <a:avLst>
              <a:gd name="adj" fmla="val 23148"/>
            </a:avLst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2874" y="337962"/>
            <a:ext cx="79004" cy="109728"/>
          </a:xfrm>
          <a:prstGeom prst="roundRect">
            <a:avLst>
              <a:gd name="adj" fmla="val 34722"/>
            </a:avLst>
          </a:prstGeom>
          <a:ln w="17780">
            <a:solidFill>
              <a:srgbClr val="2E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2567" y="488012"/>
            <a:ext cx="64008" cy="64008"/>
          </a:xfrm>
          <a:prstGeom prst="line">
            <a:avLst/>
          </a:prstGeom>
          <a:noFill/>
          <a:ln w="25400">
            <a:solidFill>
              <a:srgbClr val="2E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06575" y="396572"/>
            <a:ext cx="164592" cy="155448"/>
          </a:xfrm>
          <a:prstGeom prst="line">
            <a:avLst/>
          </a:prstGeom>
          <a:noFill/>
          <a:ln w="25400">
            <a:solidFill>
              <a:srgbClr val="2E6C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9173" y="474991"/>
            <a:ext cx="126407" cy="23774"/>
          </a:xfrm>
          <a:prstGeom prst="rect">
            <a:avLst/>
          </a:prstGeom>
          <a:solidFill>
            <a:srgbClr val="2E6CA8"/>
          </a:solidFill>
        </p:spPr>
      </p:sp>
      <p:sp>
        <p:nvSpPr>
          <p:cNvPr id="10" name="Text 8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結語：四個原則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48640" y="1234440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13365C"/>
          </a:solidFill>
        </p:spPr>
      </p:sp>
      <p:sp>
        <p:nvSpPr>
          <p:cNvPr id="12" name="Shape 10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ln w="12700">
            <a:solidFill>
              <a:srgbClr val="4A9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24824" y="1561064"/>
            <a:ext cx="253472" cy="130576"/>
          </a:xfrm>
          <a:prstGeom prst="trapezoid">
            <a:avLst/>
          </a:prstGeom>
          <a:ln w="254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9673" y="1691640"/>
            <a:ext cx="23774" cy="11521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5" name="Text 13"/>
          <p:cNvSpPr/>
          <p:nvPr/>
        </p:nvSpPr>
        <p:spPr>
          <a:xfrm>
            <a:off x="1463040" y="1234440"/>
            <a:ext cx="166420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最少蒐集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383280" y="1234440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13365C"/>
          </a:solidFill>
        </p:spPr>
      </p:sp>
      <p:sp>
        <p:nvSpPr>
          <p:cNvPr id="17" name="Shape 15"/>
          <p:cNvSpPr/>
          <p:nvPr/>
        </p:nvSpPr>
        <p:spPr>
          <a:xfrm>
            <a:off x="3566160" y="1371600"/>
            <a:ext cx="640080" cy="640080"/>
          </a:xfrm>
          <a:prstGeom prst="ellipse">
            <a:avLst/>
          </a:prstGeom>
          <a:ln w="12700">
            <a:solidFill>
              <a:srgbClr val="4A9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7219" y="1622511"/>
            <a:ext cx="138257" cy="138257"/>
          </a:xfrm>
          <a:prstGeom prst="ellipse">
            <a:avLst/>
          </a:prstGeom>
          <a:ln w="25400">
            <a:solidFill>
              <a:srgbClr val="4A9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55476" y="1679753"/>
            <a:ext cx="192024" cy="2377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0" name="Shape 18"/>
          <p:cNvSpPr/>
          <p:nvPr/>
        </p:nvSpPr>
        <p:spPr>
          <a:xfrm>
            <a:off x="3986052" y="1679753"/>
            <a:ext cx="23774" cy="46086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1" name="Shape 19"/>
          <p:cNvSpPr/>
          <p:nvPr/>
        </p:nvSpPr>
        <p:spPr>
          <a:xfrm>
            <a:off x="4032138" y="1679753"/>
            <a:ext cx="23774" cy="69129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2" name="Text 20"/>
          <p:cNvSpPr/>
          <p:nvPr/>
        </p:nvSpPr>
        <p:spPr>
          <a:xfrm>
            <a:off x="4297680" y="1234440"/>
            <a:ext cx="166420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嚴格分權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17920" y="1234440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13365C"/>
          </a:solidFill>
        </p:spPr>
      </p:sp>
      <p:sp>
        <p:nvSpPr>
          <p:cNvPr id="24" name="Shape 22"/>
          <p:cNvSpPr/>
          <p:nvPr/>
        </p:nvSpPr>
        <p:spPr>
          <a:xfrm>
            <a:off x="6400800" y="1371600"/>
            <a:ext cx="640080" cy="640080"/>
          </a:xfrm>
          <a:prstGeom prst="ellipse">
            <a:avLst/>
          </a:prstGeom>
          <a:ln w="12700">
            <a:solidFill>
              <a:srgbClr val="4A9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97945" y="1584472"/>
            <a:ext cx="245791" cy="2377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6" name="Shape 24"/>
          <p:cNvSpPr/>
          <p:nvPr/>
        </p:nvSpPr>
        <p:spPr>
          <a:xfrm>
            <a:off x="6682435" y="1580266"/>
            <a:ext cx="76810" cy="2377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7" name="Shape 25"/>
          <p:cNvSpPr/>
          <p:nvPr/>
        </p:nvSpPr>
        <p:spPr>
          <a:xfrm>
            <a:off x="6624828" y="1630192"/>
            <a:ext cx="192024" cy="192024"/>
          </a:xfrm>
          <a:prstGeom prst="trapezoid">
            <a:avLst/>
          </a:prstGeom>
          <a:ln w="25400">
            <a:solidFill>
              <a:srgbClr val="4A90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86276" y="1660916"/>
            <a:ext cx="23774" cy="11521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9" name="Shape 27"/>
          <p:cNvSpPr/>
          <p:nvPr/>
        </p:nvSpPr>
        <p:spPr>
          <a:xfrm>
            <a:off x="6740042" y="1660916"/>
            <a:ext cx="23774" cy="11521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0" name="Text 28"/>
          <p:cNvSpPr/>
          <p:nvPr/>
        </p:nvSpPr>
        <p:spPr>
          <a:xfrm>
            <a:off x="7132320" y="1234440"/>
            <a:ext cx="166420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定期清除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052560" y="1234440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13365C"/>
          </a:solidFill>
        </p:spPr>
      </p:sp>
      <p:sp>
        <p:nvSpPr>
          <p:cNvPr id="32" name="Shape 30"/>
          <p:cNvSpPr/>
          <p:nvPr/>
        </p:nvSpPr>
        <p:spPr>
          <a:xfrm>
            <a:off x="9235440" y="1371600"/>
            <a:ext cx="640080" cy="640080"/>
          </a:xfrm>
          <a:prstGeom prst="ellipse">
            <a:avLst/>
          </a:prstGeom>
          <a:ln w="12700">
            <a:solidFill>
              <a:srgbClr val="4A90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44106" y="1584107"/>
            <a:ext cx="200473" cy="2377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4" name="Shape 32"/>
          <p:cNvSpPr/>
          <p:nvPr/>
        </p:nvSpPr>
        <p:spPr>
          <a:xfrm>
            <a:off x="9444106" y="1668597"/>
            <a:ext cx="200473" cy="2377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5" name="Shape 33"/>
          <p:cNvSpPr/>
          <p:nvPr/>
        </p:nvSpPr>
        <p:spPr>
          <a:xfrm>
            <a:off x="9444106" y="1753088"/>
            <a:ext cx="133649" cy="2377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6" name="Shape 34"/>
          <p:cNvSpPr/>
          <p:nvPr/>
        </p:nvSpPr>
        <p:spPr>
          <a:xfrm>
            <a:off x="9502609" y="1758208"/>
            <a:ext cx="64008" cy="64008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9566617" y="1666768"/>
            <a:ext cx="164592" cy="155448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66960" y="1234440"/>
            <a:ext cx="166420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全程留痕</a:t>
            </a:r>
            <a:endParaRPr lang="en-US" sz="17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/>
        </p:nvGraphicFramePr>
        <p:xfrm>
          <a:off x="548640" y="2423160"/>
          <a:ext cx="11109960" cy="2962656"/>
        </p:xfrm>
        <a:graphic>
          <a:graphicData uri="http://schemas.openxmlformats.org/drawingml/2006/table">
            <a:tbl>
              <a:tblPr/>
              <a:tblGrid>
                <a:gridCol w="3383280"/>
                <a:gridCol w="7726680"/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客戶疑慮</a:t>
                      </a:r>
                      <a:endParaRPr 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CORTEX 的回應（一句話）</a:t>
                      </a:r>
                      <a:endParaRPr 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65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365C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會不會蒐集太多個資</a:t>
                      </a:r>
                      <a:endParaRPr 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只取營運與權限所需的最少資料，不碰敏感類別</a:t>
                      </a:r>
                      <a:endParaRPr 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365C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資料安不安全</a:t>
                      </a:r>
                      <a:endParaRPr 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嚴格分權 + 傳輸加密 + 機密內容連管理員都看不到</a:t>
                      </a:r>
                      <a:endParaRPr 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365C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會不會留太久</a:t>
                      </a:r>
                      <a:endParaRPr 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全部設有保留期限，到期自動清除</a:t>
                      </a:r>
                      <a:endParaRPr 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365C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會不會外流給第三方</a:t>
                      </a:r>
                      <a:endParaRPr 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不販售、不分享；僅限有企業合約的雲端供應商</a:t>
                      </a:r>
                      <a:endParaRPr 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3365C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個人能否管自己的資料</a:t>
                      </a:r>
                      <a:endParaRPr 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2"/>
                          <a:cs typeface="微軟正黑體" panose="020B0604030504040204" pitchFamily="34" charset="-120"/>
                        </a:rPr>
                        <a:t>可停用、可刪除，權限隨職務即時調整</a:t>
                      </a:r>
                      <a:endParaRPr 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CORTEX 個人資料保護說明　·　正崴 AI 整合平台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1497</Words>
  <Application>WPS Presentation</Application>
  <PresentationFormat>On-screen Show (16:9)</PresentationFormat>
  <Paragraphs>136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新細明體</vt:lpstr>
      <vt:lpstr>Wingdings</vt:lpstr>
      <vt:lpstr>微軟正黑體</vt:lpstr>
      <vt:lpstr>微軟正黑體</vt:lpstr>
      <vt:lpstr>Calibri</vt:lpstr>
      <vt:lpstr>Microsoft YaHei</vt:lpstr>
      <vt:lpstr>SimSun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 個人資料保護說明</dc:title>
  <dc:creator>FOXLINK GPT (CORTEX)</dc:creator>
  <dc:subject>PptxGenJS Presentation</dc:subject>
  <cp:lastModifiedBy>rich_lai</cp:lastModifiedBy>
  <cp:revision>2</cp:revision>
  <dcterms:created xsi:type="dcterms:W3CDTF">2026-06-11T07:50:00Z</dcterms:created>
  <dcterms:modified xsi:type="dcterms:W3CDTF">2026-06-11T07:55:00Z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6C6CA1317E21447EA65186600891B4BF</vt:lpwstr>
  </property>
  <property fmtid="{D5CDD505-2E9C-101B-9397-08002B2CF9AE}" pid="3" name="KSOProductBuildVer">
    <vt:lpwstr>1028-11.8.2.11649</vt:lpwstr>
  </property>
</Properties>
</file>