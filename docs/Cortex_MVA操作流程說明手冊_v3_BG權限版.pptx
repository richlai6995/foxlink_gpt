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2C39A"/>
                </a:solidFill>
                <a:latin typeface="Microsoft JhengHei"/>
              </a:rPr>
              <a:t>FOXLINK 正崴 · Cortex BOM × MVA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JhengHei"/>
              </a:rPr>
              <a:t>MVA 操作手冊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icrosoft JhengHei"/>
              </a:rPr>
              <a:t>BG/BU 權限隔離 + 設備類別 + DL 角色 + 設定維護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2044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2C39A"/>
                </a:solidFill>
                <a:latin typeface="Microsoft JhengHei"/>
              </a:rPr>
              <a:t>v3 5 大規格修正(對齊 v0.11 demo)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latin typeface="Microsoft JhengHei"/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11480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BG/BU 隔離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11480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JhengHei"/>
              </a:rPr>
              <a:t>同廠不同 BG 看不到對方數字 · baseline 按 BG 切版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latin typeface="Microsoft JhengHei"/>
              </a:rPr>
              <a:t>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37083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設備改類別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3708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JhengHei"/>
              </a:rPr>
              <a:t>報價階段 SMT 整線 × qty · 試產才細到 DEK / FUJI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26864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latin typeface="Microsoft JhengHei"/>
              </a:rPr>
              <a:t>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2686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DL 角色費率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626864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JhengHei"/>
              </a:rPr>
              <a:t>取代廠級單一 $4.95/hr · 7 個工種各自費率(對齊 IDL)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82896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latin typeface="Microsoft JhengHei"/>
              </a:rPr>
              <a:t>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88289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設定 master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88289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JhengHei"/>
              </a:rPr>
              <a:t>廠 baseline + 類別 + DL/IDL + admin copy + 權限 grant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38928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latin typeface="Microsoft JhengHei"/>
              </a:rPr>
              <a:t>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權限 grant 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138928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JhengHei"/>
              </a:rPr>
              <a:t>user × bg × bu × factory × scope · 對齊既有資料權限管理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v3 · 2026-06 · 對應 cleansheet-mva-sd v0.4 + Cortex_互動Demo_v0.11.html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Microsoft JhengHei"/>
              </a:rPr>
              <a:t>v3 vs v2 vs v1 差異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</a:rPr>
              <a:t>本手冊涵蓋的章節 + 對齊 demo 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📈 v0.6 → v0.11 規格演進(僅展示與本 v3 手冊相關)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1475720" cy="16459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640080" cy="201168"/>
          </a:xfrm>
          <a:prstGeom prst="roundRect">
            <a:avLst>
              <a:gd name="adj" fmla="val 3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v0.6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3736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初版 Cleansheet 9×9 matrix · CN 廠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84248"/>
            <a:ext cx="640080" cy="201168"/>
          </a:xfrm>
          <a:prstGeom prst="roundRect">
            <a:avLst>
              <a:gd name="adj" fmla="val 3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8424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v0.7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984248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+ qty scenario · MVA 隨 qty 動態變動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231136"/>
            <a:ext cx="640080" cy="201168"/>
          </a:xfrm>
          <a:prstGeom prst="roundRect">
            <a:avLst>
              <a:gd name="adj" fmla="val 3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31136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v0.8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231136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+ WHOOP 案 · MOUSE_STD vs WHOOP_WEARABLE 兩案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478024"/>
            <a:ext cx="640080" cy="201168"/>
          </a:xfrm>
          <a:prstGeom prst="roundRect">
            <a:avLst>
              <a:gd name="adj" fmla="val 3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47802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v0.9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478024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+ §MVA 操作流程(Phase A-G)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724912"/>
            <a:ext cx="640080" cy="201168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72491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v0.10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272491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+ Step 1-6 案級操作每步展開 + 5 區 compute trace + 可編輯 + scope toggle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971800"/>
            <a:ext cx="640080" cy="20116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97180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v0.11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297180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⭐ BG/BU 隔離 + 設備類別取代實體 + DL 角色費率 + 設定 master UI + admin copy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520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📚 本手冊章節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931920"/>
            <a:ext cx="3703320" cy="114300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5760" y="3931920"/>
            <a:ext cx="3703320" cy="292608"/>
          </a:xfrm>
          <a:prstGeom prst="roundRect">
            <a:avLst>
              <a:gd name="adj" fmla="val 3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968496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🔒 BG/BU 隔離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3968496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Microsoft JhengHei"/>
              </a:rPr>
              <a:t>5 slides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29768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組織 + 使用者主檔 + 權限 grant + 案綁定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931920"/>
            <a:ext cx="3703320" cy="114300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51960" y="3931920"/>
            <a:ext cx="3703320" cy="292608"/>
          </a:xfrm>
          <a:prstGeom prst="roundRect">
            <a:avLst>
              <a:gd name="adj" fmla="val 3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3968496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🏭 設備類別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968496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Microsoft JhengHei"/>
              </a:rPr>
              <a:t>5 slides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29768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為何改 + 26 類 catalog + admin copy + 案級 binding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3931920"/>
            <a:ext cx="3703320" cy="114300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38160" y="3931920"/>
            <a:ext cx="3703320" cy="292608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3968496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👷 DL 角色費率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3968496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Microsoft JhengHei"/>
              </a:rPr>
              <a:t>3 slides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29768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7 個 default + 取代廠級單一 wage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5212079"/>
            <a:ext cx="3703320" cy="114300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65760" y="5212079"/>
            <a:ext cx="3703320" cy="292608"/>
          </a:xfrm>
          <a:prstGeom prst="roundRect">
            <a:avLst>
              <a:gd name="adj" fmla="val 3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248655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🔧 設定 master 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60" y="5248655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Microsoft JhengHei"/>
              </a:rPr>
              <a:t>5 slides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57784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廠 baseline + 7 個 sub-tab + 編輯流程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51960" y="5212079"/>
            <a:ext cx="3703320" cy="114300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251960" y="5212079"/>
            <a:ext cx="3703320" cy="292608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0" y="5248655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📊 公式變更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5248655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Microsoft JhengHei"/>
              </a:rPr>
              <a:t>2 slides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557784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Step 5 區 A DL role-based + 區 C 類別 rep_acq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38160" y="5212079"/>
            <a:ext cx="3703320" cy="114300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138160" y="5212079"/>
            <a:ext cx="3703320" cy="292608"/>
          </a:xfrm>
          <a:prstGeom prst="roundRect">
            <a:avLst>
              <a:gd name="adj" fmla="val 3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20" y="5248655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🎯 Checklist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5248655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Microsoft JhengHei"/>
              </a:rPr>
              <a:t>2 slides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557784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EPM / DPM / admin 各自 checklist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🔒 隔離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BG / BU 組織架構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對齊既有「資料權限管理」+ 使用者主檔事業群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669280" cy="493776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669280" cy="365760"/>
          </a:xfrm>
          <a:prstGeom prst="roundRect">
            <a:avLst>
              <a:gd name="adj" fmla="val 3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🏢 集團組織架構(demo 4 個 BG)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53949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755"/>
                </a:solidFill>
                <a:latin typeface="Consolas"/>
              </a:rPr>
              <a:t>FOXLINK 正崴
├─ 光電事業群 (OPTO) ⭐ SteelSeries 案
│   ├─ 滑鼠 BU (MOUSE)
│   ├─ 鍵盤 BU (KEYBOARD)
│   └─ 線材 BU (CABLE)
│
├─ 消費電子事業群 (CONSUMER) ⭐ WHOOP 案
│   ├─ 可穿戴 BU (WEARABLE)
│   └─ 音訊 BU (AUDIO)
│
├─ 連接器事業群 (CONN)
│   └─ 標準連接器 BU (STD)
│
└─ 中央及貿易 (HQ)
    └─ 資訊工程處 (IT) ← admin 來源
廠區跨 BG 共用:
  CN / VN / TW 三廠 都可服務多個 BG
  但每 BG 有獨立 baseline · 不共用單價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623560" cy="493776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623560" cy="365760"/>
          </a:xfrm>
          <a:prstGeom prst="roundRect">
            <a:avLst>
              <a:gd name="adj" fmla="val 3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👤 使用者主檔(對齊截圖)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53492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使用者主檔已有以下 BG/BU 欄位(從 LDAP / ERP 同步):
  ✓ 部門代碼          (7759)
  ✓ 部門名稱          (總管理處-資訊-系統支援部)
  ✓ 利潤中心代碼      (X4)
  ✓ 利潤中心名稱      (資訊工程處)
  ✓ 事業處代碼        (U)
  ✓ 事業處名稱        (中央單位)
  ✓ 事業群名稱        (中央及貿易) ← bg_code
  ✓ 廠區碼            (HQ)
  ✓ 離職日
判斷邏輯:
  • current_user.bg_code → 隱含 filter
  • 同 BG 可看 baseline / 類別單價
  • 跨 BG → 預設 404 / 看不到
  • admin role (HQ + IT)→ 跨 BG 可看可編
  • 細部 grant → bom_settings_admin_grant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🔒 隔離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BG 隔離核心:baseline 按 BG 切版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同廠 (CN) 可有 BG3-baseline + BG5-baseline 各一份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🎯 設計關鍵 — baseline 隔離 vs 子表加 bg_code 比較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5669280" cy="457200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554480"/>
            <a:ext cx="5669280" cy="411480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✓ 方案 A(採用):baseline 隔離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53949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Consolas"/>
              </a:rPr>
              <a:t>ALTER TABLE bom_factory_baseline
  ADD bg_code VARCHAR2(40) NOT NULL,
  ADD bu_code VARCHAR2(40);
UNIQUE (factory_code, bg_code, version_label)
範例:
  CN-OPTO-2026Q2     ← 光電 EPM 看這份
  CN-CONSUMER-2026Q2 ← 消費 EPM 看這份
子表 (price/dl_role/idl_role/consumable)
  保留 ON DELETE CASCADE baseline_id
  → 透過 baseline.bg_code 自動 BG 隔離
  → 子表 schema 完全不變
優點:
  ✓ 子表不需每個都加 bg_code
  ✓ 月度更新各 BG 各更各的
  ✓ 維護成本低
  ✓ 一查 baseline 就明確 BG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623560" cy="457200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623560" cy="411480"/>
          </a:xfrm>
          <a:prstGeom prst="roundRect">
            <a:avLst>
              <a:gd name="adj" fmla="val 3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0020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✗ 方案 B:每個子表加 bg_code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3492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Consolas"/>
              </a:rPr>
              <a:t>ALTER TABLE bom_factory_equip_category_price
  ADD bg_code VARCHAR2(40);
ALTER TABLE bom_factory_dl_role
  ADD bg_code VARCHAR2(40);
ALTER TABLE bom_factory_idl_role
  ADD bg_code VARCHAR2(40);
ALTER TABLE bom_factory_consumable
  ADD bg_code VARCHAR2(40);
每個子表 query 都要寫 bg_code = ?
缺點:
  ✗ 每個子表都要 ALTER
  ✗ 子表 bg_code 跟 baseline bg_code
    可能不一致(資料不一致風險)
  ✗ 索引變多
  ✗ 維護負擔重複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🔒 隔離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權限 grant 表 · bom_settings_admin_grant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user × bg/bu/factory × scope × view/edit/approve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1475720" cy="493776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1475720" cy="365760"/>
          </a:xfrm>
          <a:prstGeom prst="roundRect">
            <a:avLst>
              <a:gd name="adj" fmla="val 3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🗄️ 權限 grant 表 schema (對齊既有資料權限管理 pattern)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CREATE TABLE bom_settings_admin_grant (
  grant_id        NUMBER GENERATED ALWAYS AS IDENTITY PRIMARY KEY,
  user_id         NUMBER REFERENCES users(id) NOT NULL,
  -- 範圍三維度(NULL = 不限制)
  bg_code         VARCHAR2(40) REFERENCES org_bg(bg_code) NOT NULL,
  bu_code         VARCHAR2(40) REFERENCES org_bu(bu_code),     -- NULL = 該 BG 全 BU
  factory_code    VARCHAR2(10) REFERENCES bom_factory(factory_code),  -- NULL = 全廠
  scope           VARCHAR2(40) NOT NULL,
  --   'BASELINE'               廠 baseline 主表(切版)
  --   'EQUIP_CATEGORY_PRICE'   設備類別單價
  --   'DL_ROLE'                DL 角色費率
  --   'IDL_ROLE'               IDL 角色費率
  --   'CONSUMABLE'             耗材單價
  --   'EQUIP_CATEGORY_CATALOG' 全 BG 類別 enum(super-admin 級)
  --   'CASE_CLEANSHEET'        案級 Cleansheet 編輯
  --   'ALL'                    全部
  can_view        NUMBER(1) DEFAULT 1,
  can_edit        NUMBER(1) DEFAULT 0,
  can_approve     NUMBER(1) DEFAULT 0,    -- 二簽(漲幅 &gt; 5% 強制)
  granted_by      NUMBER REFERENCES users(id),
  granted_at      TIMESTAMP DEFAULT SYSTIMESTAMP,
  expires_at      TIMESTAMP,              -- NULL = 永久
  is_active       NUMBER(1) DEFAULT 1,
  notes           CLOB
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🔒 隔離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權限授權範例 · 6 種典型場景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對應 demo MVA_ADMIN_GRANTS 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3716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280160"/>
            <a:ext cx="109728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2801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BG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39" y="1280160"/>
            <a:ext cx="109728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39" y="12801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BU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1280160"/>
            <a:ext cx="9144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12801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Factory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280160"/>
            <a:ext cx="219456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280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Scope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79" y="1280160"/>
            <a:ext cx="18288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79" y="1280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權限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280160"/>
            <a:ext cx="27889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2801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備註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645920"/>
            <a:ext cx="137160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64592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Andy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1645920"/>
            <a:ext cx="109728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16459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OPTO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39" y="1645920"/>
            <a:ext cx="109728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79" y="16459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1645920"/>
            <a:ext cx="91440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59" y="164592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CN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1645920"/>
            <a:ext cx="219456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59" y="1645920"/>
            <a:ext cx="20116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Consolas"/>
              </a:rPr>
              <a:t>BASELINE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79" y="1645920"/>
            <a:ext cx="182880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19" y="16459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✓ view + edit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1645920"/>
            <a:ext cx="278892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19" y="1645920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專案授權 2027-12-31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148840"/>
            <a:ext cx="1371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14884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Andy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37360" y="214884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0" y="214884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OPTO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39" y="214884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79" y="214884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31920" y="214884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59" y="214884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CN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214884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59" y="2148840"/>
            <a:ext cx="20116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Consolas"/>
              </a:rPr>
              <a:t>EQUIP_CATEGORY_PRICE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79" y="214884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19" y="21488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✓ view + edit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69680" y="2148840"/>
            <a:ext cx="2788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19" y="2148840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同上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2651760"/>
            <a:ext cx="137160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265176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Andy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37360" y="2651760"/>
            <a:ext cx="109728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28800" y="2651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OPTO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34639" y="2651760"/>
            <a:ext cx="109728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26079" y="26517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31920" y="2651760"/>
            <a:ext cx="91440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23359" y="265176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CN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46320" y="2651760"/>
            <a:ext cx="219456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37759" y="2651760"/>
            <a:ext cx="20116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Consolas"/>
              </a:rPr>
              <a:t>DL_ROLE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40879" y="2651760"/>
            <a:ext cx="182880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19" y="26517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✓ view + edit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69680" y="2651760"/>
            <a:ext cx="278892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61119" y="2651760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同上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154680"/>
            <a:ext cx="1371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315468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Andy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737360" y="315468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28800" y="315468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OPTO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34639" y="315468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26079" y="315468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31920" y="315468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023359" y="315468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CN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46320" y="315468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37759" y="3154680"/>
            <a:ext cx="20116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Consolas"/>
              </a:rPr>
              <a:t>IDL_ROLE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40879" y="315468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32319" y="31546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只可 view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69680" y="3154680"/>
            <a:ext cx="2788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61119" y="3154680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永久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3657600"/>
            <a:ext cx="137160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365760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Mike (DPM)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37360" y="3657600"/>
            <a:ext cx="109728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28800" y="36576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OPTO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34639" y="3657600"/>
            <a:ext cx="109728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26079" y="36576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MOUSE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31920" y="3657600"/>
            <a:ext cx="91440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23359" y="365760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all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846320" y="3657600"/>
            <a:ext cx="219456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937759" y="3657600"/>
            <a:ext cx="20116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Consolas"/>
              </a:rPr>
              <a:t>BASELINE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040879" y="3657600"/>
            <a:ext cx="182880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32319" y="365760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DC2626"/>
                </a:solidFill>
                <a:latin typeface="Microsoft JhengHei"/>
              </a:rPr>
              <a:t>view + approve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869680" y="3657600"/>
            <a:ext cx="278892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61119" y="3657600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可二簽 · 2026-12-31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5760" y="4160520"/>
            <a:ext cx="1371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57200" y="416052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Lin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37360" y="416052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828800" y="41605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CONSUMER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834639" y="416052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926079" y="41605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WEARABLE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931920" y="416052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023359" y="416052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CN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846320" y="416052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937759" y="4160520"/>
            <a:ext cx="20116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Consolas"/>
              </a:rPr>
              <a:t>EQUIP_CATEGORY_PRICE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040879" y="416052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132319" y="41605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✓ view + edit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869680" y="4160520"/>
            <a:ext cx="2788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61119" y="4160520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2027-06-30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4663440"/>
            <a:ext cx="137160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7200" y="466344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admin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37360" y="4663440"/>
            <a:ext cx="109728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828800" y="466344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ALL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34639" y="4663440"/>
            <a:ext cx="109728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926079" y="466344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931920" y="4663440"/>
            <a:ext cx="91440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023359" y="466344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all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846320" y="4663440"/>
            <a:ext cx="219456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937759" y="4663440"/>
            <a:ext cx="20116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Consolas"/>
              </a:rPr>
              <a:t>ALL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040879" y="4663440"/>
            <a:ext cx="182880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132319" y="46634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DC2626"/>
                </a:solidFill>
                <a:latin typeface="Microsoft JhengHei"/>
              </a:rPr>
              <a:t>✓ all + approve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869680" y="4663440"/>
            <a:ext cx="2788920" cy="502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961119" y="4663440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永久 · super-admin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65760" y="5486400"/>
            <a:ext cx="1147572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63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2920" y="5550408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0B1F3A"/>
                </a:solidFill>
                <a:latin typeface="Microsoft JhengHei"/>
              </a:rPr>
              <a:t>💡 讀取邏輯:
  • 預設 SELECT 都 filter user.bg_code · 跨 BG 看不到
  • admin role (HQ) 或 scope='ALL' 例外
  • 編輯:每個 INSERT/UPDATE 前 check grant 表 · 對 (bg, bu, factory, scope) 完整 match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🔒 隔離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案綁定 BG/BU 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BPM 開案時自動帶 user BG · case_factory 同步冗存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🎬 兩個 demo 案的 BG 綁定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5669280" cy="457200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554480"/>
            <a:ext cx="5669280" cy="411480"/>
          </a:xfrm>
          <a:prstGeom prst="roundRect">
            <a:avLst>
              <a:gd name="adj" fmla="val 3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🖱️ SteelSeries Rival 3+ Wired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53949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Consolas"/>
              </a:rPr>
              <a:t>projects:
  id: 'QT-2026-0148'
  title: 'SteelSeries Rival 3+ Wired Mouse'
  ⭐ bg_code: 'OPTO'      (光電事業群)
  ⭐ bu_code: 'MOUSE'     (滑鼠 BU)
bom_cs_case_factory:
  case_factory_id: 1
  case_id: QT-2026-0148 ↑
  factory_code: 'CN'
  ⭐ bg_code: 'OPTO'      (冗存方便 query)
  ⭐ bu_code: 'MOUSE'
  baseline_id → CN-OPTO-2026Q2
→ 案內 §Cleansheet 看到的:
   • 廠 baseline:CN-OPTO-2026Q2
   • 類別 catalog:OPTO BG 26 類
   • DL 角色:OPTO BG 7 個
   • 跨 BG 看不到 CONSUMER 數字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623560" cy="4572000"/>
          </a:xfrm>
          <a:prstGeom prst="roundRect">
            <a:avLst>
              <a:gd name="adj" fmla="val 3000"/>
            </a:avLst>
          </a:prstGeom>
          <a:solidFill>
            <a:srgbClr val="FAF5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623560" cy="411480"/>
          </a:xfrm>
          <a:prstGeom prst="roundRect">
            <a:avLst>
              <a:gd name="adj" fmla="val 3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0020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⌚ WHOOP Gen4 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3492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Consolas"/>
              </a:rPr>
              <a:t>projects:
  id: 'QT-2026-0167'
  title: 'WHOOP Gen4 MP 穿戴手環'
  ⭐ bg_code: 'CONSUMER'   (消費電子事業群)
  ⭐ bu_code: 'WEARABLE'   (可穿戴 BU)
bom_cs_case_factory:
  case_factory_id: 2
  case_id: QT-2026-0167 ↑
  factory_code: 'CN'
  ⭐ bg_code: 'CONSUMER'
  ⭐ bu_code: 'WEARABLE'
  baseline_id → CN-CONSUMER-2026Q2
→ 案內 §Cleansheet 看到的:
   • 廠 baseline:CN-CONSUMER-2026Q2
   • 類別 catalog:CONSUMER BG · 含 FATP 3 類
     (admin 之前從 OPTO copy 24 類過來)
   • DL 角色:CONSUMER BG · wage 略高
   • 看不到 SteelSeries baseline 數字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🏭 類別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為什麼設備改類別?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報價階段 EPM 拍板不了用哪一台 · 改成代表機單價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669280" cy="4937760"/>
          </a:xfrm>
          <a:prstGeom prst="roundRect">
            <a:avLst>
              <a:gd name="adj" fmla="val 3000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669280" cy="365760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❌ v0.10 痛點:細到每一台設備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3949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v0.10 廠級設備 list(28 件實體):
  DEK Horizon 03i Printer      $84,000
  FUJI NXT M3S×6 + M6S×1      $1,013,384
  SPI TRI-7007                 $68,852
  Heller Reflow Mark5          $158,000
  CYBEROPTICS AOI MX600        $92,000
  ...
問題:
  ✗ 報價階段不知道用哪一台
    (DEK 老款 vs 新款差很多)
  ✗ 折舊成本差異大
  ✗ 試產才能定具體機
  ✗ 跨案動態調度
  ✗ 客戶不在乎你用哪台
業界實務:
  TSMC / Foxconn / 鴻海報價 cleansheet
  都用「機台類別 × qty」格式
  不細到 serial number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623560" cy="4937760"/>
          </a:xfrm>
          <a:prstGeom prst="roundRect">
            <a:avLst>
              <a:gd name="adj" fmla="val 3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623560" cy="365760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✓ v0.11 解法:類別 × qty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53492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v0.11 案級設備配置(類別 × qty):
  SMT_LINE_FULL          × 1.0  ($1,200,000)
  SMT_AOI                × 0.5  ($100,000 · shared)
  INJ_HORIZ_100T         × 2.0  ($95,000 each)
  INJ_HORIZ_200T         × 1.0  ($150,000)
  BB_ROBOT               × 1.0  ($50,000)
  ICT                    × 1.0  ($50,000)
  EMI_CHAMBER            × 0.3  ($480,000 · shared 30%)
  ...
優點:
  ✓ 報價階段 EPM 拍類別合理
  ✓ 不糾結具體哪台
  ✓ 試產才細化到具體機(可選)
  ✓ qty 支援小數(跨案共用)
  ✓ 跨 BG / 跨案 utilization 看得清
設計考量:
  廠級資產帳(個別機)該在 ERP fixed_assets
  不該跟 Cleansheet 模組混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🏭 類別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設備類別 enum · 26 項(OPTO BG)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6 個 group · 對應實際製造業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📋 OPTO 光電 BG 設備類別 catalog · 26 類分 6 大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3794760" cy="228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  SMT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42516"/>
            <a:ext cx="37947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4251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Consolas"/>
              </a:rPr>
              <a:t>SMT_LINE_FULL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8425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SMT 整線(含周邊)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842516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$1,200,000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84251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6yr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84832"/>
            <a:ext cx="3794760" cy="228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8483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Consolas"/>
              </a:rPr>
              <a:t>SMT_PRINTER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0848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SMT 印刷機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08483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$90,000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0848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6yr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327148"/>
            <a:ext cx="37947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32714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Consolas"/>
              </a:rPr>
              <a:t>SMT_PNP_LOW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232714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SMT 貼片機 低階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32714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$400,000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32714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6yr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569464"/>
            <a:ext cx="3794760" cy="228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569464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Consolas"/>
              </a:rPr>
              <a:t>SMT_PNP_HIGH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256946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SMT 貼片機 高階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2569464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$1,100,000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256946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6yr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811780"/>
            <a:ext cx="37947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81178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Consolas"/>
              </a:rPr>
              <a:t>SMT_REFLOW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28117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回焊爐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281178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$160,000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281178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6yr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054096"/>
            <a:ext cx="3794760" cy="228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05409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Consolas"/>
              </a:rPr>
              <a:t>SMT_AOI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305409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AOI 檢測機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3054096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$100,000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305409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6yr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96412"/>
            <a:ext cx="379476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296412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  PCBA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538728"/>
            <a:ext cx="3794760" cy="228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53872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891B2"/>
                </a:solidFill>
                <a:latin typeface="Consolas"/>
              </a:rPr>
              <a:t>WAVE_SOLDER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35387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波焊機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353872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$140,000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86200" y="353872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8yr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781044"/>
            <a:ext cx="37947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781044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891B2"/>
                </a:solidFill>
                <a:latin typeface="Consolas"/>
              </a:rPr>
              <a:t>ROUTER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78104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分板機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3781044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$50,000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86200" y="37810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6yr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023360"/>
            <a:ext cx="3794760" cy="228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0233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891B2"/>
                </a:solidFill>
                <a:latin typeface="Consolas"/>
              </a:rPr>
              <a:t>LASER_ETCH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40233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雷射雕刻機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0" y="402336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$80,000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86200" y="402336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8yr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1600200"/>
            <a:ext cx="3794760" cy="228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1600200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  INJECTION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1842516"/>
            <a:ext cx="37947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97680" y="184251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  <a:latin typeface="Consolas"/>
              </a:rPr>
              <a:t>INJ_HORIZ_50T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97880" y="18425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成形機 臥式 50T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0" y="1842516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$60,000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26680" y="184251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8yr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06240" y="2084832"/>
            <a:ext cx="3794760" cy="228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97680" y="208483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  <a:latin typeface="Consolas"/>
              </a:rPr>
              <a:t>INJ_HORIZ_100T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97880" y="20848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成形機 臥式 100T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208483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$95,000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26680" y="20848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8yr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2327148"/>
            <a:ext cx="37947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80" y="232714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  <a:latin typeface="Consolas"/>
              </a:rPr>
              <a:t>INJ_HORIZ_200T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97880" y="232714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成形機 臥式 200T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32320" y="232714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$150,000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26680" y="232714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8yr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06240" y="2569464"/>
            <a:ext cx="3794760" cy="228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97680" y="2569464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  <a:latin typeface="Consolas"/>
              </a:rPr>
              <a:t>INJ_HORIZ_350T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97880" y="256946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成形機 臥式 350T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32320" y="2569464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$260,000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26680" y="256946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8yr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06240" y="2811780"/>
            <a:ext cx="37947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97680" y="281178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  <a:latin typeface="Consolas"/>
              </a:rPr>
              <a:t>INJ_VERT_50T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97880" y="28117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成形機 立式 50T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32320" y="281178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$55,000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26680" y="281178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8yr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3054096"/>
            <a:ext cx="3794760" cy="228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297680" y="305409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  <a:latin typeface="Consolas"/>
              </a:rPr>
              <a:t>INJ_VERT_100T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97880" y="305409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成形機 立式 100T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32320" y="3054096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$85,000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26680" y="305409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8yr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206240" y="3296412"/>
            <a:ext cx="3794760" cy="228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297680" y="3296412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  ASSEMBLY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3538728"/>
            <a:ext cx="3794760" cy="228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97680" y="353872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Consolas"/>
              </a:rPr>
              <a:t>BB_ROBOT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897880" y="35387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組裝 SCARA 機械手臂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32320" y="353872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$50,000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26680" y="353872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6yr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06240" y="3781044"/>
            <a:ext cx="37947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97680" y="3781044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Consolas"/>
              </a:rPr>
              <a:t>BB_AUTO_SCREW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897880" y="378104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自動鎖螺絲機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132320" y="3781044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$10,000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26680" y="37810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5yr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06240" y="4023360"/>
            <a:ext cx="3794760" cy="228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297680" y="40233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Consolas"/>
              </a:rPr>
              <a:t>BB_CONVEYOR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97880" y="40233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組裝輸送帶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32320" y="402336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$20,000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26680" y="402336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8yr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46720" y="1600200"/>
            <a:ext cx="3794760" cy="228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138160" y="160020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Consolas"/>
              </a:rPr>
              <a:t>BB_GLUE_DISP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738360" y="160020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自動點膠機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972800" y="16002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$20,000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567160" y="160020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5yr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046720" y="1842516"/>
            <a:ext cx="37947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138160" y="184251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Consolas"/>
              </a:rPr>
              <a:t>BB_HEAT_WELD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738360" y="18425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熱熔焊接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0" y="1842516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$9,000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567160" y="184251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5yr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046720" y="2084832"/>
            <a:ext cx="3794760" cy="228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138160" y="2084832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  TEST + QUALITY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046720" y="2327148"/>
            <a:ext cx="37947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138160" y="232714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DC2626"/>
                </a:solidFill>
                <a:latin typeface="Consolas"/>
              </a:rPr>
              <a:t>ICT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738360" y="232714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ICT 測試機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972800" y="232714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$50,000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567160" y="232714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6yr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46720" y="2569464"/>
            <a:ext cx="3794760" cy="228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138160" y="2569464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DC2626"/>
                </a:solidFill>
                <a:latin typeface="Consolas"/>
              </a:rPr>
              <a:t>FCT_RIG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38360" y="256946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Functional 治具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972800" y="2569464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$7,000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567160" y="256946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3yr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046720" y="2811780"/>
            <a:ext cx="37947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138160" y="281178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DC2626"/>
                </a:solidFill>
                <a:latin typeface="Consolas"/>
              </a:rPr>
              <a:t>XRAY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738360" y="28117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X-Ray 檢測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972800" y="281178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$250,000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567160" y="281178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8yr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046720" y="3054096"/>
            <a:ext cx="3794760" cy="228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138160" y="305409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DC2626"/>
                </a:solidFill>
                <a:latin typeface="Consolas"/>
              </a:rPr>
              <a:t>EMI_CHAMBER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738360" y="305409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EMI/EMC 室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972800" y="3054096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$480,000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567160" y="305409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10yr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046720" y="3296412"/>
            <a:ext cx="37947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138160" y="329641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DC2626"/>
                </a:solidFill>
                <a:latin typeface="Consolas"/>
              </a:rPr>
              <a:t>THERMAL_CHAMBER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38360" y="329641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熱循環室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972800" y="329641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$85,000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567160" y="329641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10yr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046720" y="3538728"/>
            <a:ext cx="3794760" cy="228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138160" y="353872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DC2626"/>
                </a:solidFill>
                <a:latin typeface="Consolas"/>
              </a:rPr>
              <a:t>VIB_SHAKER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738360" y="35387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振動測試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972800" y="353872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C7293"/>
                </a:solidFill>
                <a:latin typeface="Consolas"/>
              </a:rPr>
              <a:t>$128,000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567160" y="353872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10yr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🏭 類別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admin 跨 BG copy 類別流程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加速新 BG onboarding · 從 OPTO copy 24 類到 CONSUMER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🎬 操作流程(以 CONSUMER BG 初始化為例)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00200"/>
            <a:ext cx="11475720" cy="603504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4650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latin typeface="Microsoft JhengHei"/>
              </a:rPr>
              <a:t>1️⃣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admin 進「設定 master UI」→ 設備類別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45920"/>
            <a:ext cx="5669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從 §Cleansheet &gt; Step 7 設定 master UI &gt; 子 tab「🏭 設備類別 catalog」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258568"/>
            <a:ext cx="11475720" cy="603504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0487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latin typeface="Microsoft JhengHei"/>
              </a:rPr>
              <a:t>2️⃣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04287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右上「📋 從來源 BG copy 類別」按鈕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04287"/>
            <a:ext cx="5669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只有 admin role (HQ + IT) 看得到 · 一般 EPM 不會看到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916936"/>
            <a:ext cx="11475720" cy="603504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latin typeface="Microsoft JhengHei"/>
              </a:rPr>
              <a:t>3️⃣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962656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Modal 開啟 · 選來源 BG + 目標 BG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62656"/>
            <a:ext cx="5669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來源:OPTO 光電(已有 26 類)· 目標:CONSUMER 消費電子(空 / 部分)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575304"/>
            <a:ext cx="11475720" cy="603504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72160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latin typeface="Microsoft JhengHei"/>
              </a:rPr>
              <a:t>4️⃣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621024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勾選要 copy 的類別(全勾 / 部分勾)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621024"/>
            <a:ext cx="5669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CONSUMER 沒用大型成形機 → 略過 INJ_HORIZ_200T/350T
保留 SMT/PCBA/小型 INJ/Assembly/Test/Quality 共 24 類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233672"/>
            <a:ext cx="11475720" cy="603504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379976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latin typeface="Microsoft JhengHei"/>
              </a:rPr>
              <a:t>5️⃣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79392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系統 INSERT × N rows(複製 + 標 copied_from)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279392"/>
            <a:ext cx="5669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INSERT INTO bom_equip_category_catalog
  (bg_code='CONSUMER', category_code, display_name, group,
   copied_from_bg_code='OPTO', copied_from_category_id, ...)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892040"/>
            <a:ext cx="11475720" cy="603504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3834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latin typeface="Microsoft JhengHei"/>
              </a:rPr>
              <a:t>6️⃣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937759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CONSUMER EPM 加 wearable-only 類別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937759"/>
            <a:ext cx="5669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手動新建 3 類:FATP_PCBA_TEST · FATP_HR_CAL · FATP_FINAL_TEST
標 restrict_bg_codes='CONSUMER' 軟限制其他 BG 看不到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5550408"/>
            <a:ext cx="11475720" cy="603504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69671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latin typeface="Microsoft JhengHei"/>
              </a:rPr>
              <a:t>7️⃣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596128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廠單價:CONSUMER × CN 廠 baseline 配置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596128"/>
            <a:ext cx="5669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INSERT bom_factory_equip_category_price × 24 + 3 = 27 rows
rep_acq_cost / life / mro_pct 各設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🏭 類別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案級 binding 操作 · SteelSeries 案 SMT 製程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從廠 catalog 挑類別 × qty · 設 override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🎬 操作流程(SteelSeries SMT 製程)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114757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11247120" cy="4434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┌─ §Cleansheet → Step 3 · 設備類別 binding ──────────────────────────────────────┐
│   案內 14 類 · 對應 bom_cs_case_equip_category · BG: 光電事業群(OPTO)           │
│                                                                                │
│   ⚡ v0.11 規格修正:設備從個別 DEK / FUJI 等實體改為類別 + 代表機單價          │
│                                                                                │
│   [📋 案級 binding (14 類)]  [🏭 BG catalog (26 類)]  [📋 admin 跨 BG copy]    │
│                                                                                │
│   類別                              Group  Process    qty   代表單價    年折舊+MRO│
│   ──────────────────────────────────────────────────────────────────────────  │
│   SMT_LINE_FULL  SMT 整線(含周邊)  SMT    SMT_MAIN  1.0   $1,200,000   $260k │
│   SMT_AOI        AOI 檢測機         SMT    SMT_MAIN  0.5   $100,000     $10.8k│
│   WAVE_SOLDER    波焊機             PCBA   WAVE      1.0   $140,000     $24.5k│
│   ROUTER         分板機             PCBA   ROUTER    1.0   $50,000      $10.8k│
│   LASER_ETCH     雷射雕刻機         PCBA   LASER     1.0   $80,000      $14k  │
│   INJ_HORIZ_100T 成形機 臥式 100T   INJ    BB_ASSY   2.0   $95,000      $33.3k│ ← 2 台
│   INJ_HORIZ_200T 成形機 臥式 200T   INJ    BB_ASSY   1.0   $150,000     $26.3k│
│   BB_ROBOT       SCARA 機械手臂     ASSY   BB_ASSY   1.0   $50,000      $10.8k│
│   ICT            ICT 測試機         TEST   BB_TEST   1.0   $50,000      $10.8k│
│   EMI_CHAMBER    EMI/EMC 室         TEST   BB_TEST   0.3   $480,000     $48.6k│ ← 跨案 30%
│   XRAY           X-Ray 檢測         QUAL   Q_SMT     0.5   $250,000     $25.6k│ ← 跨案 50%
│   ...                                                                          │
│                                                                                │
│   ↳ 寫 schema: INSERT bom_cs_case_equip_category × 14 rows                     │
└────────────────────────────────────────────────────────────────────────────────┘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🏭 類別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設備類別 schema · 三層架構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catalog enum + 廠級單價 + 案級 binding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1475720" cy="493776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1475720" cy="365760"/>
          </a:xfrm>
          <a:prstGeom prst="roundRect">
            <a:avLst>
              <a:gd name="adj" fmla="val 3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🗄️ schema (3 表 · v0.11 新增)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1124712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-- (1) BG 級 catalog enum(BG 各自一份 + admin 可跨 BG copy)
CREATE TABLE bom_equip_category_catalog (
  category_id            NUMBER GENERATED ALWAYS AS IDENTITY PRIMARY KEY,
  ⭐ bg_code              VARCHAR2(40) REFERENCES org_bg(bg_code) NOT NULL,
  bu_code                VARCHAR2(40) REFERENCES org_bu(bu_code),
  category_code          VARCHAR2(80),                            -- 'SMT_LINE_FULL' / 'INJ_HORIZ_100T'
  display_name_zh/en/vi  VARCHAR2(200),
  category_group         VARCHAR2(40),                            -- SMT/PCBA/INJECTION/...
  default_process_code   VARCHAR2(40),
  restrict_bg_codes      VARCHAR2(500),                           -- 軟過濾('CONSUMER,OPTO')
  ⭐ copied_from_bg_code  VARCHAR2(40),                            -- admin copy 來源
  ⭐ copied_from_category_id NUMBER,
  ⭐ created_by/by_at, updated_by/_at NUMBER, TIMESTAMP,
  CONSTRAINT becc_uk UNIQUE (bg_code, bu_code, category_code)
);
-- (2) 廠級類別代表單價(透過 baseline_id 自動 BG 隔離)
CREATE TABLE bom_factory_equip_category_price (
  price_id               NUMBER PRIMARY KEY,
  baseline_id            NUMBER REFERENCES bom_factory_baseline(baseline_id) ON DELETE CASCADE,
  category_code          VARCHAR2(80) REFERENCES bom_equip_category_catalog(category_code),
  rep_acq_cost_usd       NUMBER(15,2),                            -- 該廠該類別「代表機」單價
  rep_useful_life_yrs    NUMBER(5,2),
  rep_mro_pct            NUMBER(5,4) DEFAULT 0.05,
  created_by/updated_by NUMBER, TIMESTAMP, ...,
  CONSTRAINT bfecp_uk UNIQUE (baseline_id, category_code)
);
-- (3) 案級 binding(case_factory × category × process × qty)
CREATE TABLE bom_cs_case_equip_category (
  case_factory_id        NUMBER REFERENCES bom_cs_case_factory(case_factory_id) ON DELETE CASCADE,
  category_code          VARCHAR2(80) REFERENCES bom_equip_category_catalog(category_code),
  process_code           VARCHAR2(40) REFERENCES bom_process_catalog(process_code),
  qty                    NUMBER(5,2),                             -- 1.0 / 0.5 跨案共用
  acq_cost_override_usd  NUMBER(15,2),                            -- 議價 / 客戶提供 / 客供 = 0
  useful_life_override_yrs NUMBER(5,2),
  created_by/at NUMBER, TIMESTAMP, ...
  PRIMARY KEY (case_factory_id, category_code, process_code)
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👷 DL 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為什麼 DL 改角色費率?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取代廠級單一 $4.95/hr · 對齊 IDL 角色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669280" cy="4937760"/>
          </a:xfrm>
          <a:prstGeom prst="roundRect">
            <a:avLst>
              <a:gd name="adj" fmla="val 3000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669280" cy="365760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❌ v0.10 設計遺漏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3949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Consolas"/>
              </a:rPr>
              <a:t>v0.10 DL 設計:
  bom_factory_baseline.dl_wage_per_hr_usd = $4.95
  → 所有製程的所有 DL 都用同一個 $4.95/hr
  → 跟 IDL 17 角色完全不對等
實務問題:
  • SMT 一般操作員 $4.95/hr ✓
  • BB Test Debug 操作員 $8.50/hr(懂電路) ✗
  • Functional 校正員 $12.00/hr(資深) ✗
  • 無塵室 SMT $6.50/hr(工時嚴) ✗
  • 模具操作員(成形機)$5.50/hr ✗
v0.10 強制都用 $4.95 → MVA 算出來不準
對比 IDL(17 角色):
  OPS_MGR $60,320
  SEC_MGR $42,500
  ENGINEER $24,440
  ...
  → IDL 分得細 · DL 卻只有一個 wage
  → 架構不對稱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623560" cy="4937760"/>
          </a:xfrm>
          <a:prstGeom prst="roundRect">
            <a:avLst>
              <a:gd name="adj" fmla="val 3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623560" cy="365760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✓ v0.11 解法:7 個 DL 角色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53492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Consolas"/>
              </a:rPr>
              <a:t>v0.11 DL 角色 master(對應 bom_factory_dl_role):
  role_code         name              hourly_usd
  ─────────────────────────────────────────────
  OP_GENERAL        一般操作員        $4.95
  OP_DEBUG          Debug 操作員      $8.50
  OP_FUNCT          Functional 操作員 $12.00
  OP_CLEANROOM      無塵室操作員      $6.50
  OP_MOLD           模具操作員        $5.50
  OP_TEST           測試操作員        $7.00
  OP_AUTO_MON       自動化監控員      $6.00
完全對齊 IDL pattern · BG 各自一份 enum
  • OPTO BG 7 個 default
  • CONSUMER BG copy 後 5 個(wage 略高)
優點:
  ✓ 跟 IDL 17 角色架構一致
  ✓ 跨廠 wage 對比(VN $2.50 vs TW $9.20)
  ✓ 月度漲薪按工種(無塵室漲 5%)
  ✓ 計算引擎更精準
舊 dl_wage_per_hr_usd 保留作 fallback(deprecated)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👷 DL 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案級 DL 配置 · per process × role ×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取代 v0.10 三個固定欄位(dl_per_shift 等)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🎬 SteelSeries 案 · CN 廠 · 各製程 DL 配置(role × count)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114757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11247120" cy="4434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┌─────────────────────────────────────────────────────────────────────────┐
│  Process       Role             count_per_shift  rate/hr  /day cost     │
│  ─────────────────────────────────────────────────────────────────────  │
│  SMT_MAIN     OP_GENERAL          8 人           $4.95    $79.20        │
│               OP_CLEANROOM        2 人           $6.50    $26.00        │  ← 無塵段
│               OP_DEBUG            3 人           $8.50    $51.00        │
│               OP_FUNCT            2 人           $12.00   $48.00        │
│                                                          ─────────       │
│                                                          $204.20 /shift  │
│                                                                          │
│  BB_ASSY      OP_GENERAL         18 人           $4.95    $178.20        │
│               OP_MOLD             4 人           $5.50    $44.00        │  ← 成形機
│               OP_DEBUG            5 人           $8.50    $85.00        │
│               OP_FUNCT            3 人           $12.00   $72.00        │
│                                                          ─────────       │
│                                                          $379.20 /shift  │
│                                                                          │
│  BB_TEST      OP_TEST             8 人           $7.00    $112.00        │
│               OP_DEBUG            2 人           $8.50    $34.00        │
│               OP_FUNCT            1 人           $12.00   $24.00        │
│                                                                          │
│  WAVE_SOLDER  OP_GENERAL          3 人           $4.95    $29.70        │
│               OP_FUNCT            1 人           $12.00   $24.00        │
│  ...                                                                     │
└─────────────────────────────────────────────────────────────────────────┘
→ 寫入 schema:
  INSERT INTO bom_cs_case_process_dl
    (case_factory_id, process_code, dl_role_code, count_per_shift) × N rows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👷 DL 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DL 角色 schema · 對齊 IDL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廠級 master + 案級 binding 兩層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1475720" cy="493776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1475720" cy="365760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🗄️ schema (2 表 · v0.11 新增)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1124712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-- (1) 廠級 DL 角色 master(對應 bom_factory_idl_role · 對等架構)
CREATE TABLE bom_factory_dl_role (
  role_id              NUMBER GENERATED ALWAYS AS IDENTITY PRIMARY KEY,
  baseline_id          NUMBER REFERENCES bom_factory_baseline(baseline_id) ON DELETE CASCADE,
  role_code            VARCHAR2(40),                  -- 'OP_GENERAL' / 'OP_DEBUG' / ...
  display_name_zh/en   VARCHAR2(100),
  category             VARCHAR2(40),                  -- GENERAL/DEBUG/FUNCT/CLEANROOM/MOLD/TEST/AUTO_MON
  hourly_rate_usd      NUMBER(10,4),                  -- $4.95 / $8.50 / $12.00
  copied_from          VARCHAR2(40),                  -- admin copy 來源 BG (e.g. 'OPTO')
  notes                CLOB,
  ⭐ created_by/at, updated_by/at  -- audit metadata 5 件套
  CONSTRAINT bfdr_uk UNIQUE (baseline_id, role_code)
);
-- (2) 案級 DL 配置(取代 v0.10 case_process 三欄 dl_per_shift / debug_dl_per_shift / functional_dl_per_shift)
CREATE TABLE bom_cs_case_process_dl (
  case_factory_id      NUMBER REFERENCES bom_cs_case_factory(case_factory_id) ON DELETE CASCADE,
  process_code         VARCHAR2(40) REFERENCES bom_process_catalog(process_code),
  dl_role_code         VARCHAR2(40) NOT NULL,         -- 對 bom_factory_dl_role.role_code
  count_per_shift      NUMBER(5,2),                   -- 人數(可小數 跨製程共用)
  count_per_debug_line NUMBER(5,2) DEFAULT 0,         -- debug 線額外人數
  is_functional        NUMBER(1) DEFAULT 0,
  created_by/at NUMBER, TIMESTAMP,
  PRIMARY KEY (case_factory_id, process_code, dl_role_code)
);
-- (3) 計算引擎 Step 5 區 A · DL cost 改 role-based
SELECT SUM(
  COALESCE(role.hourly_rate_usd, baseline.dl_wage_per_hr_usd /* fallback */) ×
  case_dl.count_per_shift × lines × shifts × multipliers × SEA_hr
) AS dl_cost_per_week
FROM bom_cs_case_process_dl case_dl
JOIN bom_factory_dl_role role ON role.role_code = case_dl.dl_role_code
                             AND role.baseline_id = case_factory.baseline_id
JOIN bom_cs_case_factory case_factory ON case_factory.case_factory_id = case_dl.case_factory_id
WHERE case_dl.case_factory_id = ? AND case_dl.process_code = ?;
-- → / weekly_output → DL cost per unit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🔧 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設定 master UI · 7 個子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從 §Cleansheet &gt; Step 7 進入 · admin/EPM 各看自己 BG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🎬 進入路徑 + 7 個子 tab 一覽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00200"/>
            <a:ext cx="11475720" cy="585216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41148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645920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📅 廠 baseline 切版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45920"/>
            <a:ext cx="68580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SCD Type 2 · 月度更新 · status: active/superseded/draft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40280"/>
            <a:ext cx="11475720" cy="585216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331720"/>
            <a:ext cx="41148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31720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286000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🏭 設備類別 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286000"/>
            <a:ext cx="68580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BG 各管 + admin copy(從 OPTO copy 到 CONSUMER)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880360"/>
            <a:ext cx="11475720" cy="585216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2971800"/>
            <a:ext cx="41148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971800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926079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💰 類別代表單價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926079"/>
            <a:ext cx="68580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per baseline × 類別 · vs 上版漲跌幅 · 編 / 二簽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520439"/>
            <a:ext cx="11475720" cy="585216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3611879"/>
            <a:ext cx="41148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611879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566159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👷 DL 角色費率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566159"/>
            <a:ext cx="68580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7 個 default + BG 各自費率 · 月度漲薪入口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160520"/>
            <a:ext cx="11475720" cy="585216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4251959"/>
            <a:ext cx="41148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251959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06240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👔 IDL 角色費率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206240"/>
            <a:ext cx="68580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17 個 default · 沿用 v0.10 schema + audit 5 件套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800600"/>
            <a:ext cx="11475720" cy="585216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892040"/>
            <a:ext cx="41148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892040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846320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📦 耗材單價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846320"/>
            <a:ext cx="68580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17 件耗材 · per baseline · 漲價即時 reprice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5440679"/>
            <a:ext cx="11475720" cy="585216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2920" y="5532119"/>
            <a:ext cx="41148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532119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486399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🔐 權限 grant 管理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486399"/>
            <a:ext cx="68580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對齊既有資料權限管理 pattern · scope × bg × bu × factory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🔧 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子 tab 1 · 廠 baseline 切版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同廠不同 BG 各有自己 baseline · SCD Type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1475720" cy="5120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24712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┌─ 📅 廠 baseline 切版歷史 · 光電事業群 × CN 廠 ─────────────────────────────────┐
│                                                                               │
│   Version              Status        Effective              DL wage    SGA/Profit   Created by   Actions │
│   ────────────────────────────────────────────────────────────────────────────  │
│   CN-OPTO-2026Q2      ✓ ACTIVE      2026-04-01 ~ NULL      $4.95/hr   2.0%/14.0%   Andy (A5566) [查][編]  │
│   CN-OPTO-2026Q1      SUPERSEDED    2026-01-01 ~ 2026-03   $4.85/hr   2.0%/14.0%   Andy           已封存   │
│   CN-OPTO-2025Q4      SUPERSEDED    2025-10-01 ~ 2025-12   $4.75/hr   2.0%/14.0%   Andy           已封存   │
│                                                                               │
│   ↳ schema: bom_factory_baseline                                             │
│            (factory_code='CN', ⭐ bg_code='OPTO', version_label='...',         │
│             status, effective_from, effective_to, created_by, updated_at, ...)│
└───────────────────────────────────────────────────────────────────────────────┘
切版動作(權限 BASELINE × can_edit + can_approve):
   1. Andy 編 CN-OPTO-2026Q2 → 改 DL wage $4.95 → $5.20(+5.05%)
   2. 漲幅 &gt; 5% → 系統 block · 需 DPM Mike 二簽(can_approve)
   3. Mike approve → 系統:
      ・舊版 CN-OPTO-2026Q1.status = superseded, effective_to = today
      ・新版 CN-OPTO-2026Q2.status = active, effective_from = tomorrow
      ・user_notifications 推給該 BG 所有 draft case 的 EPM
        「baseline 已切版,點此 reprice」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🔧 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子 tab 3 · 類別代表單價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光電 BG × CN 廠 × 當前 active baseline · vs 上版漲跌幅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1475720" cy="5120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24712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┌─ 💰 OPTO × CN × CN-OPTO-2026Q2 baseline · 類別代表單價 ──────────────────────┐
│                                                                             │
│   類別               rep_acq_cost   life   mro_pct   vs 上版    Action     │
│   ─────────────────────────────────────────────────────────────────────    │
│   SMT_LINE_FULL      $1,200,000     6yr    5.0%      ↑ 2.5%     [編]      │
│   SMT_PRINTER        $90,000        6yr    5.0%      ↑ 1.1%     [編]      │
│   INJ_HORIZ_100T     $95,000        8yr    5.0%      ↑ 3.3%     [編]      │
│   INJ_HORIZ_200T     $150,000       8yr    5.0%      —          [編]      │
│   EMI_CHAMBER        $480,000       10yr   3.0%      ↓ 1.0%     [編]      │
│   XRAY               $250,000       8yr    4.0%      ↑ 0.5%     [編]      │
│   ...                                                                       │
│                                                                             │
│   ↳ schema: bom_factory_equip_category_price                               │
│            (baseline_id → 對應 BG · 自動隔離,                              │
│             category_code, rep_acq_cost_usd, rep_useful_life_yrs,          │
│             rep_mro_pct, updated_by, updated_at, ...)                      │
└─────────────────────────────────────────────────────────────────────────────┘
編輯流程:
  1. CN EPM Andy 編 SMT_LINE_FULL → $1,200,000 → $1,250,000(+4.2%)
  2. 系統 check grant 表:
     SELECT * FROM bom_settings_admin_grant
     WHERE user_id = Andy
       AND scope IN ('EQUIP_CATEGORY_PRICE', 'BASELINE', 'ALL')
       AND bg_code = 'OPTO' AND factory_code = 'CN'
       AND is_active = 1 AND (expires_at IS NULL OR expires_at &gt; now())
       AND can_edit = 1
  3. PASS → UPDATE bom_factory_equip_category_price
  4. 寫 audit log: bom_settings_audit_log
     (table='bom_factory_equip_category_price', record_id, old_value, new_value, changed_by, ...)
  5. 漲幅 ≥ 5% → 觸發 DPM 二簽流程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🔧 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子 tab 4 · DL 角色費率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OPTO BG 7 個 default · 月度漲薪入口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1475720" cy="5120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24712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┌─ 👷 OPTO × CN × CN-OPTO-2026Q2 · DL 角色費率 ─────────────────────────────┐
│                                                                          │
│   role_code         name                 category    hourly_usd  來源    │
│   ──────────────────────────────────────────────────────────────────────  │
│   OP_GENERAL        一般操作員           GENERAL     $4.95       原生     │
│   OP_DEBUG          Debug 操作員         DEBUG       $8.50       原生     │
│   OP_FUNCT          Functional 操作員    FUNCT       $12.00      原生     │
│   OP_CLEANROOM      無塵室操作員         CLEANROOM   $6.50       原生     │
│   OP_MOLD           模具操作員           MOLD        $5.50       原生     │
│   OP_TEST           測試操作員           TEST        $7.00       原生     │
│   OP_AUTO_MON       自動化監控員         AUTO_MON    $6.00       原生     │
│                                                                          │
│   ↳ schema: bom_factory_dl_role                                          │
│            (baseline_id, role_code, display_name_zh,                     │
│             category, hourly_rate_usd, copied_from,                      │
│             created_by, updated_by, ...)                                 │
└──────────────────────────────────────────────────────────────────────────┘
對比 CONSUMER BG · CN 廠(copied 過來 · wage 略高):
   OP_GENERAL    $5.20   (vs OPTO $4.95 · +5.1%)
   OP_DEBUG      $8.90   (vs OPTO $8.50 · +4.7%)
   OP_FUNCT      $12.50  (vs OPTO $12.00 · +4.2%)
   OP_CLEANROOM  $6.80   (vs OPTO $6.50 · +4.6%)
   OP_TEST       $7.40   (vs OPTO $7.00 · +5.7%)
   ❌ 無 OP_MOLD (消費電子不用大量成形機 · 不設此 role)
   ❌ 無 OP_AUTO_MON
→ 同廠不同 BG 議價量 / wage 算法略異 · 這就是 BG 隔離的價值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🔧 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子 tab 7 · 權限 grant 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對齊既有「資料權限管理」3 層架構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1475720" cy="5120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24712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┌─ 🔐 bom_settings_admin_grant · 維護權限授權表 ──────────────────────────────────────┐
│                                                                                 │
│   user           BG         BU         factory   scope                  view edit approve   expires    │
│   ──────────────────────────────────────────────────────────────────────────────────────── │
│   Andy           OPTO       (全 BU)    CN        BASELINE                ✓    ✓    —       2027-12-31│
│   Andy           OPTO       (全 BU)    CN        EQUIP_CATEGORY_PRICE    ✓    ✓    —       同上       │
│   Andy           OPTO       (全 BU)    CN        DL_ROLE                 ✓    ✓    —       同上       │
│   Andy           OPTO       (全 BU)    CN        IDL_ROLE                ✓    —    —       永久       │
│   Mike (DPM)     OPTO       MOUSE      (全廠)    BASELINE                ✓    —    ✓       2026-12-31 │
│   Lin            CONSUMER   WEARABLE   CN        EQUIP_CATEGORY_PRICE    ✓    ✓    —       2027-06-30 │
│   admin          ALL        —          (all)     ALL                     ✓    ✓    ✓       永久       │
│                                                                                 │
└─────────────────────────────────────────────────────────────────────────────────┘
對比既有「資料權限管理」(從截圖):
  既有政策(包含/排除):              v0.11 grant 對應:
  • 預設使用者                         user_id × scope='ALL'
  • 合理庫存專用權限                   user_id × scope='SPECIFIC'
  • IT超級使用者                       admin × ALL × all
  • 光電經營資料權限                   bg='OPTO' × scope='ALL'
  • LW利潤中心權限                     利潤中心 → bu_code
  既有層級:                            v0.11 對應:
  • 部門 / 利潤中心 / 事業處 / 事業群    bg_code (從 user.事業群名稱 對)
  • 組織代碼 (ORG_CODE)                bu_code (從 user.利潤中心代碼 對)
  • 包含 / 排除規則                    is_active = 1/0(or 加 exclude 旗標)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📊 公式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Step 5 區 A DL 公式 · role-based 改寫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取代 v0.10 單一 DL_wage × Total_DL_day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669280" cy="4937760"/>
          </a:xfrm>
          <a:prstGeom prst="roundRect">
            <a:avLst>
              <a:gd name="adj" fmla="val 3000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669280" cy="365760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❌ v0.10 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3949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Consolas"/>
              </a:rPr>
              <a:t>Step 6: Total DL/day
  = (dl_per_shift × lines × shifts)
  + (debug_dl × debug_lines × shifts)
  + (functional_dl × shifts)
  = (10 × 1 × 2) + (3 × 0 × 2) + (2 × 2)
  = 24 (人)
Step 8: DL cost / week
  = DL_wage × SEA_wk × Total_DL × mult2 × mult1
  = $4.95 × 60 × 24 × 1.112 × 1.150
  = $9,116 / week
Step 9: DL cost / unit
  = (DL/wk + IDL_line_dep) / weekly_output
  = ($9,116 + $645) / 59,531
  = $0.1640 / unit
問題:所有人都用同一個 $4.95
  → 不準(Debug 應該算 $8.50)
  → 不公平(無塵室應該算 $6.50)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623560" cy="4937760"/>
          </a:xfrm>
          <a:prstGeom prst="roundRect">
            <a:avLst>
              <a:gd name="adj" fmla="val 3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623560" cy="365760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✓ v0.11 公式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53492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Consolas"/>
              </a:rPr>
              <a:t>Step 6 改:per shift cost(SUMPRODUCT)
  = Σ_role (role.hourly_rate × count_per_shift × SEA_day)
  = OP_GENERAL    $4.95 × 8  × 10 = $396.0
  + OP_CLEANROOM  $6.50 × 2  × 10 = $130.0  ← 改了!
  + OP_DEBUG      $8.50 × 3  × 10 = $255.0  ← 改了!
  + OP_FUNCT      $12.00 × 2 × 10 = $240.0  ← 改了!
  = $1,021.0 / shift
Step 8 改:DL cost / week
  = Σ_role per shift × lines × shifts × mult1 × mult2 × Wday
  = $1,021 × 1 × 2 × 1.15 × 1.112 × 6.67
  = $17,371 / week
Step 9: DL cost / unit
  = ($17,371 + $645) / 59,531
  = $0.3026 / unit  ← 比舊 $0.164 高 ↑ 84%
  (反映實際 wage 結構 · 比舊版精準)
優點:
  ✓ 反映實際 wage 結構
  ✓ 跨製程 role 各自獨立
  ✓ 月度漲薪可單一 role 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📊 公式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Step 5 區 C Equipment 公式 · 類別 rep_acq 改寫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取代 v0.10 line_qty × qty_per_line × acq_cost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669280" cy="4937760"/>
          </a:xfrm>
          <a:prstGeom prst="roundRect">
            <a:avLst>
              <a:gd name="adj" fmla="val 3000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669280" cy="365760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❌ v0.10 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3949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Step 1: 抽 process 名下的設備(SMT_MAIN 7 件)
  DEK / FUJI NXT / SPI / Reflow / AOI /
  ESD Tray / Stencil
Step 2: 總 acquisition cost
  = Σ (line_qty × qty_per_line × acq_cost)
  = DEK    1 × 1 × $84,000 = $84,000
  + FUJI   1 × 1 × $1,013k = $1,013,384
  + SPI    1 × 1 × $68,852 = $68,852
  + Reflow 1 × 1 × $158k   = $158,000
  + AOI    1 × 1 × $92,000 = $92,000
  + ESD    1 × 752 × $18.5 = $13,912
  + Stencil 1 × 6 × $550   = $3,300
  = $1,433,448
Step 3: Annual Depreciation
  = Σ (acq / useful_life)
  ≈ $238,883 / yr
Step 4: Annual MRO
  = $1,433k × 5% = $71,650 / yr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623560" cy="4937760"/>
          </a:xfrm>
          <a:prstGeom prst="roundRect">
            <a:avLst>
              <a:gd name="adj" fmla="val 3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623560" cy="365760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✓ v0.11 公式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53492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Step 1 改:抽 process 名下的類別 binding
  (SMT_MAIN 2 類):
  SMT_LINE_FULL × 1.0
  SMT_AOI × 0.5
Step 2: 總 acquisition cost(類別代表單價)
  = Σ (qty × rep_acq_cost_usd)
  = SMT_LINE_FULL  1.0 × $1,200,000 = $1,200,000
  + SMT_AOI        0.5 × $100,000   = $50,000
  = $1,250,000  (代表機 · 試產才細到具體機)
Step 3: Annual Depreciation
  = Σ (qty × rep_acq / rep_useful_life)
  = 1.0 × $1,200,000 / 6 + 0.5 × $100,000 / 6
  ≈ $208,333 / yr
Step 4: Annual MRO
  = Σ (qty × rep_acq × rep_mro_pct)
  = 1.0 × $1,200,000 × 5% + 0.5 × $100,000 × 5%
  = $62,500 / yr
優點:
  ✓ 報價階段算得出 cost
  ✓ 不糾結具體機種(DEK vs FUJI)
  ✓ 試產可選性細化(override)
  ✓ 跨案 utilization 看類別總和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🎯 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👥 各角色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EPM / DPM / admin / BPM 各自查看點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5669280" cy="2331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5669280" cy="384048"/>
          </a:xfrm>
          <a:prstGeom prst="roundRect">
            <a:avLst>
              <a:gd name="adj" fmla="val 3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🛠️ EPM(廠 EPM)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自家 BG baseline 月度更新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廠類別代表單價 month-end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146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DL 角色費率漲薪通報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案級類別 binding 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461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Compute regression test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8" y="1325880"/>
            <a:ext cx="5669280" cy="2331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9048" y="1325880"/>
            <a:ext cx="5669280" cy="384048"/>
          </a:xfrm>
          <a:prstGeom prst="roundRect">
            <a:avLst>
              <a:gd name="adj" fmla="val 3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137160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🔒 DPM(總監)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7830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baseline 切版二簽(漲幅 &gt; 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1488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案 Cleansheet lock 前審查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5146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24 cells matrix 看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8803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cross-BG 不該看的別看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2461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跨案 utilization 異常排查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794760"/>
            <a:ext cx="5669280" cy="2331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" y="3794760"/>
            <a:ext cx="5669280" cy="384048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84048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⭐ admin /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2519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新 BG 上線 catalog copy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6177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user.bg_code 從 LDAP 同步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9834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grant 表月度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3492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super-admin 跨 BG 操作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7150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schema migration v0.11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9048" y="3794760"/>
            <a:ext cx="5669280" cy="2331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099048" y="3794760"/>
            <a:ext cx="5669280" cy="384048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384048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💼 BPM(業務 PM)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42519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案開立綁正確 BG/BU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6177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看 quote(不看 true cost)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49834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客戶議價時 reprice 觸發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3492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跨 BG 比價 (admin 介面)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57150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☐ 報價交期 vs 月度 baseline 切版時機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v3 · BG/BU 權限隔離版 · 對齊 v0.11 demo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JhengHei"/>
              </a:rPr>
              <a:t>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2C39A"/>
                </a:solidFill>
                <a:latin typeface="Microsoft JhengHei"/>
              </a:rPr>
              <a:t>Q&amp;A · 等待 schema migration 拍板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10972800" cy="3200400"/>
          </a:xfrm>
          <a:prstGeom prst="roundRect">
            <a:avLst>
              <a:gd name="adj" fmla="val 4000"/>
            </a:avLst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2C39A"/>
                </a:solidFill>
                <a:latin typeface="Microsoft JhengHei"/>
              </a:rPr>
              <a:t>🔗 v3 後續行動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515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JhengHei"/>
              </a:rPr>
              <a:t>• 互動 demo:Cortex_互動Demo_v0.11.html(§Cleansheet Step 1-7 全套 + BG 隔離)
• SD 更新:cleansheet-mva-sd v0.4(類別 + DL 角色 + BG/BU 隔離 + 權限 grant)
• schema migration:13 個表(7 個新 + 6 個 ALTER)+ 1 個權限 grant 表
• 與既有「資料權限管理」整合:對齊 user 主檔欄位 + 包含/排除政策模式
• 兩案 BG 綁定:SteelSeries → OPTO 光電 · WHOOP → CONSUMER 消費電子
• Phase 1 開工建議:先做 BG 隔離 schema → catalog/類別單價 → DL 角色 → 設定 UI → 案級遷移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</a:rPr>
              <a:t>Cortex MVA 操作手冊 v3 · BG/BU 權限隔離版 · 2026-06 · FOXLINK GPT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